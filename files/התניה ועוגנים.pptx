
<file path=[Content_Types].xml><?xml version="1.0" encoding="utf-8"?>
<Types xmlns="http://schemas.openxmlformats.org/package/2006/content-types">
  <Default Extension="jpeg" ContentType="image/jpeg"/>
  <Default Extension="mp3" ContentType="audio/m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Lst>
  <p:sldIdLst>
    <p:sldId id="256" r:id="rId3"/>
    <p:sldId id="632" r:id="rId4"/>
    <p:sldId id="618" r:id="rId5"/>
    <p:sldId id="619" r:id="rId6"/>
    <p:sldId id="620" r:id="rId7"/>
    <p:sldId id="654" r:id="rId8"/>
    <p:sldId id="643" r:id="rId9"/>
    <p:sldId id="647" r:id="rId10"/>
    <p:sldId id="648" r:id="rId11"/>
    <p:sldId id="621" r:id="rId12"/>
    <p:sldId id="623" r:id="rId13"/>
    <p:sldId id="624" r:id="rId14"/>
    <p:sldId id="651" r:id="rId15"/>
    <p:sldId id="625" r:id="rId16"/>
    <p:sldId id="626" r:id="rId17"/>
    <p:sldId id="561" r:id="rId18"/>
    <p:sldId id="652" r:id="rId19"/>
    <p:sldId id="635" r:id="rId20"/>
    <p:sldId id="636" r:id="rId21"/>
    <p:sldId id="637" r:id="rId22"/>
    <p:sldId id="638" r:id="rId23"/>
    <p:sldId id="639" r:id="rId24"/>
    <p:sldId id="640" r:id="rId25"/>
    <p:sldId id="645" r:id="rId26"/>
    <p:sldId id="646" r:id="rId27"/>
    <p:sldId id="650" r:id="rId28"/>
    <p:sldId id="649" r:id="rId29"/>
    <p:sldId id="642" r:id="rId30"/>
    <p:sldId id="644" r:id="rId31"/>
    <p:sldId id="627" r:id="rId32"/>
    <p:sldId id="628" r:id="rId33"/>
    <p:sldId id="629" r:id="rId34"/>
    <p:sldId id="631" r:id="rId35"/>
    <p:sldId id="630" r:id="rId36"/>
    <p:sldId id="617" r:id="rId37"/>
    <p:sldId id="634" r:id="rId38"/>
    <p:sldId id="653" r:id="rId3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מקטע ברירת מחדל" id="{2159ECFA-6857-4EF0-8AB3-E70C6FE064A3}">
          <p14:sldIdLst>
            <p14:sldId id="256"/>
          </p14:sldIdLst>
        </p14:section>
        <p14:section name="התניה" id="{46E78A13-17B4-4575-887C-1CDF28FBE4C4}">
          <p14:sldIdLst>
            <p14:sldId id="632"/>
            <p14:sldId id="618"/>
            <p14:sldId id="619"/>
            <p14:sldId id="620"/>
            <p14:sldId id="654"/>
            <p14:sldId id="643"/>
            <p14:sldId id="647"/>
            <p14:sldId id="648"/>
            <p14:sldId id="621"/>
            <p14:sldId id="623"/>
            <p14:sldId id="624"/>
            <p14:sldId id="651"/>
            <p14:sldId id="625"/>
            <p14:sldId id="626"/>
            <p14:sldId id="561"/>
            <p14:sldId id="652"/>
            <p14:sldId id="635"/>
            <p14:sldId id="636"/>
            <p14:sldId id="637"/>
            <p14:sldId id="638"/>
            <p14:sldId id="639"/>
            <p14:sldId id="640"/>
            <p14:sldId id="645"/>
            <p14:sldId id="646"/>
            <p14:sldId id="650"/>
            <p14:sldId id="649"/>
          </p14:sldIdLst>
        </p14:section>
        <p14:section name="עוגנים" id="{4153A2BC-4CC0-45B3-878E-A87A24A518CA}">
          <p14:sldIdLst>
            <p14:sldId id="642"/>
            <p14:sldId id="644"/>
            <p14:sldId id="627"/>
            <p14:sldId id="628"/>
            <p14:sldId id="629"/>
            <p14:sldId id="631"/>
            <p14:sldId id="630"/>
            <p14:sldId id="617"/>
            <p14:sldId id="634"/>
            <p14:sldId id="65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013" autoAdjust="0"/>
    <p:restoredTop sz="94660"/>
  </p:normalViewPr>
  <p:slideViewPr>
    <p:cSldViewPr snapToGrid="0">
      <p:cViewPr varScale="1">
        <p:scale>
          <a:sx n="92" d="100"/>
          <a:sy n="92" d="100"/>
        </p:scale>
        <p:origin x="288"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0790894-3E41-FBC2-DB00-B20091F4E807}"/>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CD502072-9416-17D4-DD5F-2304741999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D17533F8-9EF4-32D8-4127-9A828366EF13}"/>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5" name="מציין מיקום של כותרת תחתונה 4">
            <a:extLst>
              <a:ext uri="{FF2B5EF4-FFF2-40B4-BE49-F238E27FC236}">
                <a16:creationId xmlns:a16="http://schemas.microsoft.com/office/drawing/2014/main" id="{5341C5A1-8C97-2296-7660-811CFFFAE98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24D3DB6-B9CF-D056-C1D3-0FDB7218E028}"/>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2701820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DBFA403-E1A1-B80D-7659-B2CA052109F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D52EA32-244F-EECC-70EB-EFBC58A16E07}"/>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28A7BC98-F3AC-53C5-AA85-2D376A0FFDE6}"/>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5" name="מציין מיקום של כותרת תחתונה 4">
            <a:extLst>
              <a:ext uri="{FF2B5EF4-FFF2-40B4-BE49-F238E27FC236}">
                <a16:creationId xmlns:a16="http://schemas.microsoft.com/office/drawing/2014/main" id="{BAC38F4E-7B98-1E24-093E-9514EED24B9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1455E0B0-5E5A-120B-A38F-3BC7BBC29300}"/>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122862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A4DC42B-2D5B-D5A7-4102-D0720A40D77E}"/>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97F2781-2338-C72E-432C-AF1977D5D6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C95048BD-86A6-F92A-EDAD-8862E58E4E74}"/>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5" name="מציין מיקום של כותרת תחתונה 4">
            <a:extLst>
              <a:ext uri="{FF2B5EF4-FFF2-40B4-BE49-F238E27FC236}">
                <a16:creationId xmlns:a16="http://schemas.microsoft.com/office/drawing/2014/main" id="{1FAD69C0-046B-B2D9-D6CD-397F9433A3A3}"/>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68C9FA1-D9D4-E5A4-8199-07E75900BAA7}"/>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1140636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C25B694-542D-709D-5D17-E528EB6C612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D50C8D32-77C6-7574-8232-93A4409D1DDE}"/>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B6A6258F-DCBF-6549-DFEF-013C593F437E}"/>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DCA3084A-ECFD-DCAB-86B2-C26DA3FCB650}"/>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6" name="מציין מיקום של כותרת תחתונה 5">
            <a:extLst>
              <a:ext uri="{FF2B5EF4-FFF2-40B4-BE49-F238E27FC236}">
                <a16:creationId xmlns:a16="http://schemas.microsoft.com/office/drawing/2014/main" id="{50656DD7-F8C8-C637-CD34-D82AD8A465B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4F2E519-7789-966A-F748-C16EC45232AA}"/>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1177199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C7F1463-8207-C023-885D-EF5555C078CE}"/>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FF42F54-E2AF-1F92-8D1A-7F04D7F119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C3BCBAAB-811C-1EBA-7F73-7DDD939E4BAF}"/>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A60EA078-F04C-16CB-8808-7CBFA89C1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6F49B2F0-1AA5-11E1-7C49-BB28C2E7834D}"/>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6D40698D-5E49-228F-BF8A-3C3D7272E22D}"/>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8" name="מציין מיקום של כותרת תחתונה 7">
            <a:extLst>
              <a:ext uri="{FF2B5EF4-FFF2-40B4-BE49-F238E27FC236}">
                <a16:creationId xmlns:a16="http://schemas.microsoft.com/office/drawing/2014/main" id="{FB411DA0-35E5-4DCE-D6DF-F849084C7E29}"/>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8E8F3735-0038-9C52-2DE0-26F95FF416A6}"/>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2199424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45E8D2-5068-4F41-6F96-561D622B4A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DA4AB0F1-13EB-8F70-8D3D-AEA7F5525AA3}"/>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4" name="מציין מיקום של כותרת תחתונה 3">
            <a:extLst>
              <a:ext uri="{FF2B5EF4-FFF2-40B4-BE49-F238E27FC236}">
                <a16:creationId xmlns:a16="http://schemas.microsoft.com/office/drawing/2014/main" id="{DA0FA99C-18C7-966F-0861-E117DC6AF81A}"/>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5F4D4108-3CCC-C426-2F16-127DE9FE6086}"/>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1542181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2B0BF822-CEE4-91B5-B05F-445E8781C75E}"/>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3" name="מציין מיקום של כותרת תחתונה 2">
            <a:extLst>
              <a:ext uri="{FF2B5EF4-FFF2-40B4-BE49-F238E27FC236}">
                <a16:creationId xmlns:a16="http://schemas.microsoft.com/office/drawing/2014/main" id="{4C7919B8-B13A-4936-3C98-13C23750E637}"/>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F1353319-B3CA-5D85-3801-2708D16EF70F}"/>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2254602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A3B47A-1C7D-258E-2C15-58B11E8A35A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9D09ACE-BEF9-509E-9B68-3FD2D15C79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0F72C457-7C5A-C3A5-2563-DD41076F8A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0C04004-9B04-0FB3-6B21-15198D0ECBAB}"/>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6" name="מציין מיקום של כותרת תחתונה 5">
            <a:extLst>
              <a:ext uri="{FF2B5EF4-FFF2-40B4-BE49-F238E27FC236}">
                <a16:creationId xmlns:a16="http://schemas.microsoft.com/office/drawing/2014/main" id="{35EC876D-DFFC-4C98-540C-7B4E45E8041E}"/>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3A07EFF-BC3D-3E47-C3AB-439FA3800554}"/>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2548350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9929D28-C24F-EE19-31B3-2F4D37052D19}"/>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A246F215-11A4-7748-FD42-956E2A5C92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4A36B97C-2479-AF52-D127-5E9DA56303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66382B89-B30C-0F0E-ED72-8552C8F64B96}"/>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6" name="מציין מיקום של כותרת תחתונה 5">
            <a:extLst>
              <a:ext uri="{FF2B5EF4-FFF2-40B4-BE49-F238E27FC236}">
                <a16:creationId xmlns:a16="http://schemas.microsoft.com/office/drawing/2014/main" id="{B521CE1E-48F5-635C-064A-771E53C668A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8552E99-CB64-0D9F-7EF1-3CBE9F38A76C}"/>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36213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34588D7-5C63-48A7-7DD1-501793AC90C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FA45B38-281B-1E20-0766-5C38F6689376}"/>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3C07FA3-B888-E0D1-262F-1BBC729556E6}"/>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5" name="מציין מיקום של כותרת תחתונה 4">
            <a:extLst>
              <a:ext uri="{FF2B5EF4-FFF2-40B4-BE49-F238E27FC236}">
                <a16:creationId xmlns:a16="http://schemas.microsoft.com/office/drawing/2014/main" id="{036CBE92-7CD9-99ED-19FA-D55B968DEE66}"/>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C65D2F6-3EDB-762D-ACD8-01F837524D30}"/>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3043052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BF50BFB1-725E-6ABC-C9B6-B83F85FD3BF0}"/>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14269E3-F1F7-2D27-1808-A1DCDC0D9031}"/>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F4620A9-28B1-5D0C-3417-654B8D370DAE}"/>
              </a:ext>
            </a:extLst>
          </p:cNvPr>
          <p:cNvSpPr>
            <a:spLocks noGrp="1"/>
          </p:cNvSpPr>
          <p:nvPr>
            <p:ph type="dt" sz="half" idx="10"/>
          </p:nvPr>
        </p:nvSpPr>
        <p:spPr/>
        <p:txBody>
          <a:bodyPr/>
          <a:lstStyle/>
          <a:p>
            <a:fld id="{678D321D-A5AC-476E-AC82-B3BDD7EA567E}" type="datetimeFigureOut">
              <a:rPr lang="he-IL" smtClean="0"/>
              <a:t>א'/אדר ב/תשפ"ד</a:t>
            </a:fld>
            <a:endParaRPr lang="he-IL"/>
          </a:p>
        </p:txBody>
      </p:sp>
      <p:sp>
        <p:nvSpPr>
          <p:cNvPr id="5" name="מציין מיקום של כותרת תחתונה 4">
            <a:extLst>
              <a:ext uri="{FF2B5EF4-FFF2-40B4-BE49-F238E27FC236}">
                <a16:creationId xmlns:a16="http://schemas.microsoft.com/office/drawing/2014/main" id="{E4F068D7-B621-177A-E8FB-E38A4B281A79}"/>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D29FFED-6461-8749-C762-3DA888CF869A}"/>
              </a:ext>
            </a:extLst>
          </p:cNvPr>
          <p:cNvSpPr>
            <a:spLocks noGrp="1"/>
          </p:cNvSpPr>
          <p:nvPr>
            <p:ph type="sldNum" sz="quarter" idx="12"/>
          </p:nvPr>
        </p:nvSpPr>
        <p:spPr/>
        <p:txBody>
          <a:bodyPr/>
          <a:lstStyle/>
          <a:p>
            <a:fld id="{9F62EBAD-65E2-41E1-ADDC-7DBD58174641}" type="slidenum">
              <a:rPr lang="he-IL" smtClean="0"/>
              <a:t>‹#›</a:t>
            </a:fld>
            <a:endParaRPr lang="he-IL"/>
          </a:p>
        </p:txBody>
      </p:sp>
    </p:spTree>
    <p:extLst>
      <p:ext uri="{BB962C8B-B14F-4D97-AF65-F5344CB8AC3E}">
        <p14:creationId xmlns:p14="http://schemas.microsoft.com/office/powerpoint/2010/main" val="4061823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5E478C5F-7D85-43B2-8321-40D812FCEF32}"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0861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a:xfrm>
            <a:off x="677333" y="0"/>
            <a:ext cx="9556557" cy="905164"/>
          </a:xfrm>
        </p:spPr>
        <p:txBody>
          <a:bodyPr/>
          <a:lstStyle>
            <a:lvl1pPr algn="ctr">
              <a:defRPr/>
            </a:lvl1pPr>
          </a:lstStyle>
          <a:p>
            <a:r>
              <a:rPr lang="he-IL" dirty="0"/>
              <a:t>לחץ כדי לערוך סגנון כותרת של תבנית בסיס</a:t>
            </a:r>
            <a:endParaRPr lang="en-US" dirty="0"/>
          </a:p>
        </p:txBody>
      </p:sp>
      <p:sp>
        <p:nvSpPr>
          <p:cNvPr id="3" name="Content Placeholder 2"/>
          <p:cNvSpPr>
            <a:spLocks noGrp="1"/>
          </p:cNvSpPr>
          <p:nvPr>
            <p:ph idx="1"/>
          </p:nvPr>
        </p:nvSpPr>
        <p:spPr>
          <a:xfrm>
            <a:off x="157017" y="942109"/>
            <a:ext cx="10132291" cy="5915891"/>
          </a:xfrm>
        </p:spPr>
        <p:txBody>
          <a:bodyPr/>
          <a:lstStyle>
            <a:lvl1pPr>
              <a:defRPr b="1"/>
            </a:lvl1p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Date Placeholder 3"/>
          <p:cNvSpPr>
            <a:spLocks noGrp="1"/>
          </p:cNvSpPr>
          <p:nvPr>
            <p:ph type="dt" sz="half" idx="10"/>
          </p:nvPr>
        </p:nvSpPr>
        <p:spPr/>
        <p:txBody>
          <a:bodyPr/>
          <a:lstStyle/>
          <a:p>
            <a:fld id="{DB174E98-50DB-43A2-BDC1-3CF1DD81D0D4}"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237565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CBC67544-A500-4E8F-BAAC-51BB6AA2F7E7}"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35226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C139605C-9FB7-42F7-96E3-3AA76B6C3CB5}" type="datetime1">
              <a:rPr lang="en-US" smtClean="0"/>
              <a:t>3/11/2024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916900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28E2F49-6304-4A8D-831E-47B1F5044111}" type="datetime1">
              <a:rPr lang="en-US" smtClean="0"/>
              <a:t>3/11/2024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268636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normAutofit/>
          </a:bodyPr>
          <a:lstStyle>
            <a:lvl1pPr>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stStyle>
          <a:p>
            <a:r>
              <a:rPr lang="he-IL" dirty="0"/>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C86DC07E-B2BD-4ABB-8388-CA8E2C324679}" type="datetime1">
              <a:rPr lang="en-US" smtClean="0"/>
              <a:t>3/11/2024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483332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F9B581-265B-4A18-9254-B39E06641D14}" type="datetime1">
              <a:rPr lang="en-US" smtClean="0"/>
              <a:t>3/11/2024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02110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7C4951A1-B50C-4CDA-872A-DBC6A655C511}" type="datetime1">
              <a:rPr lang="en-US" smtClean="0"/>
              <a:t>3/11/2024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7872632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BF4D09D4-FFAD-4E0F-983D-5BB5A87D1932}" type="datetime1">
              <a:rPr lang="en-US" smtClean="0"/>
              <a:t>3/11/2024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133325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8B27506B-30E3-4E2C-8FE1-54DECA2B2646}"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439936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2D1347E-1077-4C9C-B2E1-D37513F56420}"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355529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88EC1C6F-BC3D-46BA-9FE6-C6C68A845FF0}"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772078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25E56198-434F-4CE4-A28F-F2A7562FC1CC}"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503605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נכון או לא נכו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he-IL"/>
              <a:t>לחץ כדי לערוך סגנון כותרת של תבנית בסיס</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CA75F20F-65BD-40D3-B4D6-D682CBCD2C4F}"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099599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76C097C7-7809-4CF9-AD3C-FD803FCF1802}"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25868876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366159A5-2041-4DD9-BE69-D1C719121036}" type="datetime1">
              <a:rPr lang="en-US" smtClean="0"/>
              <a:t>3/11/2024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36181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A7C71B79-AF1A-9C32-4863-8B3607ECF409}"/>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706F8A4-BA33-D74D-0272-D71F61CF6AFA}"/>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83ED88A-8DE9-D2FC-906A-8499001926C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678D321D-A5AC-476E-AC82-B3BDD7EA567E}" type="datetimeFigureOut">
              <a:rPr lang="he-IL" smtClean="0"/>
              <a:t>א'/אדר ב/תשפ"ד</a:t>
            </a:fld>
            <a:endParaRPr lang="he-IL"/>
          </a:p>
        </p:txBody>
      </p:sp>
      <p:sp>
        <p:nvSpPr>
          <p:cNvPr id="5" name="מציין מיקום של כותרת תחתונה 4">
            <a:extLst>
              <a:ext uri="{FF2B5EF4-FFF2-40B4-BE49-F238E27FC236}">
                <a16:creationId xmlns:a16="http://schemas.microsoft.com/office/drawing/2014/main" id="{012EC382-B29E-A857-3891-244AA322AC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22EDF4D1-2F75-C0E4-1EF9-28B21C61EBC0}"/>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9F62EBAD-65E2-41E1-ADDC-7DBD58174641}" type="slidenum">
              <a:rPr lang="he-IL" smtClean="0"/>
              <a:t>‹#›</a:t>
            </a:fld>
            <a:endParaRPr lang="he-IL"/>
          </a:p>
        </p:txBody>
      </p:sp>
    </p:spTree>
    <p:extLst>
      <p:ext uri="{BB962C8B-B14F-4D97-AF65-F5344CB8AC3E}">
        <p14:creationId xmlns:p14="http://schemas.microsoft.com/office/powerpoint/2010/main" val="3559297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3" y="609600"/>
            <a:ext cx="9556557" cy="1320800"/>
          </a:xfrm>
          <a:prstGeom prst="rect">
            <a:avLst/>
          </a:prstGeom>
        </p:spPr>
        <p:txBody>
          <a:bodyPr vert="horz" lIns="91440" tIns="45720" rIns="91440" bIns="45720" rtlCol="0" anchor="t">
            <a:normAutofit/>
          </a:bodyPr>
          <a:lstStyle/>
          <a:p>
            <a:r>
              <a:rPr lang="he-IL" dirty="0"/>
              <a:t>לחץ כדי לערוך סגנון כותרת של תבנית בסיס</a:t>
            </a:r>
            <a:endParaRPr lang="en-US" dirty="0"/>
          </a:p>
        </p:txBody>
      </p:sp>
      <p:sp>
        <p:nvSpPr>
          <p:cNvPr id="3" name="Text Placeholder 2"/>
          <p:cNvSpPr>
            <a:spLocks noGrp="1"/>
          </p:cNvSpPr>
          <p:nvPr>
            <p:ph type="body" idx="1"/>
          </p:nvPr>
        </p:nvSpPr>
        <p:spPr>
          <a:xfrm>
            <a:off x="157017" y="2160589"/>
            <a:ext cx="10132291" cy="3880773"/>
          </a:xfrm>
          <a:prstGeom prst="rect">
            <a:avLst/>
          </a:prstGeom>
        </p:spPr>
        <p:txBody>
          <a:bodyPr vert="horz" lIns="91440" tIns="45720" rIns="91440" bIns="45720" rtlCol="0">
            <a:normAutofit/>
          </a:body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C0C9BE4-C446-4D67-8BC2-48AE757AE8B2}" type="datetime1">
              <a:rPr lang="en-US" smtClean="0"/>
              <a:t>3/11/2024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1379583" y="636140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73231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1" eaLnBrk="1" latinLnBrk="0" hangingPunct="1">
        <a:spcBef>
          <a:spcPct val="0"/>
        </a:spcBef>
        <a:buNone/>
        <a:defRPr lang="en-US" sz="4000" b="1" kern="1200" dirty="0">
          <a:solidFill>
            <a:schemeClr val="accent1">
              <a:lumMod val="75000"/>
            </a:schemeClr>
          </a:solidFill>
          <a:effectLst>
            <a:glow rad="520700">
              <a:schemeClr val="accent6">
                <a:satMod val="175000"/>
                <a:alpha val="40000"/>
              </a:schemeClr>
            </a:glow>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1497;&#1491;&#1506;.com/wp-content/uploads/2017/11/%D7%94%D7%A0%D7%99%D7%A1%D7%95%D7%99-%D7%A9%D7%9C-%D7%A4%D7%91%D7%9C%D7%95%D7%91.png" TargetMode="Externa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3.mp3"/><Relationship Id="rId1" Type="http://schemas.microsoft.com/office/2007/relationships/media" Target="../media/media3.mp3"/><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media" Target="../media/media4.mp3"/><Relationship Id="rId1" Type="http://schemas.openxmlformats.org/officeDocument/2006/relationships/audio" Target="NULL" TargetMode="Externa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9097F6-6CBA-841B-565F-284E3A8BC681}"/>
              </a:ext>
            </a:extLst>
          </p:cNvPr>
          <p:cNvSpPr>
            <a:spLocks noGrp="1"/>
          </p:cNvSpPr>
          <p:nvPr>
            <p:ph type="ctrTitle"/>
          </p:nvPr>
        </p:nvSpPr>
        <p:spPr/>
        <p:txBody>
          <a:bodyPr/>
          <a:lstStyle/>
          <a:p>
            <a:endParaRPr lang="he-IL"/>
          </a:p>
        </p:txBody>
      </p:sp>
      <p:sp>
        <p:nvSpPr>
          <p:cNvPr id="3" name="כותרת משנה 2">
            <a:extLst>
              <a:ext uri="{FF2B5EF4-FFF2-40B4-BE49-F238E27FC236}">
                <a16:creationId xmlns:a16="http://schemas.microsoft.com/office/drawing/2014/main" id="{BF5EAE3F-E074-FC17-B53E-88C0967D9A9C}"/>
              </a:ext>
            </a:extLst>
          </p:cNvPr>
          <p:cNvSpPr>
            <a:spLocks noGrp="1"/>
          </p:cNvSpPr>
          <p:nvPr>
            <p:ph type="subTitle" idx="1"/>
          </p:nvPr>
        </p:nvSpPr>
        <p:spPr/>
        <p:txBody>
          <a:bodyPr/>
          <a:lstStyle/>
          <a:p>
            <a:endParaRPr lang="he-IL"/>
          </a:p>
        </p:txBody>
      </p:sp>
    </p:spTree>
    <p:extLst>
      <p:ext uri="{BB962C8B-B14F-4D97-AF65-F5344CB8AC3E}">
        <p14:creationId xmlns:p14="http://schemas.microsoft.com/office/powerpoint/2010/main" val="308674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0D74654-FC97-6A02-5DBB-0BB8983D8B4A}"/>
              </a:ext>
            </a:extLst>
          </p:cNvPr>
          <p:cNvSpPr>
            <a:spLocks noGrp="1"/>
          </p:cNvSpPr>
          <p:nvPr>
            <p:ph type="title"/>
          </p:nvPr>
        </p:nvSpPr>
        <p:spPr/>
        <p:txBody>
          <a:bodyPr>
            <a:normAutofit/>
          </a:bodyPr>
          <a:lstStyle/>
          <a:p>
            <a:r>
              <a:rPr lang="he-IL" dirty="0"/>
              <a:t>שליטה בכפתורי הקסם לרגשות האינטימיים</a:t>
            </a:r>
          </a:p>
        </p:txBody>
      </p:sp>
      <p:sp>
        <p:nvSpPr>
          <p:cNvPr id="3" name="מציין מיקום תוכן 2">
            <a:extLst>
              <a:ext uri="{FF2B5EF4-FFF2-40B4-BE49-F238E27FC236}">
                <a16:creationId xmlns:a16="http://schemas.microsoft.com/office/drawing/2014/main" id="{2E93AEF8-4E00-4132-A365-3E0E708BC201}"/>
              </a:ext>
            </a:extLst>
          </p:cNvPr>
          <p:cNvSpPr>
            <a:spLocks noGrp="1"/>
          </p:cNvSpPr>
          <p:nvPr>
            <p:ph idx="1"/>
          </p:nvPr>
        </p:nvSpPr>
        <p:spPr/>
        <p:txBody>
          <a:bodyPr>
            <a:normAutofit/>
          </a:bodyPr>
          <a:lstStyle/>
          <a:p>
            <a:r>
              <a:rPr lang="he-IL" b="1" i="0" dirty="0">
                <a:solidFill>
                  <a:srgbClr val="000000"/>
                </a:solidFill>
                <a:effectLst/>
                <a:latin typeface="Arial" panose="020B0604020202020204" pitchFamily="34" charset="0"/>
              </a:rPr>
              <a:t>אם חווינו רגש כלשהו בעבר, אנחנו מסוגלים לחוות אותו שוב כי הרגש הזה כבר מקודד במערכת העצבים שלנו.</a:t>
            </a:r>
            <a:endParaRPr lang="he-IL" b="0" i="0" dirty="0">
              <a:solidFill>
                <a:srgbClr val="000000"/>
              </a:solidFill>
              <a:effectLst/>
              <a:latin typeface="Arial" panose="020B0604020202020204" pitchFamily="34" charset="0"/>
            </a:endParaRPr>
          </a:p>
          <a:p>
            <a:r>
              <a:rPr lang="he-IL" b="0" i="0" dirty="0">
                <a:solidFill>
                  <a:srgbClr val="000000"/>
                </a:solidFill>
                <a:effectLst/>
                <a:latin typeface="Arial" panose="020B0604020202020204" pitchFamily="34" charset="0"/>
              </a:rPr>
              <a:t>במילים פשוטות - הגוף למד את הרגש ויכול מעכשיו "להפעיל" אותו שוב.</a:t>
            </a:r>
          </a:p>
          <a:p>
            <a:r>
              <a:rPr lang="he-IL" b="0" i="0" dirty="0">
                <a:solidFill>
                  <a:srgbClr val="000000"/>
                </a:solidFill>
                <a:effectLst/>
                <a:latin typeface="Arial" panose="020B0604020202020204" pitchFamily="34" charset="0"/>
              </a:rPr>
              <a:t>למשל, אם </a:t>
            </a:r>
            <a:r>
              <a:rPr lang="he-IL" b="0" i="0" dirty="0" err="1">
                <a:solidFill>
                  <a:srgbClr val="000000"/>
                </a:solidFill>
                <a:effectLst/>
                <a:latin typeface="Arial" panose="020B0604020202020204" pitchFamily="34" charset="0"/>
              </a:rPr>
              <a:t>נהנ</a:t>
            </a:r>
            <a:r>
              <a:rPr lang="he-IL" b="0" dirty="0" err="1">
                <a:solidFill>
                  <a:srgbClr val="000000"/>
                </a:solidFill>
                <a:latin typeface="Arial" panose="020B0604020202020204" pitchFamily="34" charset="0"/>
              </a:rPr>
              <a:t>ת</a:t>
            </a:r>
            <a:r>
              <a:rPr lang="he-IL" b="0" dirty="0">
                <a:solidFill>
                  <a:srgbClr val="000000"/>
                </a:solidFill>
                <a:latin typeface="Arial" panose="020B0604020202020204" pitchFamily="34" charset="0"/>
              </a:rPr>
              <a:t> פעם מלימוד תורה, </a:t>
            </a:r>
            <a:r>
              <a:rPr lang="he-IL" b="0" i="0" dirty="0">
                <a:solidFill>
                  <a:srgbClr val="000000"/>
                </a:solidFill>
                <a:effectLst/>
                <a:latin typeface="Arial" panose="020B0604020202020204" pitchFamily="34" charset="0"/>
              </a:rPr>
              <a:t>אז הרגש הזה או התחושה הזו כבר מקודדים במערכת העצבים שלך ואתה מסוגל להרגיש זאת שוב.</a:t>
            </a:r>
          </a:p>
          <a:p>
            <a:r>
              <a:rPr lang="he-IL" b="0" i="0" dirty="0">
                <a:solidFill>
                  <a:srgbClr val="000000"/>
                </a:solidFill>
                <a:effectLst/>
                <a:latin typeface="Arial" panose="020B0604020202020204" pitchFamily="34" charset="0"/>
              </a:rPr>
              <a:t>נותרת השאלה - מה יגרום לגוף שלך "להיזכר" ברגש הזה ולחוות אותו מחדש?</a:t>
            </a:r>
          </a:p>
          <a:p>
            <a:r>
              <a:rPr lang="he-IL" b="0" i="0" dirty="0">
                <a:solidFill>
                  <a:srgbClr val="000000"/>
                </a:solidFill>
                <a:effectLst/>
                <a:latin typeface="Arial" panose="020B0604020202020204" pitchFamily="34" charset="0"/>
              </a:rPr>
              <a:t>האם יש "פקודה" שתגרום לך עוד פעם להרגיש הנאה או חשק לרוחניות? </a:t>
            </a:r>
          </a:p>
          <a:p>
            <a:r>
              <a:rPr lang="he-IL" b="0" i="0" dirty="0">
                <a:solidFill>
                  <a:srgbClr val="000000"/>
                </a:solidFill>
                <a:effectLst/>
                <a:latin typeface="Arial" panose="020B0604020202020204" pitchFamily="34" charset="0"/>
              </a:rPr>
              <a:t>האם אנחנו יכולים להשתמש ב"פקודה" הזו, כשנמצאים ליד ילד? </a:t>
            </a:r>
          </a:p>
          <a:p>
            <a:endParaRPr lang="he-IL" b="0" i="0" dirty="0">
              <a:solidFill>
                <a:srgbClr val="000000"/>
              </a:solidFill>
              <a:effectLst/>
              <a:latin typeface="Arial" panose="020B0604020202020204" pitchFamily="34" charset="0"/>
            </a:endParaRPr>
          </a:p>
          <a:p>
            <a:endParaRPr lang="he-IL" dirty="0"/>
          </a:p>
        </p:txBody>
      </p:sp>
      <p:sp>
        <p:nvSpPr>
          <p:cNvPr id="4" name="מציין מיקום של מספר שקופית 3">
            <a:extLst>
              <a:ext uri="{FF2B5EF4-FFF2-40B4-BE49-F238E27FC236}">
                <a16:creationId xmlns:a16="http://schemas.microsoft.com/office/drawing/2014/main" id="{6432669B-90E0-8972-63F1-1F2315A61623}"/>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05112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07394E4-40E7-5A83-5A26-0B3D424A6E2B}"/>
              </a:ext>
            </a:extLst>
          </p:cNvPr>
          <p:cNvSpPr>
            <a:spLocks noGrp="1"/>
          </p:cNvSpPr>
          <p:nvPr>
            <p:ph type="title"/>
          </p:nvPr>
        </p:nvSpPr>
        <p:spPr/>
        <p:txBody>
          <a:bodyPr/>
          <a:lstStyle/>
          <a:p>
            <a:r>
              <a:rPr lang="he-IL" dirty="0"/>
              <a:t>התניה קלאסית</a:t>
            </a:r>
          </a:p>
        </p:txBody>
      </p:sp>
      <p:sp>
        <p:nvSpPr>
          <p:cNvPr id="3" name="מציין מיקום תוכן 2">
            <a:extLst>
              <a:ext uri="{FF2B5EF4-FFF2-40B4-BE49-F238E27FC236}">
                <a16:creationId xmlns:a16="http://schemas.microsoft.com/office/drawing/2014/main" id="{13E85693-377D-18DD-E692-23400872D51C}"/>
              </a:ext>
            </a:extLst>
          </p:cNvPr>
          <p:cNvSpPr>
            <a:spLocks noGrp="1"/>
          </p:cNvSpPr>
          <p:nvPr>
            <p:ph idx="1"/>
          </p:nvPr>
        </p:nvSpPr>
        <p:spPr/>
        <p:txBody>
          <a:bodyPr/>
          <a:lstStyle/>
          <a:p>
            <a:pPr algn="r" fontAlgn="base"/>
            <a:r>
              <a:rPr lang="he-IL" b="0" i="0" dirty="0">
                <a:solidFill>
                  <a:srgbClr val="404040"/>
                </a:solidFill>
                <a:effectLst/>
                <a:latin typeface="Calibri" panose="020F0502020204030204" pitchFamily="34" charset="0"/>
              </a:rPr>
              <a:t>איש המייצג את </a:t>
            </a:r>
            <a:r>
              <a:rPr lang="he-IL" b="1" i="0" dirty="0">
                <a:solidFill>
                  <a:srgbClr val="404040"/>
                </a:solidFill>
                <a:effectLst/>
                <a:latin typeface="inherit"/>
              </a:rPr>
              <a:t>ההתניה הקלאסית</a:t>
            </a:r>
            <a:r>
              <a:rPr lang="he-IL" b="0" i="0" dirty="0">
                <a:solidFill>
                  <a:srgbClr val="404040"/>
                </a:solidFill>
                <a:effectLst/>
                <a:latin typeface="Calibri" panose="020F0502020204030204" pitchFamily="34" charset="0"/>
              </a:rPr>
              <a:t> (</a:t>
            </a:r>
            <a:r>
              <a:rPr lang="en-US" b="0" i="0" dirty="0">
                <a:solidFill>
                  <a:srgbClr val="404040"/>
                </a:solidFill>
                <a:effectLst/>
                <a:latin typeface="inherit"/>
              </a:rPr>
              <a:t>Classical conditioning</a:t>
            </a:r>
            <a:r>
              <a:rPr lang="en-US" b="0" i="0" dirty="0">
                <a:solidFill>
                  <a:srgbClr val="404040"/>
                </a:solidFill>
                <a:effectLst/>
                <a:latin typeface="Calibri" panose="020F0502020204030204" pitchFamily="34" charset="0"/>
              </a:rPr>
              <a:t>) </a:t>
            </a:r>
            <a:r>
              <a:rPr lang="he-IL" b="0" i="0" dirty="0">
                <a:solidFill>
                  <a:srgbClr val="404040"/>
                </a:solidFill>
                <a:effectLst/>
                <a:latin typeface="Calibri" panose="020F0502020204030204" pitchFamily="34" charset="0"/>
              </a:rPr>
              <a:t>הוא, </a:t>
            </a:r>
            <a:r>
              <a:rPr lang="he-IL" b="1" i="0" dirty="0">
                <a:solidFill>
                  <a:srgbClr val="404040"/>
                </a:solidFill>
                <a:effectLst/>
                <a:latin typeface="Calibri" panose="020F0502020204030204" pitchFamily="34" charset="0"/>
              </a:rPr>
              <a:t>איוון פטרוביץ' פבלוב </a:t>
            </a:r>
            <a:r>
              <a:rPr lang="he-IL" b="0" i="0" dirty="0">
                <a:solidFill>
                  <a:srgbClr val="404040"/>
                </a:solidFill>
                <a:effectLst/>
                <a:latin typeface="Calibri" panose="020F0502020204030204" pitchFamily="34" charset="0"/>
              </a:rPr>
              <a:t>(ראו תמונה מימין)</a:t>
            </a:r>
            <a:r>
              <a:rPr lang="he-IL" b="1" i="0" dirty="0">
                <a:solidFill>
                  <a:srgbClr val="404040"/>
                </a:solidFill>
                <a:effectLst/>
                <a:latin typeface="Calibri" panose="020F0502020204030204" pitchFamily="34" charset="0"/>
              </a:rPr>
              <a:t> </a:t>
            </a:r>
            <a:r>
              <a:rPr lang="he-IL" b="0" i="0" dirty="0">
                <a:solidFill>
                  <a:srgbClr val="404040"/>
                </a:solidFill>
                <a:effectLst/>
                <a:latin typeface="Calibri" panose="020F0502020204030204" pitchFamily="34" charset="0"/>
              </a:rPr>
              <a:t>היה מדען ופיזיולוג רוסי, שבשנת 1904 זכה להכרה עולמית כאשר קיבל את פרס נובל לפיזיולוגיה או לרפואה על עבודותיו בחקר מערכת העיכול.</a:t>
            </a:r>
          </a:p>
          <a:p>
            <a:pPr algn="r" fontAlgn="base"/>
            <a:r>
              <a:rPr lang="he-IL" b="1" i="0" dirty="0">
                <a:solidFill>
                  <a:srgbClr val="404040"/>
                </a:solidFill>
                <a:effectLst/>
                <a:latin typeface="inherit"/>
              </a:rPr>
              <a:t>פבלוב</a:t>
            </a:r>
            <a:r>
              <a:rPr lang="he-IL" b="0" i="0" dirty="0">
                <a:solidFill>
                  <a:srgbClr val="404040"/>
                </a:solidFill>
                <a:effectLst/>
                <a:latin typeface="Calibri" panose="020F0502020204030204" pitchFamily="34" charset="0"/>
              </a:rPr>
              <a:t> חקר את התגובות של מערכת העיכול של הכלבים לאוכל. הוא גילה, שכלבים מגיבים לאוכל (מריירים) עוד לפני שהם מקבלים אוכל. תופעה זו כונתה, אחר כך: </a:t>
            </a:r>
            <a:r>
              <a:rPr lang="he-IL" b="1" i="0" dirty="0">
                <a:solidFill>
                  <a:srgbClr val="404040"/>
                </a:solidFill>
                <a:effectLst/>
                <a:latin typeface="Calibri" panose="020F0502020204030204" pitchFamily="34" charset="0"/>
              </a:rPr>
              <a:t>'התניה קלאסית'. </a:t>
            </a:r>
            <a:endParaRPr lang="he-IL" b="0" i="0" dirty="0">
              <a:solidFill>
                <a:srgbClr val="404040"/>
              </a:solidFill>
              <a:effectLst/>
              <a:latin typeface="Calibri" panose="020F0502020204030204" pitchFamily="34" charset="0"/>
            </a:endParaRPr>
          </a:p>
          <a:p>
            <a:pPr algn="r" fontAlgn="base"/>
            <a:r>
              <a:rPr lang="he-IL" b="1" i="0" dirty="0">
                <a:solidFill>
                  <a:srgbClr val="404040"/>
                </a:solidFill>
                <a:effectLst/>
                <a:latin typeface="Calibri" panose="020F0502020204030204" pitchFamily="34" charset="0"/>
              </a:rPr>
              <a:t>ניתן לחלק את הניסוי</a:t>
            </a:r>
            <a:r>
              <a:rPr lang="he-IL" b="0" i="0" dirty="0">
                <a:solidFill>
                  <a:srgbClr val="404040"/>
                </a:solidFill>
                <a:effectLst/>
                <a:latin typeface="Calibri" panose="020F0502020204030204" pitchFamily="34" charset="0"/>
              </a:rPr>
              <a:t> </a:t>
            </a:r>
            <a:r>
              <a:rPr lang="he-IL" b="1" i="0" dirty="0">
                <a:solidFill>
                  <a:srgbClr val="404040"/>
                </a:solidFill>
                <a:effectLst/>
                <a:latin typeface="Calibri" panose="020F0502020204030204" pitchFamily="34" charset="0"/>
              </a:rPr>
              <a:t>של פבלוב ל- 3:</a:t>
            </a:r>
            <a:endParaRPr lang="he-IL" b="0" i="0" dirty="0">
              <a:solidFill>
                <a:srgbClr val="404040"/>
              </a:solidFill>
              <a:effectLst/>
              <a:latin typeface="Calibri" panose="020F0502020204030204" pitchFamily="34" charset="0"/>
            </a:endParaRPr>
          </a:p>
          <a:p>
            <a:pPr algn="r" fontAlgn="base">
              <a:buFont typeface="Arial" panose="020B0604020202020204" pitchFamily="34" charset="0"/>
              <a:buChar char="•"/>
            </a:pPr>
            <a:r>
              <a:rPr lang="he-IL" b="0" i="0" dirty="0">
                <a:solidFill>
                  <a:srgbClr val="404040"/>
                </a:solidFill>
                <a:effectLst/>
                <a:latin typeface="inherit"/>
              </a:rPr>
              <a:t>שלב 1: </a:t>
            </a:r>
            <a:r>
              <a:rPr lang="he-IL" b="1" i="0" dirty="0">
                <a:solidFill>
                  <a:srgbClr val="404040"/>
                </a:solidFill>
                <a:effectLst/>
                <a:latin typeface="inherit"/>
              </a:rPr>
              <a:t>רפלקס. </a:t>
            </a:r>
            <a:r>
              <a:rPr lang="he-IL" b="0" i="0" dirty="0">
                <a:solidFill>
                  <a:srgbClr val="404040"/>
                </a:solidFill>
                <a:effectLst/>
                <a:latin typeface="inherit"/>
              </a:rPr>
              <a:t>תגובה </a:t>
            </a:r>
            <a:r>
              <a:rPr lang="he-IL" b="0" i="0" dirty="0" err="1">
                <a:solidFill>
                  <a:srgbClr val="404040"/>
                </a:solidFill>
                <a:effectLst/>
                <a:latin typeface="inherit"/>
              </a:rPr>
              <a:t>אוטמטית</a:t>
            </a:r>
            <a:r>
              <a:rPr lang="he-IL" b="0" i="0" dirty="0">
                <a:solidFill>
                  <a:srgbClr val="404040"/>
                </a:solidFill>
                <a:effectLst/>
                <a:latin typeface="inherit"/>
              </a:rPr>
              <a:t> לגירוי מסוים (הכלב רואה אוכל --&gt; מפריש ריר).</a:t>
            </a:r>
          </a:p>
          <a:p>
            <a:pPr algn="r" fontAlgn="base">
              <a:buFont typeface="Arial" panose="020B0604020202020204" pitchFamily="34" charset="0"/>
              <a:buChar char="•"/>
            </a:pPr>
            <a:r>
              <a:rPr lang="he-IL" b="0" i="0" dirty="0">
                <a:solidFill>
                  <a:srgbClr val="404040"/>
                </a:solidFill>
                <a:effectLst/>
                <a:latin typeface="inherit"/>
              </a:rPr>
              <a:t>שלב 2: </a:t>
            </a:r>
            <a:r>
              <a:rPr lang="he-IL" b="1" i="0" dirty="0">
                <a:solidFill>
                  <a:srgbClr val="404040"/>
                </a:solidFill>
                <a:effectLst/>
                <a:latin typeface="inherit"/>
              </a:rPr>
              <a:t>שלב הלמידה.</a:t>
            </a:r>
            <a:r>
              <a:rPr lang="he-IL" b="0" i="0" dirty="0">
                <a:solidFill>
                  <a:srgbClr val="404040"/>
                </a:solidFill>
                <a:effectLst/>
                <a:latin typeface="inherit"/>
              </a:rPr>
              <a:t> אותו גירוי שגרם לתגובה רפלקסיבית מקושר לגירוי ניטרלי, שלא גורם לתגובה. (שניה לפני שמאכילים את הכלב מצלצלים בפעמון). </a:t>
            </a:r>
            <a:r>
              <a:rPr lang="he-IL" b="0" i="0" dirty="0">
                <a:solidFill>
                  <a:srgbClr val="404040"/>
                </a:solidFill>
                <a:effectLst/>
                <a:latin typeface="Calibri" panose="020F0502020204030204" pitchFamily="34" charset="0"/>
              </a:rPr>
              <a:t>למידה מתבצעת, </a:t>
            </a:r>
            <a:r>
              <a:rPr lang="he-IL" b="0" i="0" dirty="0" err="1">
                <a:solidFill>
                  <a:srgbClr val="404040"/>
                </a:solidFill>
                <a:effectLst/>
                <a:latin typeface="Calibri" panose="020F0502020204030204" pitchFamily="34" charset="0"/>
              </a:rPr>
              <a:t>בדר"כ</a:t>
            </a:r>
            <a:r>
              <a:rPr lang="he-IL" b="0" i="0" dirty="0">
                <a:solidFill>
                  <a:srgbClr val="404040"/>
                </a:solidFill>
                <a:effectLst/>
                <a:latin typeface="Calibri" panose="020F0502020204030204" pitchFamily="34" charset="0"/>
              </a:rPr>
              <a:t>, על סמך 5-6 התניות. במקרים קיצוניים – התניה אחת תספיק.</a:t>
            </a:r>
          </a:p>
          <a:p>
            <a:pPr algn="r" fontAlgn="base">
              <a:buFont typeface="Arial" panose="020B0604020202020204" pitchFamily="34" charset="0"/>
              <a:buChar char="•"/>
            </a:pPr>
            <a:r>
              <a:rPr lang="he-IL" b="0" i="0" dirty="0">
                <a:solidFill>
                  <a:srgbClr val="404040"/>
                </a:solidFill>
                <a:effectLst/>
                <a:latin typeface="inherit"/>
              </a:rPr>
              <a:t>שלב 3: </a:t>
            </a:r>
            <a:r>
              <a:rPr lang="he-IL" b="1" i="0" dirty="0">
                <a:solidFill>
                  <a:srgbClr val="404040"/>
                </a:solidFill>
                <a:effectLst/>
                <a:latin typeface="inherit"/>
              </a:rPr>
              <a:t>תגובה מותנית.</a:t>
            </a:r>
            <a:r>
              <a:rPr lang="he-IL" b="0" i="0" dirty="0">
                <a:solidFill>
                  <a:srgbClr val="404040"/>
                </a:solidFill>
                <a:effectLst/>
                <a:latin typeface="inherit"/>
              </a:rPr>
              <a:t> הגירוי החדש, </a:t>
            </a:r>
            <a:r>
              <a:rPr lang="he-IL" b="0" i="0" dirty="0" err="1">
                <a:solidFill>
                  <a:srgbClr val="404040"/>
                </a:solidFill>
                <a:effectLst/>
                <a:latin typeface="inherit"/>
              </a:rPr>
              <a:t>הנייטרלי</a:t>
            </a:r>
            <a:r>
              <a:rPr lang="he-IL" b="0" i="0" dirty="0">
                <a:solidFill>
                  <a:srgbClr val="404040"/>
                </a:solidFill>
                <a:effectLst/>
                <a:latin typeface="inherit"/>
              </a:rPr>
              <a:t> מוביל לתגובה רפלקסיבית (הצלצול בפעמון יגרום לריור. זה קורה גם אצל אנשים – הצלצול של פעמון בית הספר גורם גם הוא לריור...).</a:t>
            </a:r>
          </a:p>
          <a:p>
            <a:br>
              <a:rPr lang="he-IL" b="0" i="0" dirty="0">
                <a:solidFill>
                  <a:srgbClr val="117BB8"/>
                </a:solidFill>
                <a:effectLst/>
                <a:latin typeface="Calibri" panose="020F0502020204030204" pitchFamily="34" charset="0"/>
                <a:hlinkClick r:id="rId2"/>
              </a:rPr>
            </a:br>
            <a:endParaRPr lang="he-IL" dirty="0"/>
          </a:p>
        </p:txBody>
      </p:sp>
      <p:sp>
        <p:nvSpPr>
          <p:cNvPr id="4" name="מציין מיקום של מספר שקופית 3">
            <a:extLst>
              <a:ext uri="{FF2B5EF4-FFF2-40B4-BE49-F238E27FC236}">
                <a16:creationId xmlns:a16="http://schemas.microsoft.com/office/drawing/2014/main" id="{9777F5C6-4974-7B58-6B3D-83383B111CFB}"/>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6146" name="Picture 2">
            <a:extLst>
              <a:ext uri="{FF2B5EF4-FFF2-40B4-BE49-F238E27FC236}">
                <a16:creationId xmlns:a16="http://schemas.microsoft.com/office/drawing/2014/main" id="{F4D56192-1C07-FA0A-3C6E-212DDA3FA3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7427" y="-1"/>
            <a:ext cx="1974574" cy="2797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26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F5F89E-92A8-E488-4583-36B259529F7E}"/>
              </a:ext>
            </a:extLst>
          </p:cNvPr>
          <p:cNvSpPr>
            <a:spLocks noGrp="1"/>
          </p:cNvSpPr>
          <p:nvPr>
            <p:ph type="title"/>
          </p:nvPr>
        </p:nvSpPr>
        <p:spPr/>
        <p:txBody>
          <a:bodyPr/>
          <a:lstStyle/>
          <a:p>
            <a:endParaRPr lang="he-IL"/>
          </a:p>
        </p:txBody>
      </p:sp>
      <p:pic>
        <p:nvPicPr>
          <p:cNvPr id="5" name="כל מה שרציתם לדעת על התנייה פבלובית">
            <a:hlinkClick r:id="" action="ppaction://media"/>
            <a:extLst>
              <a:ext uri="{FF2B5EF4-FFF2-40B4-BE49-F238E27FC236}">
                <a16:creationId xmlns:a16="http://schemas.microsoft.com/office/drawing/2014/main" id="{4CAFB1D2-696D-235F-C826-91E89AC74483}"/>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57163" y="1052513"/>
            <a:ext cx="10131425" cy="5694362"/>
          </a:xfrm>
        </p:spPr>
      </p:pic>
      <p:sp>
        <p:nvSpPr>
          <p:cNvPr id="4" name="מציין מיקום של מספר שקופית 3">
            <a:extLst>
              <a:ext uri="{FF2B5EF4-FFF2-40B4-BE49-F238E27FC236}">
                <a16:creationId xmlns:a16="http://schemas.microsoft.com/office/drawing/2014/main" id="{53CA0D6B-8CE5-5A78-ED2E-729516D4962B}"/>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87854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56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ציין מיקום של מספר שקופית 3">
            <a:extLst>
              <a:ext uri="{FF2B5EF4-FFF2-40B4-BE49-F238E27FC236}">
                <a16:creationId xmlns:a16="http://schemas.microsoft.com/office/drawing/2014/main" id="{1573F50E-5F7A-7FD3-EA46-D088C748AD3E}"/>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7170" name="Picture 2">
            <a:extLst>
              <a:ext uri="{FF2B5EF4-FFF2-40B4-BE49-F238E27FC236}">
                <a16:creationId xmlns:a16="http://schemas.microsoft.com/office/drawing/2014/main" id="{A0B2C0A7-0DC2-E6EB-E134-34C56786D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0"/>
            <a:ext cx="3810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668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B25B33-F172-0B20-492E-7E379037C8A6}"/>
              </a:ext>
            </a:extLst>
          </p:cNvPr>
          <p:cNvSpPr>
            <a:spLocks noGrp="1"/>
          </p:cNvSpPr>
          <p:nvPr>
            <p:ph type="title"/>
          </p:nvPr>
        </p:nvSpPr>
        <p:spPr/>
        <p:txBody>
          <a:bodyPr/>
          <a:lstStyle/>
          <a:p>
            <a:r>
              <a:rPr lang="he-IL"/>
              <a:t>התניה לדורות</a:t>
            </a:r>
            <a:endParaRPr lang="he-IL" dirty="0"/>
          </a:p>
        </p:txBody>
      </p:sp>
      <p:sp>
        <p:nvSpPr>
          <p:cNvPr id="3" name="מציין מיקום תוכן 2">
            <a:extLst>
              <a:ext uri="{FF2B5EF4-FFF2-40B4-BE49-F238E27FC236}">
                <a16:creationId xmlns:a16="http://schemas.microsoft.com/office/drawing/2014/main" id="{759CDF92-A296-E8DB-3FB6-CFD93A139E8D}"/>
              </a:ext>
            </a:extLst>
          </p:cNvPr>
          <p:cNvSpPr>
            <a:spLocks noGrp="1"/>
          </p:cNvSpPr>
          <p:nvPr>
            <p:ph idx="1"/>
          </p:nvPr>
        </p:nvSpPr>
        <p:spPr/>
        <p:txBody>
          <a:bodyPr/>
          <a:lstStyle/>
          <a:p>
            <a:r>
              <a:rPr lang="he-IL" dirty="0"/>
              <a:t>תלמוד בבלי מסכת שבת דף קל עמוד א</a:t>
            </a:r>
          </a:p>
          <a:p>
            <a:r>
              <a:rPr lang="he-IL" dirty="0"/>
              <a:t>תניא, רבן שמעון בן גמליאל אומר: כל מצוה שקיבלו עליהם בשמחה כגון מילה, </a:t>
            </a:r>
            <a:r>
              <a:rPr lang="he-IL" dirty="0" err="1"/>
              <a:t>דכתיב</a:t>
            </a:r>
            <a:r>
              <a:rPr lang="he-IL" dirty="0"/>
              <a:t> שש אנכי על אמרתך כמוצא שלל רב - עדיין </a:t>
            </a:r>
            <a:r>
              <a:rPr lang="he-IL" dirty="0" err="1"/>
              <a:t>עושין</a:t>
            </a:r>
            <a:r>
              <a:rPr lang="he-IL" dirty="0"/>
              <a:t> אותה בשמחה, </a:t>
            </a:r>
          </a:p>
          <a:p>
            <a:r>
              <a:rPr lang="he-IL" dirty="0"/>
              <a:t>וכל מצוה שקבלו עליהם בקטטה, כגון עריות - </a:t>
            </a:r>
            <a:r>
              <a:rPr lang="he-IL" dirty="0" err="1"/>
              <a:t>דכתיב</a:t>
            </a:r>
            <a:r>
              <a:rPr lang="he-IL" dirty="0"/>
              <a:t> וישמע משה את העם בכה למשפחותיו על עסקי משפחותיו - עדיין </a:t>
            </a:r>
            <a:r>
              <a:rPr lang="he-IL" dirty="0" err="1"/>
              <a:t>עושין</a:t>
            </a:r>
            <a:r>
              <a:rPr lang="he-IL" dirty="0"/>
              <a:t> אותה בקטטה, </a:t>
            </a:r>
            <a:r>
              <a:rPr lang="he-IL" dirty="0" err="1"/>
              <a:t>דליכא</a:t>
            </a:r>
            <a:r>
              <a:rPr lang="he-IL" dirty="0"/>
              <a:t> כתובה דלא רמו בה </a:t>
            </a:r>
            <a:r>
              <a:rPr lang="he-IL" dirty="0" err="1"/>
              <a:t>תיגרא</a:t>
            </a:r>
            <a:r>
              <a:rPr lang="he-IL" dirty="0"/>
              <a:t>. </a:t>
            </a:r>
          </a:p>
          <a:p>
            <a:r>
              <a:rPr lang="he-IL" dirty="0"/>
              <a:t>יתכן מאוד וכאן גם כתוב יסוד ההתניה, שכוח ההתניה הוא כל כך גדול שמשפיע גם על דורות הבאים. </a:t>
            </a:r>
          </a:p>
          <a:p>
            <a:r>
              <a:rPr lang="he-IL" dirty="0"/>
              <a:t>ובאמת ראיתי כתוב שיש לפעמים כוח של ההורים להשפיע אפילו על דורות ההמשך. </a:t>
            </a:r>
          </a:p>
        </p:txBody>
      </p:sp>
      <p:sp>
        <p:nvSpPr>
          <p:cNvPr id="4" name="מציין מיקום של מספר שקופית 3">
            <a:extLst>
              <a:ext uri="{FF2B5EF4-FFF2-40B4-BE49-F238E27FC236}">
                <a16:creationId xmlns:a16="http://schemas.microsoft.com/office/drawing/2014/main" id="{7833DADD-9627-1C42-C2B7-DCF4918C359D}"/>
              </a:ext>
            </a:extLst>
          </p:cNvPr>
          <p:cNvSpPr>
            <a:spLocks noGrp="1"/>
          </p:cNvSpPr>
          <p:nvPr>
            <p:ph type="sldNum" sz="quarter" idx="12"/>
          </p:nvPr>
        </p:nvSpPr>
        <p:spPr/>
        <p:txBody>
          <a:bodyPr/>
          <a:lstStyle/>
          <a:p>
            <a:fld id="{519954A3-9DFD-4C44-94BA-B95130A3BA1C}" type="slidenum">
              <a:rPr lang="en-US" smtClean="0"/>
              <a:t>6</a:t>
            </a:fld>
            <a:endParaRPr lang="en-US" dirty="0"/>
          </a:p>
        </p:txBody>
      </p:sp>
    </p:spTree>
    <p:extLst>
      <p:ext uri="{BB962C8B-B14F-4D97-AF65-F5344CB8AC3E}">
        <p14:creationId xmlns:p14="http://schemas.microsoft.com/office/powerpoint/2010/main" val="2396998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28586-0D20-AA0F-BA85-F1D01C0E42FD}"/>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4FD4C97C-8BA3-BBC8-8891-3050BC4EF94F}"/>
              </a:ext>
            </a:extLst>
          </p:cNvPr>
          <p:cNvSpPr>
            <a:spLocks noGrp="1"/>
          </p:cNvSpPr>
          <p:nvPr>
            <p:ph type="title"/>
          </p:nvPr>
        </p:nvSpPr>
        <p:spPr/>
        <p:txBody>
          <a:bodyPr>
            <a:normAutofit/>
          </a:bodyPr>
          <a:lstStyle/>
          <a:p>
            <a:r>
              <a:rPr lang="he-IL" dirty="0"/>
              <a:t>הפעלת החשק באמצעות כפתור</a:t>
            </a:r>
          </a:p>
        </p:txBody>
      </p:sp>
      <p:sp>
        <p:nvSpPr>
          <p:cNvPr id="3" name="מציין מיקום תוכן 2">
            <a:extLst>
              <a:ext uri="{FF2B5EF4-FFF2-40B4-BE49-F238E27FC236}">
                <a16:creationId xmlns:a16="http://schemas.microsoft.com/office/drawing/2014/main" id="{F91087D5-0CBB-3DDE-E647-1935D2F4791F}"/>
              </a:ext>
            </a:extLst>
          </p:cNvPr>
          <p:cNvSpPr>
            <a:spLocks noGrp="1"/>
          </p:cNvSpPr>
          <p:nvPr>
            <p:ph idx="1"/>
          </p:nvPr>
        </p:nvSpPr>
        <p:spPr/>
        <p:txBody>
          <a:bodyPr>
            <a:normAutofit/>
          </a:bodyPr>
          <a:lstStyle/>
          <a:p>
            <a:r>
              <a:rPr lang="he-IL" b="1" i="0" dirty="0">
                <a:solidFill>
                  <a:srgbClr val="000000"/>
                </a:solidFill>
                <a:effectLst/>
                <a:latin typeface="Arial" panose="020B0604020202020204" pitchFamily="34" charset="0"/>
              </a:rPr>
              <a:t>ספר מסילת ישרים פרק ז</a:t>
            </a:r>
          </a:p>
          <a:p>
            <a:r>
              <a:rPr lang="he-IL" b="1" i="0" dirty="0">
                <a:solidFill>
                  <a:srgbClr val="000000"/>
                </a:solidFill>
                <a:effectLst/>
                <a:latin typeface="Arial" panose="020B0604020202020204" pitchFamily="34" charset="0"/>
              </a:rPr>
              <a:t>ואמנם כבר ידעת, </a:t>
            </a:r>
            <a:r>
              <a:rPr lang="he-IL" b="1" i="0" dirty="0" err="1">
                <a:solidFill>
                  <a:srgbClr val="000000"/>
                </a:solidFill>
                <a:effectLst/>
                <a:latin typeface="Arial" panose="020B0604020202020204" pitchFamily="34" charset="0"/>
              </a:rPr>
              <a:t>שהנרצה</a:t>
            </a:r>
            <a:r>
              <a:rPr lang="he-IL" b="1" i="0" dirty="0">
                <a:solidFill>
                  <a:srgbClr val="000000"/>
                </a:solidFill>
                <a:effectLst/>
                <a:latin typeface="Arial" panose="020B0604020202020204" pitchFamily="34" charset="0"/>
              </a:rPr>
              <a:t> יותר בעבודת הבורא, יתברך שמו, הוא חפץ הלב ותשוקת הנשמה. והוא מה שדוד המלך מתהלל בחלקו הטוב ואומר (תהלים </a:t>
            </a:r>
            <a:r>
              <a:rPr lang="he-IL" b="1" i="0" dirty="0" err="1">
                <a:solidFill>
                  <a:srgbClr val="000000"/>
                </a:solidFill>
                <a:effectLst/>
                <a:latin typeface="Arial" panose="020B0604020202020204" pitchFamily="34" charset="0"/>
              </a:rPr>
              <a:t>מב</a:t>
            </a:r>
            <a:r>
              <a:rPr lang="he-IL" b="1" i="0" dirty="0">
                <a:solidFill>
                  <a:srgbClr val="000000"/>
                </a:solidFill>
                <a:effectLst/>
                <a:latin typeface="Arial" panose="020B0604020202020204" pitchFamily="34" charset="0"/>
              </a:rPr>
              <a:t>): כאיל </a:t>
            </a:r>
            <a:r>
              <a:rPr lang="he-IL" b="1" i="0" dirty="0" err="1">
                <a:solidFill>
                  <a:srgbClr val="000000"/>
                </a:solidFill>
                <a:effectLst/>
                <a:latin typeface="Arial" panose="020B0604020202020204" pitchFamily="34" charset="0"/>
              </a:rPr>
              <a:t>תערג</a:t>
            </a:r>
            <a:r>
              <a:rPr lang="he-IL" b="1" i="0" dirty="0">
                <a:solidFill>
                  <a:srgbClr val="000000"/>
                </a:solidFill>
                <a:effectLst/>
                <a:latin typeface="Arial" panose="020B0604020202020204" pitchFamily="34" charset="0"/>
              </a:rPr>
              <a:t> על - אפיקי - מים כן נפשי תערוג אליך </a:t>
            </a:r>
            <a:r>
              <a:rPr lang="he-IL" b="1" i="0" dirty="0" err="1">
                <a:solidFill>
                  <a:srgbClr val="000000"/>
                </a:solidFill>
                <a:effectLst/>
                <a:latin typeface="Arial" panose="020B0604020202020204" pitchFamily="34" charset="0"/>
              </a:rPr>
              <a:t>אלקים</a:t>
            </a:r>
            <a:r>
              <a:rPr lang="he-IL" b="1" i="0" dirty="0">
                <a:solidFill>
                  <a:srgbClr val="000000"/>
                </a:solidFill>
                <a:effectLst/>
                <a:latin typeface="Arial" panose="020B0604020202020204" pitchFamily="34" charset="0"/>
              </a:rPr>
              <a:t>, צמאה נפשי </a:t>
            </a:r>
            <a:r>
              <a:rPr lang="he-IL" b="1" i="0" dirty="0" err="1">
                <a:solidFill>
                  <a:srgbClr val="000000"/>
                </a:solidFill>
                <a:effectLst/>
                <a:latin typeface="Arial" panose="020B0604020202020204" pitchFamily="34" charset="0"/>
              </a:rPr>
              <a:t>לאלקים</a:t>
            </a:r>
            <a:r>
              <a:rPr lang="he-IL" b="1" i="0" dirty="0">
                <a:solidFill>
                  <a:srgbClr val="000000"/>
                </a:solidFill>
                <a:effectLst/>
                <a:latin typeface="Arial" panose="020B0604020202020204" pitchFamily="34" charset="0"/>
              </a:rPr>
              <a:t> וגו'. (שם פד): נכספה וגם כלתה נפשי לחצרות ה'. (שם </a:t>
            </a:r>
            <a:r>
              <a:rPr lang="he-IL" b="1" i="0" dirty="0" err="1">
                <a:solidFill>
                  <a:srgbClr val="000000"/>
                </a:solidFill>
                <a:effectLst/>
                <a:latin typeface="Arial" panose="020B0604020202020204" pitchFamily="34" charset="0"/>
              </a:rPr>
              <a:t>סג</a:t>
            </a:r>
            <a:r>
              <a:rPr lang="he-IL" b="1" i="0" dirty="0">
                <a:solidFill>
                  <a:srgbClr val="000000"/>
                </a:solidFill>
                <a:effectLst/>
                <a:latin typeface="Arial" panose="020B0604020202020204" pitchFamily="34" charset="0"/>
              </a:rPr>
              <a:t>): צמאה לך נפשי כמה לך בשרי. </a:t>
            </a:r>
          </a:p>
          <a:p>
            <a:r>
              <a:rPr lang="he-IL" b="1" i="0" dirty="0">
                <a:solidFill>
                  <a:srgbClr val="000000"/>
                </a:solidFill>
                <a:effectLst/>
                <a:latin typeface="Arial" panose="020B0604020202020204" pitchFamily="34" charset="0"/>
              </a:rPr>
              <a:t>ואולם האדם אשר אין החמדה הזאת לוהטת בו כראוי, עצה טובה היא לו שיזדרז ברצונו, כדי שימשך מזה </a:t>
            </a:r>
            <a:r>
              <a:rPr lang="he-IL" b="1" i="0" dirty="0" err="1">
                <a:solidFill>
                  <a:srgbClr val="000000"/>
                </a:solidFill>
                <a:effectLst/>
                <a:latin typeface="Arial" panose="020B0604020202020204" pitchFamily="34" charset="0"/>
              </a:rPr>
              <a:t>שתולד</a:t>
            </a:r>
            <a:r>
              <a:rPr lang="he-IL" b="1" i="0" dirty="0">
                <a:solidFill>
                  <a:srgbClr val="000000"/>
                </a:solidFill>
                <a:effectLst/>
                <a:latin typeface="Arial" panose="020B0604020202020204" pitchFamily="34" charset="0"/>
              </a:rPr>
              <a:t> בו החמדה בטבע, </a:t>
            </a:r>
            <a:r>
              <a:rPr lang="he-IL" b="1" i="0" dirty="0">
                <a:solidFill>
                  <a:srgbClr val="000000"/>
                </a:solidFill>
                <a:effectLst/>
                <a:highlight>
                  <a:srgbClr val="FFFF00"/>
                </a:highlight>
                <a:latin typeface="Arial" panose="020B0604020202020204" pitchFamily="34" charset="0"/>
              </a:rPr>
              <a:t>כי התנועה החיצונה מעוררת הפנימית</a:t>
            </a:r>
            <a:r>
              <a:rPr lang="he-IL" b="1" i="0" dirty="0">
                <a:solidFill>
                  <a:srgbClr val="000000"/>
                </a:solidFill>
                <a:effectLst/>
                <a:latin typeface="Arial" panose="020B0604020202020204" pitchFamily="34" charset="0"/>
              </a:rPr>
              <a:t>, </a:t>
            </a:r>
            <a:r>
              <a:rPr lang="he-IL" b="1" i="0" dirty="0" err="1">
                <a:solidFill>
                  <a:srgbClr val="000000"/>
                </a:solidFill>
                <a:effectLst/>
                <a:latin typeface="Arial" panose="020B0604020202020204" pitchFamily="34" charset="0"/>
              </a:rPr>
              <a:t>ובודאי</a:t>
            </a:r>
            <a:r>
              <a:rPr lang="he-IL" b="1" i="0" dirty="0">
                <a:solidFill>
                  <a:srgbClr val="000000"/>
                </a:solidFill>
                <a:effectLst/>
                <a:latin typeface="Arial" panose="020B0604020202020204" pitchFamily="34" charset="0"/>
              </a:rPr>
              <a:t> שיותר מסורה בידו היא החיצונה מהפנימית. </a:t>
            </a:r>
          </a:p>
          <a:p>
            <a:r>
              <a:rPr lang="he-IL" b="1" i="0" dirty="0">
                <a:solidFill>
                  <a:srgbClr val="000000"/>
                </a:solidFill>
                <a:effectLst/>
                <a:latin typeface="Arial" panose="020B0604020202020204" pitchFamily="34" charset="0"/>
              </a:rPr>
              <a:t>אך אם ישתמש ממה שבידו, יקנה גם מה שאינו בידו בהמשך, כי </a:t>
            </a:r>
            <a:r>
              <a:rPr lang="he-IL" b="1" i="0" dirty="0" err="1">
                <a:solidFill>
                  <a:srgbClr val="000000"/>
                </a:solidFill>
                <a:effectLst/>
                <a:latin typeface="Arial" panose="020B0604020202020204" pitchFamily="34" charset="0"/>
              </a:rPr>
              <a:t>תולד</a:t>
            </a:r>
            <a:r>
              <a:rPr lang="he-IL" b="1" i="0" dirty="0">
                <a:solidFill>
                  <a:srgbClr val="000000"/>
                </a:solidFill>
                <a:effectLst/>
                <a:latin typeface="Arial" panose="020B0604020202020204" pitchFamily="34" charset="0"/>
              </a:rPr>
              <a:t> בו השמחה הפנימית והחפץ והחמדה </a:t>
            </a:r>
            <a:r>
              <a:rPr lang="he-IL" b="1" i="0" dirty="0" err="1">
                <a:solidFill>
                  <a:srgbClr val="000000"/>
                </a:solidFill>
                <a:effectLst/>
                <a:latin typeface="Arial" panose="020B0604020202020204" pitchFamily="34" charset="0"/>
              </a:rPr>
              <a:t>מכח</a:t>
            </a:r>
            <a:r>
              <a:rPr lang="he-IL" b="1" i="0" dirty="0">
                <a:solidFill>
                  <a:srgbClr val="000000"/>
                </a:solidFill>
                <a:effectLst/>
                <a:latin typeface="Arial" panose="020B0604020202020204" pitchFamily="34" charset="0"/>
              </a:rPr>
              <a:t> מה שהוא מתלהט בתנועתו ברצון.</a:t>
            </a:r>
            <a:endParaRPr lang="he-IL" dirty="0"/>
          </a:p>
        </p:txBody>
      </p:sp>
      <p:sp>
        <p:nvSpPr>
          <p:cNvPr id="4" name="מציין מיקום של מספר שקופית 3">
            <a:extLst>
              <a:ext uri="{FF2B5EF4-FFF2-40B4-BE49-F238E27FC236}">
                <a16:creationId xmlns:a16="http://schemas.microsoft.com/office/drawing/2014/main" id="{FCF7C187-586D-26FB-C7C4-DC986B619142}"/>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7" name="תמונה 6">
            <a:extLst>
              <a:ext uri="{FF2B5EF4-FFF2-40B4-BE49-F238E27FC236}">
                <a16:creationId xmlns:a16="http://schemas.microsoft.com/office/drawing/2014/main" id="{441DAB70-EC55-F7AD-4E6A-851B5DFA0B5C}"/>
              </a:ext>
            </a:extLst>
          </p:cNvPr>
          <p:cNvPicPr>
            <a:picLocks noChangeAspect="1"/>
          </p:cNvPicPr>
          <p:nvPr/>
        </p:nvPicPr>
        <p:blipFill>
          <a:blip r:embed="rId2"/>
          <a:stretch>
            <a:fillRect/>
          </a:stretch>
        </p:blipFill>
        <p:spPr>
          <a:xfrm>
            <a:off x="2096960" y="4122236"/>
            <a:ext cx="5862295" cy="2631401"/>
          </a:xfrm>
          <a:prstGeom prst="rect">
            <a:avLst/>
          </a:prstGeom>
        </p:spPr>
      </p:pic>
    </p:spTree>
    <p:extLst>
      <p:ext uri="{BB962C8B-B14F-4D97-AF65-F5344CB8AC3E}">
        <p14:creationId xmlns:p14="http://schemas.microsoft.com/office/powerpoint/2010/main" val="3181187764"/>
      </p:ext>
    </p:extLst>
  </p:cSld>
  <p:clrMapOvr>
    <a:masterClrMapping/>
  </p:clrMapOvr>
  <mc:AlternateContent xmlns:mc="http://schemas.openxmlformats.org/markup-compatibility/2006" xmlns:p14="http://schemas.microsoft.com/office/powerpoint/2010/main">
    <mc:Choice Requires="p14">
      <p:transition spd="slow" p14:dur="2000" advTm="349958"/>
    </mc:Choice>
    <mc:Fallback xmlns="">
      <p:transition spd="slow" advTm="34995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5804A2-0A47-F52D-BBD0-7AA8D67AFDFC}"/>
              </a:ext>
            </a:extLst>
          </p:cNvPr>
          <p:cNvSpPr>
            <a:spLocks noGrp="1"/>
          </p:cNvSpPr>
          <p:nvPr>
            <p:ph type="title"/>
          </p:nvPr>
        </p:nvSpPr>
        <p:spPr/>
        <p:txBody>
          <a:bodyPr>
            <a:normAutofit fontScale="90000"/>
          </a:bodyPr>
          <a:lstStyle/>
          <a:p>
            <a:r>
              <a:rPr lang="he-IL" dirty="0"/>
              <a:t>חיוך מדומה מסייע במצבי לחץ</a:t>
            </a:r>
            <a:br>
              <a:rPr lang="he-IL" dirty="0"/>
            </a:br>
            <a:endParaRPr lang="he-IL" dirty="0"/>
          </a:p>
        </p:txBody>
      </p:sp>
      <p:sp>
        <p:nvSpPr>
          <p:cNvPr id="3" name="מציין מיקום תוכן 2">
            <a:extLst>
              <a:ext uri="{FF2B5EF4-FFF2-40B4-BE49-F238E27FC236}">
                <a16:creationId xmlns:a16="http://schemas.microsoft.com/office/drawing/2014/main" id="{D4960677-1FB0-0F14-D953-EC8CCC48E2BF}"/>
              </a:ext>
            </a:extLst>
          </p:cNvPr>
          <p:cNvSpPr>
            <a:spLocks noGrp="1"/>
          </p:cNvSpPr>
          <p:nvPr>
            <p:ph idx="1"/>
          </p:nvPr>
        </p:nvSpPr>
        <p:spPr/>
        <p:txBody>
          <a:bodyPr/>
          <a:lstStyle/>
          <a:p>
            <a:pPr algn="just"/>
            <a:r>
              <a:rPr lang="he-IL" b="0" i="0" dirty="0">
                <a:solidFill>
                  <a:srgbClr val="333333"/>
                </a:solidFill>
                <a:effectLst/>
                <a:latin typeface="Assistant" pitchFamily="2" charset="-79"/>
                <a:cs typeface="Assistant" pitchFamily="2" charset="-79"/>
              </a:rPr>
              <a:t>מחקרים מצאו שחיוך מפחית ייצור של הורמוני לחץ כמו </a:t>
            </a:r>
            <a:r>
              <a:rPr lang="he-IL" b="0" i="0" dirty="0" err="1">
                <a:solidFill>
                  <a:srgbClr val="333333"/>
                </a:solidFill>
                <a:effectLst/>
                <a:latin typeface="Assistant" pitchFamily="2" charset="-79"/>
                <a:cs typeface="Assistant" pitchFamily="2" charset="-79"/>
              </a:rPr>
              <a:t>קורטיזול</a:t>
            </a:r>
            <a:r>
              <a:rPr lang="he-IL" b="0" i="0" dirty="0">
                <a:solidFill>
                  <a:srgbClr val="333333"/>
                </a:solidFill>
                <a:effectLst/>
                <a:latin typeface="Assistant" pitchFamily="2" charset="-79"/>
                <a:cs typeface="Assistant" pitchFamily="2" charset="-79"/>
              </a:rPr>
              <a:t> ואדרנלין. חוקרים מאוניברסיטת קנזס בארה"ב לקחו את זה צעד קדימה והחליטו לבדוק האם גם חיוך מזויף, שנוצר על ידי מניפולציה, משפיע על תגובת הגוף ללחץ.</a:t>
            </a:r>
          </a:p>
          <a:p>
            <a:pPr algn="just"/>
            <a:r>
              <a:rPr lang="he-IL" sz="600" b="0" i="0" dirty="0">
                <a:solidFill>
                  <a:srgbClr val="333333"/>
                </a:solidFill>
                <a:effectLst/>
                <a:latin typeface="Assistant" pitchFamily="2" charset="-79"/>
                <a:cs typeface="Assistant" pitchFamily="2" charset="-79"/>
              </a:rPr>
              <a:t>במחקר שפורסם בכתב העת </a:t>
            </a:r>
            <a:r>
              <a:rPr lang="en-US" sz="600" b="0" i="0" dirty="0">
                <a:solidFill>
                  <a:srgbClr val="333333"/>
                </a:solidFill>
                <a:effectLst/>
                <a:latin typeface="Assistant" pitchFamily="2" charset="-79"/>
                <a:cs typeface="Assistant" pitchFamily="2" charset="-79"/>
              </a:rPr>
              <a:t>Psychol Since, </a:t>
            </a:r>
            <a:r>
              <a:rPr lang="he-IL" sz="600" b="0" i="0" dirty="0">
                <a:solidFill>
                  <a:srgbClr val="333333"/>
                </a:solidFill>
                <a:effectLst/>
                <a:latin typeface="Assistant" pitchFamily="2" charset="-79"/>
                <a:cs typeface="Assistant" pitchFamily="2" charset="-79"/>
              </a:rPr>
              <a:t>חולקו 170 אנשים לשלוש קבוצות. המשתתפים בקבוצות השונות התבקשו להשלים משימות תחת לחץ. בעת המשימות קבוצה אחת אחזה בפה מקל אכילה באופן שיצר חיוך מלא, קבוצה שנייה אחזה מקל אכילה שיצר חיוך רגיל ומשתתפי הקבוצה השלישית התבקשו לשמור על הבעת פנים ניטרלית בעת ביצוע המשימות. בעת המשימות חצי מקבוצת החיוך המלא התבקשו לחייך וחצי מהם התבקשו לא לחייך. הממצאים גילו שלכל המשתתפים המחייכים, ללא קשר לשאלה אם הם התבקשו לחייך או חייכו רק בגלל מקל האכילה בפה, היה דופק נמוך יותר בזמן ההתאוששות מהלחץ, כאשר בקבוצת החיוך המלא הביטוי היה החזק ביותר. בקבוצת הלא מחייכים לא נמצאה תגובה דומה. מסקנת החוקרים הייתה שיש יתרונות פיזיולוגיים ופסיכולוגיים בשמירה על הבעת פנים מחייכת בעת לחץ.</a:t>
            </a:r>
          </a:p>
          <a:p>
            <a:pPr algn="just"/>
            <a:r>
              <a:rPr lang="he-IL" sz="600" b="0" i="0" dirty="0">
                <a:solidFill>
                  <a:srgbClr val="333333"/>
                </a:solidFill>
                <a:effectLst/>
                <a:latin typeface="Assistant" pitchFamily="2" charset="-79"/>
                <a:cs typeface="Assistant" pitchFamily="2" charset="-79"/>
              </a:rPr>
              <a:t>המחקר כלל 3,878 משתתפים בגיל ממוצע של 26 (מעל 70% נשים), שחולקו לשלוש קבוצות וכל אחת מהן ביצעה משימה אחרת המכוונת לעודד את המשתתפים להפעיל את שרירי החיוך שלהם:</a:t>
            </a:r>
          </a:p>
          <a:p>
            <a:pPr algn="just"/>
            <a:r>
              <a:rPr lang="he-IL" sz="600" b="0" i="0" dirty="0">
                <a:solidFill>
                  <a:srgbClr val="333333"/>
                </a:solidFill>
                <a:effectLst/>
                <a:latin typeface="Assistant" pitchFamily="2" charset="-79"/>
                <a:cs typeface="Assistant" pitchFamily="2" charset="-79"/>
              </a:rPr>
              <a:t>1. משימת "העט בפה" (המשימה המקורית של </a:t>
            </a:r>
            <a:r>
              <a:rPr lang="he-IL" sz="600" b="0" i="0" dirty="0" err="1">
                <a:solidFill>
                  <a:srgbClr val="333333"/>
                </a:solidFill>
                <a:effectLst/>
                <a:latin typeface="Assistant" pitchFamily="2" charset="-79"/>
                <a:cs typeface="Assistant" pitchFamily="2" charset="-79"/>
              </a:rPr>
              <a:t>סטארק</a:t>
            </a:r>
            <a:r>
              <a:rPr lang="he-IL" sz="600" b="0" i="0" dirty="0">
                <a:solidFill>
                  <a:srgbClr val="333333"/>
                </a:solidFill>
                <a:effectLst/>
                <a:latin typeface="Assistant" pitchFamily="2" charset="-79"/>
                <a:cs typeface="Assistant" pitchFamily="2" charset="-79"/>
              </a:rPr>
              <a:t>, מרטין </a:t>
            </a:r>
            <a:r>
              <a:rPr lang="he-IL" sz="600" b="0" i="0" dirty="0" err="1">
                <a:solidFill>
                  <a:srgbClr val="333333"/>
                </a:solidFill>
                <a:effectLst/>
                <a:latin typeface="Assistant" pitchFamily="2" charset="-79"/>
                <a:cs typeface="Assistant" pitchFamily="2" charset="-79"/>
              </a:rPr>
              <a:t>וסטפר</a:t>
            </a:r>
            <a:r>
              <a:rPr lang="he-IL" sz="600" b="0" i="0" dirty="0">
                <a:solidFill>
                  <a:srgbClr val="333333"/>
                </a:solidFill>
                <a:effectLst/>
                <a:latin typeface="Assistant" pitchFamily="2" charset="-79"/>
                <a:cs typeface="Assistant" pitchFamily="2" charset="-79"/>
              </a:rPr>
              <a:t>) שבה המשתתפים התבקשו להחזיק עט בין השיניים שלהם כדי לדמות חיוך או לאחוז את העט עם השפתיים כדי ליצור מבע ניטרלי.</a:t>
            </a:r>
          </a:p>
          <a:p>
            <a:pPr algn="just"/>
            <a:r>
              <a:rPr lang="he-IL" sz="600" b="0" i="0" dirty="0">
                <a:solidFill>
                  <a:srgbClr val="333333"/>
                </a:solidFill>
                <a:effectLst/>
                <a:latin typeface="Assistant" pitchFamily="2" charset="-79"/>
                <a:cs typeface="Assistant" pitchFamily="2" charset="-79"/>
              </a:rPr>
              <a:t>2. משימת חיקוי פנים, שבה המשתתפים התבקשו להעתיק את הבעות הפנים של שחקנים עם הבעות שמחות או ניטרליות.</a:t>
            </a:r>
          </a:p>
          <a:p>
            <a:pPr algn="just"/>
            <a:r>
              <a:rPr lang="he-IL" sz="600" b="0" i="0" dirty="0">
                <a:solidFill>
                  <a:srgbClr val="333333"/>
                </a:solidFill>
                <a:effectLst/>
                <a:latin typeface="Assistant" pitchFamily="2" charset="-79"/>
                <a:cs typeface="Assistant" pitchFamily="2" charset="-79"/>
              </a:rPr>
              <a:t>3. משימת פנים וולונטרית, שבה משתתפי המחקר התבקשו להניע את זוויות השפתיים שלהם לכיוון האוזניים תוך העלאת הלחיים שלהם על ידי שימוש בשרירי הפנים, או להציג מבע פנים ניטרלי. </a:t>
            </a:r>
          </a:p>
          <a:p>
            <a:pPr algn="just"/>
            <a:r>
              <a:rPr lang="he-IL" sz="600" b="0" i="0" dirty="0">
                <a:solidFill>
                  <a:srgbClr val="333333"/>
                </a:solidFill>
                <a:effectLst/>
                <a:latin typeface="Assistant" pitchFamily="2" charset="-79"/>
                <a:cs typeface="Assistant" pitchFamily="2" charset="-79"/>
              </a:rPr>
              <a:t>בסיום המשימה מילאו כל המשתתפים שאלונים לאבחון רגשות האושר שלהם (מדרג 7-1 של סיפוק, חיבה והנאה) לצד דירוג רמות חרדה, כעס, עייפות ובלבול.</a:t>
            </a:r>
          </a:p>
          <a:p>
            <a:pPr algn="just"/>
            <a:r>
              <a:rPr lang="he-IL" sz="600" b="0" i="0" dirty="0">
                <a:solidFill>
                  <a:srgbClr val="333333"/>
                </a:solidFill>
                <a:effectLst/>
                <a:latin typeface="Assistant" pitchFamily="2" charset="-79"/>
                <a:cs typeface="Assistant" pitchFamily="2" charset="-79"/>
              </a:rPr>
              <a:t>תוצאות חדות</a:t>
            </a:r>
          </a:p>
          <a:p>
            <a:pPr algn="just"/>
            <a:r>
              <a:rPr lang="he-IL" sz="600" b="0" i="0" dirty="0">
                <a:solidFill>
                  <a:srgbClr val="333333"/>
                </a:solidFill>
                <a:effectLst/>
                <a:latin typeface="Assistant" pitchFamily="2" charset="-79"/>
                <a:cs typeface="Assistant" pitchFamily="2" charset="-79"/>
              </a:rPr>
              <a:t>עלייה ברמות האושר ניכרה בקרב המשתתפים שחיקו תמונות של אנשים מחייכים או ש"זייפו" חיוך עצמאי על ידי הרמת השפתיים למעלה. לא נרשם שינוי כזה בקרב המשתתפים בשיטת החזקת העט בפה. "הנחת היסוד שלנו", צוטט ד"ר קולס, "הייתה שכל שלוש הטכניקות יוצרות תבנית שרירית של הבעת אושר. אולם ייתכן שמצב החזקת העט בפה לא יוצר מבע מדויק המדמה חיוך, כפי שחשבו בעבר, שכן היא מחייבת אולי גם מידה מסוימת של כיווץ שיניים שלא נמצאת בחיוך אמיתי. </a:t>
            </a:r>
          </a:p>
          <a:p>
            <a:pPr algn="just"/>
            <a:r>
              <a:rPr lang="he-IL" sz="1000" b="0" i="0" dirty="0">
                <a:solidFill>
                  <a:srgbClr val="333333"/>
                </a:solidFill>
                <a:effectLst/>
                <a:latin typeface="Assistant" pitchFamily="2" charset="-79"/>
                <a:cs typeface="Assistant" pitchFamily="2" charset="-79"/>
              </a:rPr>
              <a:t>"עם זאת, הממצאים בנוגע להשפעת המשימות האחרות הם ברורים ומספקים, הוכחה ניצחת לכך שהרגשות האנושיים קשורים בדרך כלשהי לתנועות שרירים או לתחושות פיזיות אחרות. במהלך השנים האחרונות לקח המדע צעד קדימה וכמה צעדים אחורה בנושא הזה, אבל עכשיו אנו קרובים מתמיד להבין חלק מהותי מהקיום האנושי: הרגש. במחקרי המשך נרחיב את היריעה כדי להבין איך אלמנטים נוספים בגוף, כמו פעימות הלב או חום הגוף, מתנהגים ומעצבים ביחד את החוויה המודעת של רגש".</a:t>
            </a:r>
          </a:p>
          <a:p>
            <a:pPr algn="just"/>
            <a:r>
              <a:rPr lang="he-IL" b="0" i="0" dirty="0">
                <a:solidFill>
                  <a:srgbClr val="333333"/>
                </a:solidFill>
                <a:effectLst/>
                <a:latin typeface="Assistant" pitchFamily="2" charset="-79"/>
                <a:cs typeface="Assistant" pitchFamily="2" charset="-79"/>
              </a:rPr>
              <a:t>בעת לחץ, בדרך בפקק או בזמן עבודה, מומלץ פשוט לחייך. זה יעזור לגוף להגיב טוב יותר לסטרס.</a:t>
            </a:r>
          </a:p>
          <a:p>
            <a:endParaRPr lang="he-IL" dirty="0"/>
          </a:p>
        </p:txBody>
      </p:sp>
      <p:sp>
        <p:nvSpPr>
          <p:cNvPr id="4" name="מציין מיקום של מספר שקופית 3">
            <a:extLst>
              <a:ext uri="{FF2B5EF4-FFF2-40B4-BE49-F238E27FC236}">
                <a16:creationId xmlns:a16="http://schemas.microsoft.com/office/drawing/2014/main" id="{1F7FECF3-98CF-D743-FBB5-319DD642FC1C}"/>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6" name="תמונה 5">
            <a:extLst>
              <a:ext uri="{FF2B5EF4-FFF2-40B4-BE49-F238E27FC236}">
                <a16:creationId xmlns:a16="http://schemas.microsoft.com/office/drawing/2014/main" id="{8A196EF9-562D-4CCC-1506-76705720ECC9}"/>
              </a:ext>
            </a:extLst>
          </p:cNvPr>
          <p:cNvPicPr>
            <a:picLocks noChangeAspect="1"/>
          </p:cNvPicPr>
          <p:nvPr/>
        </p:nvPicPr>
        <p:blipFill>
          <a:blip r:embed="rId2"/>
          <a:stretch>
            <a:fillRect/>
          </a:stretch>
        </p:blipFill>
        <p:spPr>
          <a:xfrm>
            <a:off x="659895" y="3879708"/>
            <a:ext cx="9202434" cy="2819794"/>
          </a:xfrm>
          <a:prstGeom prst="rect">
            <a:avLst/>
          </a:prstGeom>
        </p:spPr>
      </p:pic>
    </p:spTree>
    <p:extLst>
      <p:ext uri="{BB962C8B-B14F-4D97-AF65-F5344CB8AC3E}">
        <p14:creationId xmlns:p14="http://schemas.microsoft.com/office/powerpoint/2010/main" val="89283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CFF50F-D18B-7B84-9BFB-8171DC36F8AC}"/>
              </a:ext>
            </a:extLst>
          </p:cNvPr>
          <p:cNvSpPr>
            <a:spLocks noGrp="1"/>
          </p:cNvSpPr>
          <p:nvPr>
            <p:ph type="title"/>
          </p:nvPr>
        </p:nvSpPr>
        <p:spPr/>
        <p:txBody>
          <a:bodyPr/>
          <a:lstStyle/>
          <a:p>
            <a:r>
              <a:rPr lang="he-IL" dirty="0"/>
              <a:t>עשרת בני רב </a:t>
            </a:r>
            <a:r>
              <a:rPr lang="he-IL" dirty="0" err="1"/>
              <a:t>פפא</a:t>
            </a:r>
            <a:endParaRPr lang="he-IL" dirty="0"/>
          </a:p>
        </p:txBody>
      </p:sp>
      <p:sp>
        <p:nvSpPr>
          <p:cNvPr id="3" name="מציין מיקום תוכן 2">
            <a:extLst>
              <a:ext uri="{FF2B5EF4-FFF2-40B4-BE49-F238E27FC236}">
                <a16:creationId xmlns:a16="http://schemas.microsoft.com/office/drawing/2014/main" id="{6B74F2FC-B69F-24CD-FD2C-746773513869}"/>
              </a:ext>
            </a:extLst>
          </p:cNvPr>
          <p:cNvSpPr>
            <a:spLocks noGrp="1"/>
          </p:cNvSpPr>
          <p:nvPr>
            <p:ph idx="1"/>
          </p:nvPr>
        </p:nvSpPr>
        <p:spPr/>
        <p:txBody>
          <a:bodyPr/>
          <a:lstStyle/>
          <a:p>
            <a:r>
              <a:rPr lang="he-IL" b="0" i="0" dirty="0" err="1">
                <a:solidFill>
                  <a:srgbClr val="02004F"/>
                </a:solidFill>
                <a:effectLst/>
                <a:latin typeface="Arial" panose="020B0604020202020204" pitchFamily="34" charset="0"/>
              </a:rPr>
              <a:t>איזכור</a:t>
            </a:r>
            <a:r>
              <a:rPr lang="he-IL" b="0" i="0" dirty="0">
                <a:solidFill>
                  <a:srgbClr val="02004F"/>
                </a:solidFill>
                <a:effectLst/>
                <a:latin typeface="Arial" panose="020B0604020202020204" pitchFamily="34" charset="0"/>
              </a:rPr>
              <a:t> עשרת בני רב </a:t>
            </a:r>
            <a:r>
              <a:rPr lang="he-IL" b="0" i="0" dirty="0" err="1">
                <a:solidFill>
                  <a:srgbClr val="02004F"/>
                </a:solidFill>
                <a:effectLst/>
                <a:latin typeface="Arial" panose="020B0604020202020204" pitchFamily="34" charset="0"/>
              </a:rPr>
              <a:t>פפא</a:t>
            </a:r>
            <a:r>
              <a:rPr lang="he-IL" b="0" i="0" dirty="0">
                <a:solidFill>
                  <a:srgbClr val="02004F"/>
                </a:solidFill>
                <a:effectLst/>
                <a:latin typeface="Arial" panose="020B0604020202020204" pitchFamily="34" charset="0"/>
              </a:rPr>
              <a:t> בסיום מסכת, הוא מנהג קדמון, עוד מימי הגאונים, </a:t>
            </a:r>
          </a:p>
          <a:p>
            <a:r>
              <a:rPr lang="he-IL" b="0" i="0" dirty="0" err="1">
                <a:solidFill>
                  <a:srgbClr val="02004F"/>
                </a:solidFill>
                <a:effectLst/>
                <a:latin typeface="Arial" panose="020B0604020202020204" pitchFamily="34" charset="0"/>
              </a:rPr>
              <a:t>הרמ"א</a:t>
            </a:r>
            <a:r>
              <a:rPr lang="he-IL" b="0" i="0" dirty="0">
                <a:solidFill>
                  <a:srgbClr val="02004F"/>
                </a:solidFill>
                <a:effectLst/>
                <a:latin typeface="Arial" panose="020B0604020202020204" pitchFamily="34" charset="0"/>
              </a:rPr>
              <a:t> כותב באחת מתשובותיו, לדעתו מה שנוהגים להזכיר בסיום מסכת את עשרת בני רב </a:t>
            </a:r>
            <a:r>
              <a:rPr lang="he-IL" b="0" i="0" dirty="0" err="1">
                <a:solidFill>
                  <a:srgbClr val="02004F"/>
                </a:solidFill>
                <a:effectLst/>
                <a:latin typeface="Arial" panose="020B0604020202020204" pitchFamily="34" charset="0"/>
              </a:rPr>
              <a:t>פפא</a:t>
            </a:r>
            <a:r>
              <a:rPr lang="he-IL" b="0" i="0" dirty="0">
                <a:solidFill>
                  <a:srgbClr val="02004F"/>
                </a:solidFill>
                <a:effectLst/>
                <a:latin typeface="Arial" panose="020B0604020202020204" pitchFamily="34" charset="0"/>
              </a:rPr>
              <a:t>, מפני שכל בניו היו "מאירים וגדולים בתורה" ורב </a:t>
            </a:r>
            <a:r>
              <a:rPr lang="he-IL" b="0" i="0" dirty="0" err="1">
                <a:solidFill>
                  <a:srgbClr val="02004F"/>
                </a:solidFill>
                <a:effectLst/>
                <a:latin typeface="Arial" panose="020B0604020202020204" pitchFamily="34" charset="0"/>
              </a:rPr>
              <a:t>פפא</a:t>
            </a:r>
            <a:r>
              <a:rPr lang="he-IL" b="0" i="0" dirty="0">
                <a:solidFill>
                  <a:srgbClr val="02004F"/>
                </a:solidFill>
                <a:effectLst/>
                <a:latin typeface="Arial" panose="020B0604020202020204" pitchFamily="34" charset="0"/>
              </a:rPr>
              <a:t> שהיה עשיר גדול ומחזיק לומדי תורה, היה עורך סעודה לבניו בכל סיום מסכת, לכן זכה שמזכירים אותו ואת בניו</a:t>
            </a:r>
          </a:p>
          <a:p>
            <a:r>
              <a:rPr lang="he-IL" b="0" dirty="0">
                <a:solidFill>
                  <a:srgbClr val="02004F"/>
                </a:solidFill>
                <a:latin typeface="Arial" panose="020B0604020202020204" pitchFamily="34" charset="0"/>
              </a:rPr>
              <a:t>ואולי רצו לומר שבזכות שהיה עושה סיום מסכת גדול זכה לבנים מאירים בתורה</a:t>
            </a:r>
            <a:r>
              <a:rPr lang="he-IL" b="0" i="0" dirty="0">
                <a:solidFill>
                  <a:srgbClr val="02004F"/>
                </a:solidFill>
                <a:effectLst/>
                <a:latin typeface="Arial" panose="020B0604020202020204" pitchFamily="34" charset="0"/>
              </a:rPr>
              <a:t>.</a:t>
            </a:r>
          </a:p>
          <a:p>
            <a:r>
              <a:rPr lang="he-IL" b="0" dirty="0">
                <a:solidFill>
                  <a:srgbClr val="02004F"/>
                </a:solidFill>
                <a:latin typeface="Arial" panose="020B0604020202020204" pitchFamily="34" charset="0"/>
              </a:rPr>
              <a:t>זה גרם לה </a:t>
            </a:r>
            <a:r>
              <a:rPr lang="he-IL" b="0" dirty="0" err="1">
                <a:solidFill>
                  <a:srgbClr val="02004F"/>
                </a:solidFill>
                <a:latin typeface="Arial" panose="020B0604020202020204" pitchFamily="34" charset="0"/>
              </a:rPr>
              <a:t>התנייה</a:t>
            </a:r>
            <a:r>
              <a:rPr lang="he-IL" b="0" dirty="0">
                <a:solidFill>
                  <a:srgbClr val="02004F"/>
                </a:solidFill>
                <a:latin typeface="Arial" panose="020B0604020202020204" pitchFamily="34" charset="0"/>
              </a:rPr>
              <a:t> חיובית  - להרגיש כמה זה יקר. </a:t>
            </a:r>
            <a:endParaRPr lang="he-IL" dirty="0"/>
          </a:p>
        </p:txBody>
      </p:sp>
      <p:sp>
        <p:nvSpPr>
          <p:cNvPr id="4" name="מציין מיקום של מספר שקופית 3">
            <a:extLst>
              <a:ext uri="{FF2B5EF4-FFF2-40B4-BE49-F238E27FC236}">
                <a16:creationId xmlns:a16="http://schemas.microsoft.com/office/drawing/2014/main" id="{100AF1F0-D056-7114-D771-F5E2A434D884}"/>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283797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a:extLst>
              <a:ext uri="{FF2B5EF4-FFF2-40B4-BE49-F238E27FC236}">
                <a16:creationId xmlns:a16="http://schemas.microsoft.com/office/drawing/2014/main" id="{574843EB-C00A-CC79-8A03-36D05EB5F595}"/>
              </a:ext>
            </a:extLst>
          </p:cNvPr>
          <p:cNvSpPr>
            <a:spLocks noGrp="1"/>
          </p:cNvSpPr>
          <p:nvPr>
            <p:ph type="title"/>
          </p:nvPr>
        </p:nvSpPr>
        <p:spPr/>
        <p:txBody>
          <a:bodyPr/>
          <a:lstStyle/>
          <a:p>
            <a:endParaRPr lang="he-IL"/>
          </a:p>
        </p:txBody>
      </p:sp>
      <p:sp>
        <p:nvSpPr>
          <p:cNvPr id="4" name="מציין מיקום תוכן 3">
            <a:extLst>
              <a:ext uri="{FF2B5EF4-FFF2-40B4-BE49-F238E27FC236}">
                <a16:creationId xmlns:a16="http://schemas.microsoft.com/office/drawing/2014/main" id="{3441AB57-47B6-6E4E-8753-F391C3FB4FAC}"/>
              </a:ext>
            </a:extLst>
          </p:cNvPr>
          <p:cNvSpPr>
            <a:spLocks noGrp="1"/>
          </p:cNvSpPr>
          <p:nvPr>
            <p:ph idx="1"/>
          </p:nvPr>
        </p:nvSpPr>
        <p:spPr/>
        <p:txBody>
          <a:bodyPr/>
          <a:lstStyle/>
          <a:p>
            <a:r>
              <a:rPr lang="he-IL" dirty="0"/>
              <a:t>הכלבים של פבלוב נלחמים בגרמנים בברית המועצות</a:t>
            </a:r>
          </a:p>
          <a:p>
            <a:r>
              <a:rPr lang="he-IL" dirty="0"/>
              <a:t>במלחמת העולם השנייה השתמשו הרוסים - בני עמו - בתגלית של פבלוב: הם אילפו אלפי כלבים; והרגילו אותם לאכול תחת טנקים. כך למדו הכלבים לקשר בין טנקים למזון. בזמן הקרבות הרעיבו כלבים, העמיסו עליהם חומרי נפץ; ושחררו אותם לקראת הטנקים הגרמנים.  לפי הנתונים הסובייטיים נהרגו בצורה הזו עשרות אלפי כלבים (!) והושמדו כשלוש מאות טנקי אויב...".</a:t>
            </a:r>
          </a:p>
        </p:txBody>
      </p:sp>
      <p:sp>
        <p:nvSpPr>
          <p:cNvPr id="2" name="מציין מיקום של מספר שקופית 1">
            <a:extLst>
              <a:ext uri="{FF2B5EF4-FFF2-40B4-BE49-F238E27FC236}">
                <a16:creationId xmlns:a16="http://schemas.microsoft.com/office/drawing/2014/main" id="{D8F8470D-C948-7ACE-0403-B1617972B5EF}"/>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8194" name="Picture 2">
            <a:extLst>
              <a:ext uri="{FF2B5EF4-FFF2-40B4-BE49-F238E27FC236}">
                <a16:creationId xmlns:a16="http://schemas.microsoft.com/office/drawing/2014/main" id="{F1C2ED7F-571D-D642-2F27-49831FDB1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9454" y="3209345"/>
            <a:ext cx="4572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416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155282-0793-91AF-DF52-A0199B3A8C2D}"/>
              </a:ext>
            </a:extLst>
          </p:cNvPr>
          <p:cNvSpPr>
            <a:spLocks noGrp="1"/>
          </p:cNvSpPr>
          <p:nvPr>
            <p:ph type="title"/>
          </p:nvPr>
        </p:nvSpPr>
        <p:spPr/>
        <p:txBody>
          <a:bodyPr/>
          <a:lstStyle/>
          <a:p>
            <a:r>
              <a:rPr lang="he-IL" dirty="0"/>
              <a:t>התניה אופרנטית</a:t>
            </a:r>
          </a:p>
        </p:txBody>
      </p:sp>
      <p:pic>
        <p:nvPicPr>
          <p:cNvPr id="6" name="מציין מיקום תוכן 5">
            <a:extLst>
              <a:ext uri="{FF2B5EF4-FFF2-40B4-BE49-F238E27FC236}">
                <a16:creationId xmlns:a16="http://schemas.microsoft.com/office/drawing/2014/main" id="{681F3E4B-ACCF-DBE7-29FD-5A4390A60C76}"/>
              </a:ext>
            </a:extLst>
          </p:cNvPr>
          <p:cNvPicPr>
            <a:picLocks noGrp="1" noChangeAspect="1"/>
          </p:cNvPicPr>
          <p:nvPr>
            <p:ph idx="1"/>
          </p:nvPr>
        </p:nvPicPr>
        <p:blipFill>
          <a:blip r:embed="rId2"/>
          <a:stretch>
            <a:fillRect/>
          </a:stretch>
        </p:blipFill>
        <p:spPr>
          <a:xfrm>
            <a:off x="149212" y="1263609"/>
            <a:ext cx="10131425" cy="4461136"/>
          </a:xfrm>
        </p:spPr>
      </p:pic>
      <p:sp>
        <p:nvSpPr>
          <p:cNvPr id="4" name="מציין מיקום של מספר שקופית 3">
            <a:extLst>
              <a:ext uri="{FF2B5EF4-FFF2-40B4-BE49-F238E27FC236}">
                <a16:creationId xmlns:a16="http://schemas.microsoft.com/office/drawing/2014/main" id="{E2A63A6A-719B-3F2D-DA11-D20289C105F5}"/>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387710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ציין מיקום של מספר שקופית 3">
            <a:extLst>
              <a:ext uri="{FF2B5EF4-FFF2-40B4-BE49-F238E27FC236}">
                <a16:creationId xmlns:a16="http://schemas.microsoft.com/office/drawing/2014/main" id="{84BEC2BC-C177-FE5C-9789-25A94C03299B}"/>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5" name="An example of a Skinner Box">
            <a:hlinkClick r:id="" action="ppaction://media"/>
            <a:extLst>
              <a:ext uri="{FF2B5EF4-FFF2-40B4-BE49-F238E27FC236}">
                <a16:creationId xmlns:a16="http://schemas.microsoft.com/office/drawing/2014/main" id="{38C989E3-316D-2716-CD10-99C9855DE39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431610" y="758115"/>
            <a:ext cx="6400800" cy="5182546"/>
          </a:xfrm>
          <a:prstGeom prst="rect">
            <a:avLst/>
          </a:prstGeom>
        </p:spPr>
      </p:pic>
    </p:spTree>
    <p:extLst>
      <p:ext uri="{BB962C8B-B14F-4D97-AF65-F5344CB8AC3E}">
        <p14:creationId xmlns:p14="http://schemas.microsoft.com/office/powerpoint/2010/main" val="147055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61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4E9C70-9E4B-351B-D6B2-72EE62CD50D5}"/>
              </a:ext>
            </a:extLst>
          </p:cNvPr>
          <p:cNvSpPr>
            <a:spLocks noGrp="1"/>
          </p:cNvSpPr>
          <p:nvPr>
            <p:ph type="title"/>
          </p:nvPr>
        </p:nvSpPr>
        <p:spPr/>
        <p:txBody>
          <a:bodyPr/>
          <a:lstStyle/>
          <a:p>
            <a:r>
              <a:rPr lang="he-IL" dirty="0"/>
              <a:t>כוחה של התניה</a:t>
            </a:r>
          </a:p>
        </p:txBody>
      </p:sp>
      <p:sp>
        <p:nvSpPr>
          <p:cNvPr id="3" name="מציין מיקום תוכן 2">
            <a:extLst>
              <a:ext uri="{FF2B5EF4-FFF2-40B4-BE49-F238E27FC236}">
                <a16:creationId xmlns:a16="http://schemas.microsoft.com/office/drawing/2014/main" id="{366F7F2B-3D02-13F0-5BD8-AB011F636ECF}"/>
              </a:ext>
            </a:extLst>
          </p:cNvPr>
          <p:cNvSpPr>
            <a:spLocks noGrp="1"/>
          </p:cNvSpPr>
          <p:nvPr>
            <p:ph idx="1"/>
          </p:nvPr>
        </p:nvSpPr>
        <p:spPr/>
        <p:txBody>
          <a:bodyPr>
            <a:normAutofit fontScale="85000" lnSpcReduction="10000"/>
          </a:bodyPr>
          <a:lstStyle/>
          <a:p>
            <a:endParaRPr lang="he-IL" dirty="0"/>
          </a:p>
          <a:p>
            <a:r>
              <a:rPr lang="he-IL" dirty="0"/>
              <a:t>בחור בבני ברק, למרבה הצער, עזב את היהדות ועבר לגור יחד עם בן דודו החילוני. למרבה הצער, העניינים הידרדרו והוא התארס עם בחורה לא </a:t>
            </a:r>
            <a:r>
              <a:rPr lang="he-IL" dirty="0" err="1"/>
              <a:t>יהודיה</a:t>
            </a:r>
            <a:r>
              <a:rPr lang="he-IL" dirty="0"/>
              <a:t>. בן דודו החילוני כעס ומאד הוטרד מהעניין אבל לא הצליח לשכנע אותו לבטל את האירוסין. בכל זאת, הוא הצליח לשכנע אותו </a:t>
            </a:r>
            <a:r>
              <a:rPr lang="he-IL" dirty="0" err="1"/>
              <a:t>שמכיון</a:t>
            </a:r>
            <a:r>
              <a:rPr lang="he-IL" dirty="0"/>
              <a:t> שהוא עכשיו מתנתק מהעם היהודי וממשפחתו, לפחות שילך איתה, ויגיד להוריו בשיחה פנים מול פנים מה התוכניות שלו. הבחור השתכנע והזמין את עצמו לשבת אצל הוריו לפי "התנאים שלו". הוא בילה את ליל השבת בעישון על המרפסת, וביום השבת שוב בילה על המרפסת עם </a:t>
            </a:r>
            <a:r>
              <a:rPr lang="he-IL" dirty="0" err="1"/>
              <a:t>האייפון</a:t>
            </a:r>
            <a:r>
              <a:rPr lang="he-IL" dirty="0"/>
              <a:t> שלו.</a:t>
            </a:r>
          </a:p>
          <a:p>
            <a:r>
              <a:rPr lang="he-IL" dirty="0"/>
              <a:t>בשבת בצהריים אביו ניגש אליו והזמין אותו להצטרף לשיעור שהוא הולך אליו, אותו ימסור הרב אהרון לייב שטיינמן זצ"ל.</a:t>
            </a:r>
          </a:p>
          <a:p>
            <a:r>
              <a:rPr lang="he-IL" dirty="0"/>
              <a:t>בצעד מפתיע, הבחור הסכים. אחרי השיעור הביא אותו אביו לרב שטיינמן להגיד שבת שלום, והודיע לגדול הדור שלמרבה הצער בנו אינו שומר שבת. הרב שטיינמן הביט בו ושאל, "כמה זמן אינך שומר שבת?". הבחור ענה, "שנתיים". "ובמשך הזמן הזה היה לך הרהור תשובה?" "כן, בערך ארבע פעמים". "ולמשך כמה זמן הרהרת בתשובה בכל אחת הפעמים?" "בערך 10 דקות". "אה, אז יוצא שלמשך 40 דקות במשך השנתיים האחרונות היית במצב של 'במקום שבעלי תשובה עומדים אין צדיקים גמורים יכולים לעמוד', ועל כך אני מקנא בך. שבת שלום". הבחור הלך הביתה וחזר לדירה של בן דודו. המילים של הרב שטיינמן לא נתנו לו מנוח. הוא ביטל את האירוסין, ומשם העניינים התגלגלו, עד שכיום הוא ב"ה שומר תורה ומצוות.</a:t>
            </a:r>
          </a:p>
          <a:p>
            <a:r>
              <a:rPr lang="he-IL" dirty="0"/>
              <a:t>שאלו אותו מה גרם לו ללכת לשיעור. הנה הוא מעשן ומשחק </a:t>
            </a:r>
            <a:r>
              <a:rPr lang="he-IL" dirty="0" err="1"/>
              <a:t>באייפון</a:t>
            </a:r>
            <a:r>
              <a:rPr lang="he-IL" dirty="0"/>
              <a:t> בשבת ר"ל והוא הלך לשיעור? הוא השיב שכשהיה בכיתה ד' </a:t>
            </a:r>
            <a:r>
              <a:rPr lang="he-IL" dirty="0" err="1"/>
              <a:t>בחיידר</a:t>
            </a:r>
            <a:r>
              <a:rPr lang="he-IL" dirty="0"/>
              <a:t>, הכיתה שלו הלכה להיבחן אצל הרב אהרון לייב שטיינמן. המלמד ביקש שהילדים יקבלו שאלות קלות, ואכן הרב שטיינמן שאל שאלות שכל ילד ידע. כל ילד, כשענה את תשובתו, קיבל סוכריה מהרב אהרון לייב. כשהגיע תורו של ילד זה הוא לא ידע את התשובה. הרב אהרון לייב שאל אותו שאלה קלה יותר. שוב לא ידע הילד לענות. משכך, גדול הדור שאל שאלה עוד יותר קלה ושוב לא ידע הילד. כשהסתיימה הבחינה, לכולם </a:t>
            </a:r>
            <a:r>
              <a:rPr lang="he-IL" dirty="0" err="1"/>
              <a:t>היתה</a:t>
            </a:r>
            <a:r>
              <a:rPr lang="he-IL" dirty="0"/>
              <a:t> סוכריה חוץ מהילד הזה. תוך שהילדים יצאו מהחדר ביראת כבוד, הרב אהרון לייב סימן לילד לגשת אליו. הוא אמר לו - "בתורה וביידישקייט אנחנו מקבלים שכר לפי המאמץ, לא לפי התוצאות. כל הילדים התאמצו לענות על שאלה אחת, ולכן הם קבלו סוכריה אחת. אבל אתה התאמצת ב-3 שאלות, ולכן אתה תקבל 3 סוכריות." ובחיוך, הושיט לילד 3 סוכריות...!</a:t>
            </a:r>
          </a:p>
          <a:p>
            <a:r>
              <a:rPr lang="he-IL" dirty="0"/>
              <a:t>אין שום הסבר הגיוני מדוע הבחור הסכים ללכת לשיעור של הרב שטיינמן - רק התניה חיובית</a:t>
            </a:r>
          </a:p>
          <a:p>
            <a:endParaRPr lang="he-IL" dirty="0"/>
          </a:p>
          <a:p>
            <a:endParaRPr lang="he-IL" dirty="0"/>
          </a:p>
        </p:txBody>
      </p:sp>
      <p:sp>
        <p:nvSpPr>
          <p:cNvPr id="4" name="מציין מיקום של מספר שקופית 3">
            <a:extLst>
              <a:ext uri="{FF2B5EF4-FFF2-40B4-BE49-F238E27FC236}">
                <a16:creationId xmlns:a16="http://schemas.microsoft.com/office/drawing/2014/main" id="{2E2F7EBF-A0B1-53A6-3471-4FE1A5110C79}"/>
              </a:ext>
            </a:extLst>
          </p:cNvPr>
          <p:cNvSpPr>
            <a:spLocks noGrp="1"/>
          </p:cNvSpPr>
          <p:nvPr>
            <p:ph type="sldNum" sz="quarter" idx="12"/>
          </p:nvPr>
        </p:nvSpPr>
        <p:spPr/>
        <p:txBody>
          <a:bodyPr/>
          <a:lstStyle/>
          <a:p>
            <a:fld id="{519954A3-9DFD-4C44-94BA-B95130A3BA1C}" type="slidenum">
              <a:rPr lang="en-US" smtClean="0"/>
              <a:t>13</a:t>
            </a:fld>
            <a:endParaRPr lang="en-US" dirty="0"/>
          </a:p>
        </p:txBody>
      </p:sp>
    </p:spTree>
    <p:extLst>
      <p:ext uri="{BB962C8B-B14F-4D97-AF65-F5344CB8AC3E}">
        <p14:creationId xmlns:p14="http://schemas.microsoft.com/office/powerpoint/2010/main" val="3879311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מספר שקופית 1">
            <a:extLst>
              <a:ext uri="{FF2B5EF4-FFF2-40B4-BE49-F238E27FC236}">
                <a16:creationId xmlns:a16="http://schemas.microsoft.com/office/drawing/2014/main" id="{B0E759E2-C70C-5470-E832-CA9E7531EF66}"/>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6" name="תמונה 5">
            <a:extLst>
              <a:ext uri="{FF2B5EF4-FFF2-40B4-BE49-F238E27FC236}">
                <a16:creationId xmlns:a16="http://schemas.microsoft.com/office/drawing/2014/main" id="{430C9BEF-6B16-BE56-9B80-1BBF47F11506}"/>
              </a:ext>
            </a:extLst>
          </p:cNvPr>
          <p:cNvPicPr>
            <a:picLocks noChangeAspect="1"/>
          </p:cNvPicPr>
          <p:nvPr/>
        </p:nvPicPr>
        <p:blipFill>
          <a:blip r:embed="rId2"/>
          <a:stretch>
            <a:fillRect/>
          </a:stretch>
        </p:blipFill>
        <p:spPr>
          <a:xfrm>
            <a:off x="1619019" y="94668"/>
            <a:ext cx="8134581" cy="6693888"/>
          </a:xfrm>
          <a:prstGeom prst="rect">
            <a:avLst/>
          </a:prstGeom>
        </p:spPr>
      </p:pic>
    </p:spTree>
    <p:extLst>
      <p:ext uri="{BB962C8B-B14F-4D97-AF65-F5344CB8AC3E}">
        <p14:creationId xmlns:p14="http://schemas.microsoft.com/office/powerpoint/2010/main" val="1535559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a:extLst>
              <a:ext uri="{FF2B5EF4-FFF2-40B4-BE49-F238E27FC236}">
                <a16:creationId xmlns:a16="http://schemas.microsoft.com/office/drawing/2014/main" id="{519EDADD-D03C-DF11-BB1A-C570462EE498}"/>
              </a:ext>
            </a:extLst>
          </p:cNvPr>
          <p:cNvSpPr>
            <a:spLocks noGrp="1"/>
          </p:cNvSpPr>
          <p:nvPr>
            <p:ph type="title"/>
          </p:nvPr>
        </p:nvSpPr>
        <p:spPr/>
        <p:txBody>
          <a:bodyPr/>
          <a:lstStyle/>
          <a:p>
            <a:r>
              <a:rPr lang="he-IL" dirty="0"/>
              <a:t>שיר שהופך את הגשם לברכה</a:t>
            </a:r>
          </a:p>
        </p:txBody>
      </p:sp>
      <p:sp>
        <p:nvSpPr>
          <p:cNvPr id="4" name="מציין מיקום תוכן 3">
            <a:extLst>
              <a:ext uri="{FF2B5EF4-FFF2-40B4-BE49-F238E27FC236}">
                <a16:creationId xmlns:a16="http://schemas.microsoft.com/office/drawing/2014/main" id="{CD9AC1F0-5964-B49D-8F82-C3B6C2297A8A}"/>
              </a:ext>
            </a:extLst>
          </p:cNvPr>
          <p:cNvSpPr>
            <a:spLocks noGrp="1"/>
          </p:cNvSpPr>
          <p:nvPr>
            <p:ph idx="1"/>
          </p:nvPr>
        </p:nvSpPr>
        <p:spPr/>
        <p:txBody>
          <a:bodyPr/>
          <a:lstStyle/>
          <a:p>
            <a:r>
              <a:rPr lang="he-IL" b="0" i="0" dirty="0">
                <a:solidFill>
                  <a:srgbClr val="141414"/>
                </a:solidFill>
                <a:effectLst/>
                <a:latin typeface="Heebo" pitchFamily="2" charset="-79"/>
                <a:cs typeface="Heebo" pitchFamily="2" charset="-79"/>
              </a:rPr>
              <a:t>משיב הרוח ומוריד הגשם ותן טל ומטר לברכה</a:t>
            </a:r>
            <a:br>
              <a:rPr lang="he-IL" dirty="0"/>
            </a:br>
            <a:r>
              <a:rPr lang="he-IL" b="0" i="0" dirty="0">
                <a:solidFill>
                  <a:srgbClr val="141414"/>
                </a:solidFill>
                <a:effectLst/>
                <a:latin typeface="Heebo" pitchFamily="2" charset="-79"/>
                <a:cs typeface="Heebo" pitchFamily="2" charset="-79"/>
              </a:rPr>
              <a:t>הרבה עננים בשמים אולי ירד גשם היום בצהרים</a:t>
            </a:r>
            <a:br>
              <a:rPr lang="he-IL" dirty="0"/>
            </a:br>
            <a:r>
              <a:rPr lang="he-IL" b="0" i="0" dirty="0">
                <a:solidFill>
                  <a:srgbClr val="141414"/>
                </a:solidFill>
                <a:effectLst/>
                <a:latin typeface="Heebo" pitchFamily="2" charset="-79"/>
                <a:cs typeface="Heebo" pitchFamily="2" charset="-79"/>
              </a:rPr>
              <a:t>משיב הרוח ומוריד הגשם ותן טל ומטר </a:t>
            </a:r>
            <a:r>
              <a:rPr lang="he-IL" b="0" i="0" dirty="0" err="1">
                <a:solidFill>
                  <a:srgbClr val="141414"/>
                </a:solidFill>
                <a:effectLst/>
                <a:latin typeface="Heebo" pitchFamily="2" charset="-79"/>
                <a:cs typeface="Heebo" pitchFamily="2" charset="-79"/>
              </a:rPr>
              <a:t>לברכב</a:t>
            </a:r>
            <a:br>
              <a:rPr lang="he-IL" dirty="0"/>
            </a:br>
            <a:br>
              <a:rPr lang="he-IL" dirty="0"/>
            </a:br>
            <a:r>
              <a:rPr lang="he-IL" b="0" i="0" dirty="0">
                <a:solidFill>
                  <a:srgbClr val="141414"/>
                </a:solidFill>
                <a:effectLst/>
                <a:latin typeface="Heebo" pitchFamily="2" charset="-79"/>
                <a:cs typeface="Heebo" pitchFamily="2" charset="-79"/>
              </a:rPr>
              <a:t>הרבה עננים בשמים, אולי ירד גשם אז נשחק בבית.</a:t>
            </a:r>
            <a:br>
              <a:rPr lang="he-IL" dirty="0"/>
            </a:br>
            <a:r>
              <a:rPr lang="he-IL" b="0" i="0" dirty="0">
                <a:solidFill>
                  <a:srgbClr val="141414"/>
                </a:solidFill>
                <a:effectLst/>
                <a:latin typeface="Heebo" pitchFamily="2" charset="-79"/>
                <a:cs typeface="Heebo" pitchFamily="2" charset="-79"/>
              </a:rPr>
              <a:t>משיב הרוח ומוריד הגשם ותן טל ומטר לברכה</a:t>
            </a:r>
            <a:br>
              <a:rPr lang="he-IL" dirty="0"/>
            </a:br>
            <a:br>
              <a:rPr lang="he-IL" dirty="0"/>
            </a:br>
            <a:r>
              <a:rPr lang="he-IL" b="0" i="0" dirty="0">
                <a:solidFill>
                  <a:srgbClr val="141414"/>
                </a:solidFill>
                <a:effectLst/>
                <a:latin typeface="Heebo" pitchFamily="2" charset="-79"/>
                <a:cs typeface="Heebo" pitchFamily="2" charset="-79"/>
              </a:rPr>
              <a:t>כובע על הראש כפפות על הידיים, מעיל ואפודה לא לשכוח מגפיים</a:t>
            </a:r>
            <a:br>
              <a:rPr lang="he-IL" dirty="0"/>
            </a:br>
            <a:r>
              <a:rPr lang="he-IL" b="0" i="0" dirty="0">
                <a:solidFill>
                  <a:srgbClr val="141414"/>
                </a:solidFill>
                <a:effectLst/>
                <a:latin typeface="Heebo" pitchFamily="2" charset="-79"/>
                <a:cs typeface="Heebo" pitchFamily="2" charset="-79"/>
              </a:rPr>
              <a:t>עכשיו הכינרת מלאה מים</a:t>
            </a:r>
            <a:br>
              <a:rPr lang="he-IL" dirty="0"/>
            </a:br>
            <a:r>
              <a:rPr lang="he-IL" b="0" i="0" dirty="0">
                <a:solidFill>
                  <a:srgbClr val="141414"/>
                </a:solidFill>
                <a:effectLst/>
                <a:latin typeface="Heebo" pitchFamily="2" charset="-79"/>
                <a:cs typeface="Heebo" pitchFamily="2" charset="-79"/>
              </a:rPr>
              <a:t>גשמי ברכה לה' תודה</a:t>
            </a:r>
            <a:endParaRPr lang="he-IL" dirty="0"/>
          </a:p>
        </p:txBody>
      </p:sp>
      <p:sp>
        <p:nvSpPr>
          <p:cNvPr id="2" name="מציין מיקום של מספר שקופית 1">
            <a:extLst>
              <a:ext uri="{FF2B5EF4-FFF2-40B4-BE49-F238E27FC236}">
                <a16:creationId xmlns:a16="http://schemas.microsoft.com/office/drawing/2014/main" id="{FF08B792-5910-FA6C-EDBA-5412314491F9}"/>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5" name="rabialtermashivharuach">
            <a:hlinkClick r:id="" action="ppaction://media"/>
            <a:extLst>
              <a:ext uri="{FF2B5EF4-FFF2-40B4-BE49-F238E27FC236}">
                <a16:creationId xmlns:a16="http://schemas.microsoft.com/office/drawing/2014/main" id="{7926A79C-43F4-8BC0-1754-90DAB06B2E8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2144498" y="1429866"/>
            <a:ext cx="487363" cy="487363"/>
          </a:xfrm>
          <a:prstGeom prst="rect">
            <a:avLst/>
          </a:prstGeom>
        </p:spPr>
      </p:pic>
    </p:spTree>
    <p:extLst>
      <p:ext uri="{BB962C8B-B14F-4D97-AF65-F5344CB8AC3E}">
        <p14:creationId xmlns:p14="http://schemas.microsoft.com/office/powerpoint/2010/main" val="285324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479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0125-5E65-3E1A-054A-8EAF7D772894}"/>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A1D01E52-DFA8-91AF-17B1-D071D6B4D9B0}"/>
              </a:ext>
            </a:extLst>
          </p:cNvPr>
          <p:cNvSpPr>
            <a:spLocks noGrp="1"/>
          </p:cNvSpPr>
          <p:nvPr>
            <p:ph type="title"/>
          </p:nvPr>
        </p:nvSpPr>
        <p:spPr>
          <a:xfrm>
            <a:off x="1745673" y="214685"/>
            <a:ext cx="9758939" cy="1690315"/>
          </a:xfrm>
        </p:spPr>
        <p:txBody>
          <a:bodyPr>
            <a:normAutofit/>
          </a:bodyPr>
          <a:lstStyle/>
          <a:p>
            <a:pPr algn="ctr"/>
            <a:r>
              <a:rPr lang="he-IL" sz="4800" b="1" dirty="0"/>
              <a:t>אַסוֹצִיאַצְיָה</a:t>
            </a:r>
            <a:endParaRPr lang="he-IL" sz="8800" b="1" dirty="0"/>
          </a:p>
        </p:txBody>
      </p:sp>
      <p:sp>
        <p:nvSpPr>
          <p:cNvPr id="3" name="מציין מיקום תוכן 2">
            <a:extLst>
              <a:ext uri="{FF2B5EF4-FFF2-40B4-BE49-F238E27FC236}">
                <a16:creationId xmlns:a16="http://schemas.microsoft.com/office/drawing/2014/main" id="{A542CCAA-A30C-3D1C-B478-B6E4A06BFF09}"/>
              </a:ext>
            </a:extLst>
          </p:cNvPr>
          <p:cNvSpPr>
            <a:spLocks noGrp="1"/>
          </p:cNvSpPr>
          <p:nvPr>
            <p:ph idx="1"/>
          </p:nvPr>
        </p:nvSpPr>
        <p:spPr>
          <a:xfrm>
            <a:off x="955343" y="1741336"/>
            <a:ext cx="10549269" cy="5000657"/>
          </a:xfrm>
        </p:spPr>
        <p:txBody>
          <a:bodyPr>
            <a:normAutofit/>
          </a:bodyPr>
          <a:lstStyle/>
          <a:p>
            <a:pPr marL="457200" algn="just" rtl="1">
              <a:lnSpc>
                <a:spcPct val="150000"/>
              </a:lnSpc>
              <a:spcBef>
                <a:spcPts val="1200"/>
              </a:spcBef>
              <a:spcAft>
                <a:spcPts val="300"/>
              </a:spcAft>
              <a:tabLst>
                <a:tab pos="147320" algn="l"/>
              </a:tabLst>
            </a:pPr>
            <a:r>
              <a:rPr lang="he-IL" dirty="0">
                <a:latin typeface="Calibri" panose="020F0502020204030204" pitchFamily="34" charset="0"/>
                <a:ea typeface="Calibri" panose="020F0502020204030204" pitchFamily="34" charset="0"/>
                <a:cs typeface="Arial" panose="020B0604020202020204" pitchFamily="34" charset="0"/>
              </a:rPr>
              <a:t>הסבר מלא למילה אָסוֹצְיַאצְיָה  </a:t>
            </a:r>
          </a:p>
          <a:p>
            <a:pPr marL="457200" algn="just" rtl="1">
              <a:lnSpc>
                <a:spcPct val="150000"/>
              </a:lnSpc>
              <a:spcBef>
                <a:spcPts val="1200"/>
              </a:spcBef>
              <a:spcAft>
                <a:spcPts val="300"/>
              </a:spcAft>
              <a:tabLst>
                <a:tab pos="147320" algn="l"/>
              </a:tabLst>
            </a:pPr>
            <a:r>
              <a:rPr lang="he-IL" dirty="0">
                <a:latin typeface="Calibri" panose="020F0502020204030204" pitchFamily="34" charset="0"/>
                <a:ea typeface="Calibri" panose="020F0502020204030204" pitchFamily="34" charset="0"/>
                <a:cs typeface="Arial" panose="020B0604020202020204" pitchFamily="34" charset="0"/>
              </a:rPr>
              <a:t>קישור בין רעיונות או מחשבות כך שהופעתו של האחד בתודעה גוררת אחריה את העלאתו של האחר; התהליך שבו רעיונות, הרגשות או תחושות מתקשרים זה לזה מפני שיש להם משהו משותף ולאו דווקא מפני שהם דומים; סמיכות, הקשר או הדמיון בין מחשבות ורעיונות העולים זה אחר זה בזיכרון. החלופה העברית שקבעה האקדמיה: תסמיך.</a:t>
            </a:r>
          </a:p>
          <a:p>
            <a:pPr marL="457200" algn="just" rtl="1">
              <a:lnSpc>
                <a:spcPct val="150000"/>
              </a:lnSpc>
              <a:spcBef>
                <a:spcPts val="1200"/>
              </a:spcBef>
              <a:spcAft>
                <a:spcPts val="300"/>
              </a:spcAft>
              <a:tabLst>
                <a:tab pos="147320" algn="l"/>
              </a:tabLst>
            </a:pPr>
            <a:r>
              <a:rPr lang="he-IL" dirty="0">
                <a:latin typeface="Calibri" panose="020F0502020204030204" pitchFamily="34" charset="0"/>
                <a:ea typeface="Calibri" panose="020F0502020204030204" pitchFamily="34" charset="0"/>
                <a:cs typeface="Arial" panose="020B0604020202020204" pitchFamily="34" charset="0"/>
              </a:rPr>
              <a:t>• צלילי הנגינה ששמעתי ממרחק העלו בי אסוציאציה של ערב חורף קר וגשום, מאחר שנשמעו כנקישותיהן של טיפות גשם בזגוגית החלון.</a:t>
            </a:r>
          </a:p>
          <a:p>
            <a:pPr marL="457200" algn="just" rtl="1">
              <a:lnSpc>
                <a:spcPct val="150000"/>
              </a:lnSpc>
              <a:spcBef>
                <a:spcPts val="1200"/>
              </a:spcBef>
              <a:spcAft>
                <a:spcPts val="300"/>
              </a:spcAft>
              <a:tabLst>
                <a:tab pos="147320" algn="l"/>
              </a:tabLst>
            </a:pPr>
            <a:r>
              <a:rPr lang="he-IL" dirty="0">
                <a:latin typeface="Calibri" panose="020F0502020204030204" pitchFamily="34" charset="0"/>
                <a:ea typeface="Calibri" panose="020F0502020204030204" pitchFamily="34" charset="0"/>
                <a:cs typeface="Arial" panose="020B0604020202020204" pitchFamily="34" charset="0"/>
              </a:rPr>
              <a:t>• אני מצטער, אבל השם הזה מעלה בי אסוציאציות מאוד לא נעימות: הוא קשור </a:t>
            </a:r>
            <a:r>
              <a:rPr lang="he-IL" dirty="0" err="1">
                <a:latin typeface="Calibri" panose="020F0502020204030204" pitchFamily="34" charset="0"/>
                <a:ea typeface="Calibri" panose="020F0502020204030204" pitchFamily="34" charset="0"/>
                <a:cs typeface="Arial" panose="020B0604020202020204" pitchFamily="34" charset="0"/>
              </a:rPr>
              <a:t>בזכרוני</a:t>
            </a:r>
            <a:r>
              <a:rPr lang="he-IL" dirty="0">
                <a:latin typeface="Calibri" panose="020F0502020204030204" pitchFamily="34" charset="0"/>
                <a:ea typeface="Calibri" panose="020F0502020204030204" pitchFamily="34" charset="0"/>
                <a:cs typeface="Arial" panose="020B0604020202020204" pitchFamily="34" charset="0"/>
              </a:rPr>
              <a:t> לתקופה שבה הייתי מאושפז במצב קשה בבית החולים.</a:t>
            </a:r>
            <a:endParaRPr lang="he-IL" sz="1800" b="0" kern="1600" dirty="0">
              <a:effectLst/>
              <a:latin typeface="Arial" panose="020B0604020202020204" pitchFamily="34" charset="0"/>
              <a:cs typeface="David" panose="020E0502060401010101" pitchFamily="34" charset="-79"/>
            </a:endParaRPr>
          </a:p>
        </p:txBody>
      </p:sp>
      <p:sp>
        <p:nvSpPr>
          <p:cNvPr id="4" name="מציין מיקום של מספר שקופית 3">
            <a:extLst>
              <a:ext uri="{FF2B5EF4-FFF2-40B4-BE49-F238E27FC236}">
                <a16:creationId xmlns:a16="http://schemas.microsoft.com/office/drawing/2014/main" id="{3445C802-E06B-4538-17EA-F1966CA9D6B8}"/>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4286336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3FD616-15F6-9F10-25EF-B38DE64E0911}"/>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0A640869-7D8F-03D7-7778-3B4FF99FE57B}"/>
              </a:ext>
            </a:extLst>
          </p:cNvPr>
          <p:cNvSpPr>
            <a:spLocks noGrp="1"/>
          </p:cNvSpPr>
          <p:nvPr>
            <p:ph idx="1"/>
          </p:nvPr>
        </p:nvSpPr>
        <p:spPr/>
        <p:txBody>
          <a:bodyPr/>
          <a:lstStyle/>
          <a:p>
            <a:r>
              <a:rPr lang="he-IL" dirty="0"/>
              <a:t>כל מילה שאדם אומר – כל מה שכלול באותה מילה ובאותו מושג משפיעה עליה ומושפע ממנה.</a:t>
            </a:r>
          </a:p>
          <a:p>
            <a:r>
              <a:rPr lang="he-IL" dirty="0"/>
              <a:t>כל מילה מתקשרת לאדם במוחו לאין ספור רגשות, מחשבות, </a:t>
            </a:r>
            <a:r>
              <a:rPr lang="he-IL" dirty="0" err="1"/>
              <a:t>זכרונות</a:t>
            </a:r>
            <a:r>
              <a:rPr lang="he-IL" dirty="0"/>
              <a:t>, הבנות וידיעות. הקשר הזה אינו בהכרח הגיוני. </a:t>
            </a:r>
          </a:p>
          <a:p>
            <a:r>
              <a:rPr lang="he-IL" dirty="0"/>
              <a:t>אם למשל, מילה מסוימת מעוררת רגש מסוים הרי כל הדברים שעוררו רגש בעבר דומה מתחברים יחד בתודעה. </a:t>
            </a:r>
          </a:p>
        </p:txBody>
      </p:sp>
      <p:sp>
        <p:nvSpPr>
          <p:cNvPr id="4" name="מציין מיקום של מספר שקופית 3">
            <a:extLst>
              <a:ext uri="{FF2B5EF4-FFF2-40B4-BE49-F238E27FC236}">
                <a16:creationId xmlns:a16="http://schemas.microsoft.com/office/drawing/2014/main" id="{F6C0C711-DC5A-61F2-5C1B-B4CE0D96F931}"/>
              </a:ext>
            </a:extLst>
          </p:cNvPr>
          <p:cNvSpPr>
            <a:spLocks noGrp="1"/>
          </p:cNvSpPr>
          <p:nvPr>
            <p:ph type="sldNum" sz="quarter" idx="12"/>
          </p:nvPr>
        </p:nvSpPr>
        <p:spPr/>
        <p:txBody>
          <a:bodyPr/>
          <a:lstStyle/>
          <a:p>
            <a:fld id="{519954A3-9DFD-4C44-94BA-B95130A3BA1C}" type="slidenum">
              <a:rPr lang="en-US" smtClean="0"/>
              <a:t>17</a:t>
            </a:fld>
            <a:endParaRPr lang="en-US" dirty="0"/>
          </a:p>
        </p:txBody>
      </p:sp>
    </p:spTree>
    <p:extLst>
      <p:ext uri="{BB962C8B-B14F-4D97-AF65-F5344CB8AC3E}">
        <p14:creationId xmlns:p14="http://schemas.microsoft.com/office/powerpoint/2010/main" val="1162231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מציין מיקום של מספר שקופית 3">
            <a:extLst>
              <a:ext uri="{FF2B5EF4-FFF2-40B4-BE49-F238E27FC236}">
                <a16:creationId xmlns:a16="http://schemas.microsoft.com/office/drawing/2014/main" id="{B4ED38B6-14D4-2F8E-B169-CD9175136968}"/>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7" name="תמונה 6">
            <a:extLst>
              <a:ext uri="{FF2B5EF4-FFF2-40B4-BE49-F238E27FC236}">
                <a16:creationId xmlns:a16="http://schemas.microsoft.com/office/drawing/2014/main" id="{0D523DAE-9BBD-939D-7D64-796631970C44}"/>
              </a:ext>
            </a:extLst>
          </p:cNvPr>
          <p:cNvPicPr>
            <a:picLocks noChangeAspect="1"/>
          </p:cNvPicPr>
          <p:nvPr/>
        </p:nvPicPr>
        <p:blipFill>
          <a:blip r:embed="rId2"/>
          <a:stretch>
            <a:fillRect/>
          </a:stretch>
        </p:blipFill>
        <p:spPr>
          <a:xfrm>
            <a:off x="3567433" y="0"/>
            <a:ext cx="6522771" cy="6858000"/>
          </a:xfrm>
          <a:prstGeom prst="rect">
            <a:avLst/>
          </a:prstGeom>
        </p:spPr>
      </p:pic>
    </p:spTree>
    <p:extLst>
      <p:ext uri="{BB962C8B-B14F-4D97-AF65-F5344CB8AC3E}">
        <p14:creationId xmlns:p14="http://schemas.microsoft.com/office/powerpoint/2010/main" val="964560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מספר שקופית 1">
            <a:extLst>
              <a:ext uri="{FF2B5EF4-FFF2-40B4-BE49-F238E27FC236}">
                <a16:creationId xmlns:a16="http://schemas.microsoft.com/office/drawing/2014/main" id="{1D221B2C-357C-8BB5-976E-8B44D9C60F6B}"/>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4" name="תמונה 3">
            <a:extLst>
              <a:ext uri="{FF2B5EF4-FFF2-40B4-BE49-F238E27FC236}">
                <a16:creationId xmlns:a16="http://schemas.microsoft.com/office/drawing/2014/main" id="{059CBCE3-DAD5-841B-4554-583682440D61}"/>
              </a:ext>
            </a:extLst>
          </p:cNvPr>
          <p:cNvPicPr>
            <a:picLocks noChangeAspect="1"/>
          </p:cNvPicPr>
          <p:nvPr/>
        </p:nvPicPr>
        <p:blipFill>
          <a:blip r:embed="rId2"/>
          <a:stretch>
            <a:fillRect/>
          </a:stretch>
        </p:blipFill>
        <p:spPr>
          <a:xfrm>
            <a:off x="242108" y="211693"/>
            <a:ext cx="11755491" cy="3715268"/>
          </a:xfrm>
          <a:prstGeom prst="rect">
            <a:avLst/>
          </a:prstGeom>
        </p:spPr>
      </p:pic>
    </p:spTree>
    <p:extLst>
      <p:ext uri="{BB962C8B-B14F-4D97-AF65-F5344CB8AC3E}">
        <p14:creationId xmlns:p14="http://schemas.microsoft.com/office/powerpoint/2010/main" val="3197215211"/>
      </p:ext>
    </p:extLst>
  </p:cSld>
  <p:clrMapOvr>
    <a:masterClrMapping/>
  </p:clrMapOvr>
  <mc:AlternateContent xmlns:mc="http://schemas.openxmlformats.org/markup-compatibility/2006" xmlns:p14="http://schemas.microsoft.com/office/powerpoint/2010/main">
    <mc:Choice Requires="p14">
      <p:transition spd="slow" p14:dur="2000" advTm="8109"/>
    </mc:Choice>
    <mc:Fallback xmlns="">
      <p:transition spd="slow" advTm="8109"/>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מספר שקופית 1">
            <a:extLst>
              <a:ext uri="{FF2B5EF4-FFF2-40B4-BE49-F238E27FC236}">
                <a16:creationId xmlns:a16="http://schemas.microsoft.com/office/drawing/2014/main" id="{DF2274DE-1605-4B84-E6CE-5B30B6C572FA}"/>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4" name="תמונה 3">
            <a:extLst>
              <a:ext uri="{FF2B5EF4-FFF2-40B4-BE49-F238E27FC236}">
                <a16:creationId xmlns:a16="http://schemas.microsoft.com/office/drawing/2014/main" id="{0731C2BF-BD39-695F-484C-BD00278A761F}"/>
              </a:ext>
            </a:extLst>
          </p:cNvPr>
          <p:cNvPicPr>
            <a:picLocks noChangeAspect="1"/>
          </p:cNvPicPr>
          <p:nvPr/>
        </p:nvPicPr>
        <p:blipFill>
          <a:blip r:embed="rId2"/>
          <a:stretch>
            <a:fillRect/>
          </a:stretch>
        </p:blipFill>
        <p:spPr>
          <a:xfrm>
            <a:off x="1486260" y="112708"/>
            <a:ext cx="7633886" cy="2904475"/>
          </a:xfrm>
          <a:prstGeom prst="rect">
            <a:avLst/>
          </a:prstGeom>
        </p:spPr>
      </p:pic>
      <p:pic>
        <p:nvPicPr>
          <p:cNvPr id="6" name="תמונה 5">
            <a:extLst>
              <a:ext uri="{FF2B5EF4-FFF2-40B4-BE49-F238E27FC236}">
                <a16:creationId xmlns:a16="http://schemas.microsoft.com/office/drawing/2014/main" id="{016E51FE-3160-402E-0F5E-198E081A5C92}"/>
              </a:ext>
            </a:extLst>
          </p:cNvPr>
          <p:cNvPicPr>
            <a:picLocks noChangeAspect="1"/>
          </p:cNvPicPr>
          <p:nvPr/>
        </p:nvPicPr>
        <p:blipFill>
          <a:blip r:embed="rId3"/>
          <a:stretch>
            <a:fillRect/>
          </a:stretch>
        </p:blipFill>
        <p:spPr>
          <a:xfrm>
            <a:off x="1731101" y="2960375"/>
            <a:ext cx="7110751" cy="3897625"/>
          </a:xfrm>
          <a:prstGeom prst="rect">
            <a:avLst/>
          </a:prstGeom>
        </p:spPr>
      </p:pic>
    </p:spTree>
    <p:extLst>
      <p:ext uri="{BB962C8B-B14F-4D97-AF65-F5344CB8AC3E}">
        <p14:creationId xmlns:p14="http://schemas.microsoft.com/office/powerpoint/2010/main" val="925804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מספר שקופית 1">
            <a:extLst>
              <a:ext uri="{FF2B5EF4-FFF2-40B4-BE49-F238E27FC236}">
                <a16:creationId xmlns:a16="http://schemas.microsoft.com/office/drawing/2014/main" id="{8BE23285-7845-358D-EF19-CB6D72DD2548}"/>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4" name="תמונה 3">
            <a:extLst>
              <a:ext uri="{FF2B5EF4-FFF2-40B4-BE49-F238E27FC236}">
                <a16:creationId xmlns:a16="http://schemas.microsoft.com/office/drawing/2014/main" id="{403A63E9-3B5E-E245-9E5B-2D3A44186ADA}"/>
              </a:ext>
            </a:extLst>
          </p:cNvPr>
          <p:cNvPicPr>
            <a:picLocks noChangeAspect="1"/>
          </p:cNvPicPr>
          <p:nvPr/>
        </p:nvPicPr>
        <p:blipFill rotWithShape="1">
          <a:blip r:embed="rId2">
            <a:extLst>
              <a:ext uri="{28A0092B-C50C-407E-A947-70E740481C1C}">
                <a14:useLocalDpi xmlns:a14="http://schemas.microsoft.com/office/drawing/2010/main" val="0"/>
              </a:ext>
            </a:extLst>
          </a:blip>
          <a:srcRect l="7316" t="20058" r="15343"/>
          <a:stretch/>
        </p:blipFill>
        <p:spPr>
          <a:xfrm>
            <a:off x="3005593" y="7796"/>
            <a:ext cx="4818490" cy="6850204"/>
          </a:xfrm>
          <a:prstGeom prst="rect">
            <a:avLst/>
          </a:prstGeom>
        </p:spPr>
      </p:pic>
    </p:spTree>
    <p:extLst>
      <p:ext uri="{BB962C8B-B14F-4D97-AF65-F5344CB8AC3E}">
        <p14:creationId xmlns:p14="http://schemas.microsoft.com/office/powerpoint/2010/main" val="16176048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מספר שקופית 1">
            <a:extLst>
              <a:ext uri="{FF2B5EF4-FFF2-40B4-BE49-F238E27FC236}">
                <a16:creationId xmlns:a16="http://schemas.microsoft.com/office/drawing/2014/main" id="{2E2020FD-D8C2-B5C2-3C14-8A834ED48A06}"/>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D57F1E4F-1CFF-5643-939E-217C01CDF565}"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3" name="תמונה 2">
            <a:extLst>
              <a:ext uri="{FF2B5EF4-FFF2-40B4-BE49-F238E27FC236}">
                <a16:creationId xmlns:a16="http://schemas.microsoft.com/office/drawing/2014/main" id="{8CB96668-3689-26CA-732B-C6DDB41B7B07}"/>
              </a:ext>
            </a:extLst>
          </p:cNvPr>
          <p:cNvPicPr>
            <a:picLocks noChangeAspect="1"/>
          </p:cNvPicPr>
          <p:nvPr/>
        </p:nvPicPr>
        <p:blipFill>
          <a:blip r:embed="rId2"/>
          <a:stretch>
            <a:fillRect/>
          </a:stretch>
        </p:blipFill>
        <p:spPr>
          <a:xfrm>
            <a:off x="3591712" y="821137"/>
            <a:ext cx="4610961" cy="4124573"/>
          </a:xfrm>
          <a:prstGeom prst="rect">
            <a:avLst/>
          </a:prstGeom>
        </p:spPr>
      </p:pic>
    </p:spTree>
    <p:extLst>
      <p:ext uri="{BB962C8B-B14F-4D97-AF65-F5344CB8AC3E}">
        <p14:creationId xmlns:p14="http://schemas.microsoft.com/office/powerpoint/2010/main" val="3683737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B9999A1-1D30-DEEB-9166-94CAE501D259}"/>
              </a:ext>
            </a:extLst>
          </p:cNvPr>
          <p:cNvSpPr>
            <a:spLocks noGrp="1"/>
          </p:cNvSpPr>
          <p:nvPr>
            <p:ph type="title"/>
          </p:nvPr>
        </p:nvSpPr>
        <p:spPr/>
        <p:txBody>
          <a:bodyPr/>
          <a:lstStyle/>
          <a:p>
            <a:endParaRPr lang="he-IL"/>
          </a:p>
        </p:txBody>
      </p:sp>
      <p:pic>
        <p:nvPicPr>
          <p:cNvPr id="5" name="אירגון חיים של תורה-הרב רפאל גריינמן-חיבור רגשי - אירגון אם בישראל - ה כסלו, תשפ1163282">
            <a:hlinkClick r:id="" action="ppaction://media"/>
            <a:extLst>
              <a:ext uri="{FF2B5EF4-FFF2-40B4-BE49-F238E27FC236}">
                <a16:creationId xmlns:a16="http://schemas.microsoft.com/office/drawing/2014/main" id="{F262822D-7320-4E0B-8C30-43DD555A3FD8}"/>
              </a:ext>
            </a:extLst>
          </p:cNvPr>
          <p:cNvPicPr>
            <a:picLocks noGrp="1" noChangeAspect="1"/>
          </p:cNvPicPr>
          <p:nvPr>
            <p:ph idx="1"/>
            <a:audioFile r:link="rId1"/>
            <p:extLst>
              <p:ext uri="{DAA4B4D4-6D71-4841-9C94-3DE7FCFB9230}">
                <p14:media xmlns:p14="http://schemas.microsoft.com/office/powerpoint/2010/main" r:embed="rId2">
                  <p14:trim st="1008181" end="2334087"/>
                </p14:media>
              </p:ext>
            </p:extLst>
          </p:nvPr>
        </p:nvPicPr>
        <p:blipFill>
          <a:blip r:embed="rId4"/>
          <a:stretch>
            <a:fillRect/>
          </a:stretch>
        </p:blipFill>
        <p:spPr>
          <a:xfrm>
            <a:off x="4979988" y="3656013"/>
            <a:ext cx="487362" cy="487362"/>
          </a:xfrm>
        </p:spPr>
      </p:pic>
      <p:sp>
        <p:nvSpPr>
          <p:cNvPr id="4" name="מציין מיקום של מספר שקופית 3">
            <a:extLst>
              <a:ext uri="{FF2B5EF4-FFF2-40B4-BE49-F238E27FC236}">
                <a16:creationId xmlns:a16="http://schemas.microsoft.com/office/drawing/2014/main" id="{84B8779E-3F39-6380-CA8A-B47EBDFA6DE7}"/>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pic>
        <p:nvPicPr>
          <p:cNvPr id="10242" name="Picture 2" descr="שלט משנכנס אדר מרבין בשמחה &lt;BR&gt; 59X33">
            <a:extLst>
              <a:ext uri="{FF2B5EF4-FFF2-40B4-BE49-F238E27FC236}">
                <a16:creationId xmlns:a16="http://schemas.microsoft.com/office/drawing/2014/main" id="{8C59DE05-F324-1AFE-60BF-6B2F04C034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5296" y="1390070"/>
            <a:ext cx="2895600" cy="158115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חודש אב ושמחה – רבי חיים מצאנז – מרכז ניו יורק – לישראלים בניו יורק">
            <a:extLst>
              <a:ext uri="{FF2B5EF4-FFF2-40B4-BE49-F238E27FC236}">
                <a16:creationId xmlns:a16="http://schemas.microsoft.com/office/drawing/2014/main" id="{8E629EE3-5C59-3F79-5BA2-3DCF76562C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7857" y="1221602"/>
            <a:ext cx="2705100"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892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381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B8E8798-5BBC-04CC-C264-729238981AF6}"/>
              </a:ext>
            </a:extLst>
          </p:cNvPr>
          <p:cNvSpPr>
            <a:spLocks noGrp="1"/>
          </p:cNvSpPr>
          <p:nvPr>
            <p:ph type="title"/>
          </p:nvPr>
        </p:nvSpPr>
        <p:spPr/>
        <p:txBody>
          <a:bodyPr/>
          <a:lstStyle/>
          <a:p>
            <a:r>
              <a:rPr lang="he-IL" dirty="0"/>
              <a:t>התניה מחשבתית</a:t>
            </a:r>
          </a:p>
        </p:txBody>
      </p:sp>
      <p:sp>
        <p:nvSpPr>
          <p:cNvPr id="3" name="מציין מיקום תוכן 2">
            <a:extLst>
              <a:ext uri="{FF2B5EF4-FFF2-40B4-BE49-F238E27FC236}">
                <a16:creationId xmlns:a16="http://schemas.microsoft.com/office/drawing/2014/main" id="{060778AA-2357-A76E-6F42-72256947D781}"/>
              </a:ext>
            </a:extLst>
          </p:cNvPr>
          <p:cNvSpPr>
            <a:spLocks noGrp="1"/>
          </p:cNvSpPr>
          <p:nvPr>
            <p:ph idx="1"/>
          </p:nvPr>
        </p:nvSpPr>
        <p:spPr/>
        <p:txBody>
          <a:bodyPr>
            <a:normAutofit lnSpcReduction="10000"/>
          </a:bodyPr>
          <a:lstStyle/>
          <a:p>
            <a:pPr algn="r"/>
            <a:r>
              <a:rPr lang="he-IL" b="0" i="0" dirty="0">
                <a:solidFill>
                  <a:srgbClr val="000000"/>
                </a:solidFill>
                <a:effectLst/>
                <a:latin typeface="Arial" panose="020B0604020202020204" pitchFamily="34" charset="0"/>
              </a:rPr>
              <a:t>וכאן תתבאר עוד דוגמא למניפולציה ושתילת מחשבות, שמבוססת על הרעיון שאומר, שאם ברצונך שמישהו יחשוב משהו, באפשרותך לעשות זאת, על ידי זה שתיצור אצלו התניה חיובית, בין משהו שהוא אוהב, לבין מה שאתה רוצה שהוא יחשוב. או להפך, שתיצור אצל התניה שלילית, </a:t>
            </a:r>
            <a:r>
              <a:rPr lang="he-IL" b="0" i="0" dirty="0" err="1">
                <a:solidFill>
                  <a:srgbClr val="000000"/>
                </a:solidFill>
                <a:effectLst/>
                <a:latin typeface="Arial" panose="020B0604020202020204" pitchFamily="34" charset="0"/>
              </a:rPr>
              <a:t>ביןמה</a:t>
            </a:r>
            <a:r>
              <a:rPr lang="he-IL" b="0" i="0" dirty="0">
                <a:solidFill>
                  <a:srgbClr val="000000"/>
                </a:solidFill>
                <a:effectLst/>
                <a:latin typeface="Arial" panose="020B0604020202020204" pitchFamily="34" charset="0"/>
              </a:rPr>
              <a:t> שהוא לא אוהב, לבין מה שאתה לא רוצה שהוא יחשוב.</a:t>
            </a:r>
          </a:p>
          <a:p>
            <a:pPr algn="r"/>
            <a:r>
              <a:rPr lang="he-IL" b="0" i="0" dirty="0">
                <a:solidFill>
                  <a:srgbClr val="000000"/>
                </a:solidFill>
                <a:effectLst/>
                <a:latin typeface="Arial" panose="020B0604020202020204" pitchFamily="34" charset="0"/>
              </a:rPr>
              <a:t>ובפשיטות </a:t>
            </a:r>
            <a:r>
              <a:rPr lang="he-IL" b="0" i="0" dirty="0" err="1">
                <a:solidFill>
                  <a:srgbClr val="000000"/>
                </a:solidFill>
                <a:effectLst/>
                <a:latin typeface="Arial" panose="020B0604020202020204" pitchFamily="34" charset="0"/>
              </a:rPr>
              <a:t>זהאומר</a:t>
            </a:r>
            <a:r>
              <a:rPr lang="he-IL" b="0" i="0" dirty="0">
                <a:solidFill>
                  <a:srgbClr val="000000"/>
                </a:solidFill>
                <a:effectLst/>
                <a:latin typeface="Arial" panose="020B0604020202020204" pitchFamily="34" charset="0"/>
              </a:rPr>
              <a:t>, שאם לדוגמא ברצונך לשכנע מישהו שיחשוב שצריך לעשות </a:t>
            </a:r>
            <a:r>
              <a:rPr lang="en-US" b="0" i="0" dirty="0">
                <a:solidFill>
                  <a:srgbClr val="000000"/>
                </a:solidFill>
                <a:effectLst/>
                <a:latin typeface="Arial" panose="020B0604020202020204" pitchFamily="34" charset="0"/>
              </a:rPr>
              <a:t>X. </a:t>
            </a:r>
            <a:r>
              <a:rPr lang="he-IL" b="0" i="0" dirty="0">
                <a:solidFill>
                  <a:srgbClr val="000000"/>
                </a:solidFill>
                <a:effectLst/>
                <a:latin typeface="Arial" panose="020B0604020202020204" pitchFamily="34" charset="0"/>
              </a:rPr>
              <a:t>עכשיו תחשוב עם </a:t>
            </a:r>
            <a:r>
              <a:rPr lang="he-IL" b="0" i="0" dirty="0" err="1">
                <a:solidFill>
                  <a:srgbClr val="000000"/>
                </a:solidFill>
                <a:effectLst/>
                <a:latin typeface="Arial" panose="020B0604020202020204" pitchFamily="34" charset="0"/>
              </a:rPr>
              <a:t>עצמך,איזה</a:t>
            </a:r>
            <a:r>
              <a:rPr lang="he-IL" b="0" i="0" dirty="0">
                <a:solidFill>
                  <a:srgbClr val="000000"/>
                </a:solidFill>
                <a:effectLst/>
                <a:latin typeface="Arial" panose="020B0604020202020204" pitchFamily="34" charset="0"/>
              </a:rPr>
              <a:t> דברים אתה חושב, שהאדם השני לא היה רוצה לחשוב על עצמו? ואיזה דברים אתה </a:t>
            </a:r>
            <a:r>
              <a:rPr lang="he-IL" b="0" i="0" dirty="0" err="1">
                <a:solidFill>
                  <a:srgbClr val="000000"/>
                </a:solidFill>
                <a:effectLst/>
                <a:latin typeface="Arial" panose="020B0604020202020204" pitchFamily="34" charset="0"/>
              </a:rPr>
              <a:t>חושבשהאדם</a:t>
            </a:r>
            <a:r>
              <a:rPr lang="he-IL" b="0" i="0" dirty="0">
                <a:solidFill>
                  <a:srgbClr val="000000"/>
                </a:solidFill>
                <a:effectLst/>
                <a:latin typeface="Arial" panose="020B0604020202020204" pitchFamily="34" charset="0"/>
              </a:rPr>
              <a:t> השני היה רוצה לחשוב על עצמו? (רוצה לחשוב על עצמו = אוהב).</a:t>
            </a:r>
          </a:p>
          <a:p>
            <a:pPr algn="r"/>
            <a:r>
              <a:rPr lang="he-IL" b="0" i="0" dirty="0">
                <a:solidFill>
                  <a:srgbClr val="000000"/>
                </a:solidFill>
                <a:effectLst/>
                <a:latin typeface="Arial" panose="020B0604020202020204" pitchFamily="34" charset="0"/>
              </a:rPr>
              <a:t>נניח </a:t>
            </a:r>
            <a:r>
              <a:rPr lang="he-IL" b="0" i="0" dirty="0" err="1">
                <a:solidFill>
                  <a:srgbClr val="000000"/>
                </a:solidFill>
                <a:effectLst/>
                <a:latin typeface="Arial" panose="020B0604020202020204" pitchFamily="34" charset="0"/>
              </a:rPr>
              <a:t>לדוגמאשמישהו</a:t>
            </a:r>
            <a:r>
              <a:rPr lang="he-IL" b="0" i="0" dirty="0">
                <a:solidFill>
                  <a:srgbClr val="000000"/>
                </a:solidFill>
                <a:effectLst/>
                <a:latin typeface="Arial" panose="020B0604020202020204" pitchFamily="34" charset="0"/>
              </a:rPr>
              <a:t> רוצה לחשוב שהוא חכם ולא טיפש, אז באפשרותך לדוגמא להרכיב משפט שאומר "</a:t>
            </a:r>
            <a:r>
              <a:rPr lang="he-IL" b="0" i="0" dirty="0" err="1">
                <a:solidFill>
                  <a:srgbClr val="000000"/>
                </a:solidFill>
                <a:effectLst/>
                <a:latin typeface="Arial" panose="020B0604020202020204" pitchFamily="34" charset="0"/>
              </a:rPr>
              <a:t>אתהחכם</a:t>
            </a:r>
            <a:r>
              <a:rPr lang="he-IL" b="0" i="0" dirty="0">
                <a:solidFill>
                  <a:srgbClr val="000000"/>
                </a:solidFill>
                <a:effectLst/>
                <a:latin typeface="Arial" panose="020B0604020202020204" pitchFamily="34" charset="0"/>
              </a:rPr>
              <a:t>, אתה בטוח חושב </a:t>
            </a:r>
            <a:r>
              <a:rPr lang="en-US" b="0" i="0" dirty="0">
                <a:solidFill>
                  <a:srgbClr val="000000"/>
                </a:solidFill>
                <a:effectLst/>
                <a:latin typeface="Arial" panose="020B0604020202020204" pitchFamily="34" charset="0"/>
              </a:rPr>
              <a:t>X". </a:t>
            </a:r>
            <a:r>
              <a:rPr lang="he-IL" b="0" i="0" dirty="0">
                <a:solidFill>
                  <a:srgbClr val="000000"/>
                </a:solidFill>
                <a:effectLst/>
                <a:latin typeface="Arial" panose="020B0604020202020204" pitchFamily="34" charset="0"/>
              </a:rPr>
              <a:t>או "אתה בטוח חכם שחושב </a:t>
            </a:r>
            <a:r>
              <a:rPr lang="en-US" b="0" i="0" dirty="0">
                <a:solidFill>
                  <a:srgbClr val="000000"/>
                </a:solidFill>
                <a:effectLst/>
                <a:latin typeface="Arial" panose="020B0604020202020204" pitchFamily="34" charset="0"/>
              </a:rPr>
              <a:t>X". </a:t>
            </a:r>
            <a:r>
              <a:rPr lang="he-IL" b="0" i="0" dirty="0">
                <a:solidFill>
                  <a:srgbClr val="000000"/>
                </a:solidFill>
                <a:effectLst/>
                <a:latin typeface="Arial" panose="020B0604020202020204" pitchFamily="34" charset="0"/>
              </a:rPr>
              <a:t>או "אתה בטוח לא טיפש לחשוב ש </a:t>
            </a:r>
            <a:r>
              <a:rPr lang="en-US" b="0" i="0" dirty="0">
                <a:solidFill>
                  <a:srgbClr val="000000"/>
                </a:solidFill>
                <a:effectLst/>
                <a:latin typeface="Arial" panose="020B0604020202020204" pitchFamily="34" charset="0"/>
              </a:rPr>
              <a:t>X</a:t>
            </a:r>
            <a:r>
              <a:rPr lang="he-IL" b="0" i="0" dirty="0">
                <a:solidFill>
                  <a:srgbClr val="000000"/>
                </a:solidFill>
                <a:effectLst/>
                <a:latin typeface="Arial" panose="020B0604020202020204" pitchFamily="34" charset="0"/>
              </a:rPr>
              <a:t>לא נכון". וכיו"ב ניסוחים שונים, שבתוך המשפט עצמו מניחים הנחת יסוד, שאם השומע </a:t>
            </a:r>
            <a:r>
              <a:rPr lang="he-IL" b="0" i="0" dirty="0" err="1">
                <a:solidFill>
                  <a:srgbClr val="000000"/>
                </a:solidFill>
                <a:effectLst/>
                <a:latin typeface="Arial" panose="020B0604020202020204" pitchFamily="34" charset="0"/>
              </a:rPr>
              <a:t>לאיסכים</a:t>
            </a:r>
            <a:r>
              <a:rPr lang="he-IL" b="0" i="0" dirty="0">
                <a:solidFill>
                  <a:srgbClr val="000000"/>
                </a:solidFill>
                <a:effectLst/>
                <a:latin typeface="Arial" panose="020B0604020202020204" pitchFamily="34" charset="0"/>
              </a:rPr>
              <a:t> איתך, אז הוא מה שהוא לא רוצה לחשוב שהוא.</a:t>
            </a:r>
          </a:p>
          <a:p>
            <a:pPr algn="r"/>
            <a:r>
              <a:rPr lang="he-IL" b="0" i="0" dirty="0">
                <a:solidFill>
                  <a:srgbClr val="000000"/>
                </a:solidFill>
                <a:effectLst/>
                <a:latin typeface="Arial" panose="020B0604020202020204" pitchFamily="34" charset="0"/>
              </a:rPr>
              <a:t>או </a:t>
            </a:r>
            <a:r>
              <a:rPr lang="he-IL" b="0" i="0" dirty="0" err="1">
                <a:solidFill>
                  <a:srgbClr val="000000"/>
                </a:solidFill>
                <a:effectLst/>
                <a:latin typeface="Arial" panose="020B0604020202020204" pitchFamily="34" charset="0"/>
              </a:rPr>
              <a:t>לדוגמא,נניח</a:t>
            </a:r>
            <a:r>
              <a:rPr lang="he-IL" b="0" i="0" dirty="0">
                <a:solidFill>
                  <a:srgbClr val="000000"/>
                </a:solidFill>
                <a:effectLst/>
                <a:latin typeface="Arial" panose="020B0604020202020204" pitchFamily="34" charset="0"/>
              </a:rPr>
              <a:t> שמישהו לא רוצה לחשוב שהוא קמצן, אלא רוצה לחשוב שהוא נדיב. אז מראש תחבר </a:t>
            </a:r>
            <a:r>
              <a:rPr lang="he-IL" b="0" i="0" dirty="0" err="1">
                <a:solidFill>
                  <a:srgbClr val="000000"/>
                </a:solidFill>
                <a:effectLst/>
                <a:latin typeface="Arial" panose="020B0604020202020204" pitchFamily="34" charset="0"/>
              </a:rPr>
              <a:t>אתהרעיון</a:t>
            </a:r>
            <a:r>
              <a:rPr lang="he-IL" b="0" i="0" dirty="0">
                <a:solidFill>
                  <a:srgbClr val="000000"/>
                </a:solidFill>
                <a:effectLst/>
                <a:latin typeface="Arial" panose="020B0604020202020204" pitchFamily="34" charset="0"/>
              </a:rPr>
              <a:t> שלך, ליצירת התניה, שאם הוא יסכים איתך, אז ישתמע שהוא נדיב ושאם לא </a:t>
            </a:r>
            <a:r>
              <a:rPr lang="he-IL" b="0" i="0" dirty="0" err="1">
                <a:solidFill>
                  <a:srgbClr val="000000"/>
                </a:solidFill>
                <a:effectLst/>
                <a:latin typeface="Arial" panose="020B0604020202020204" pitchFamily="34" charset="0"/>
              </a:rPr>
              <a:t>אזישתמע</a:t>
            </a:r>
            <a:r>
              <a:rPr lang="he-IL" b="0" i="0" dirty="0">
                <a:solidFill>
                  <a:srgbClr val="000000"/>
                </a:solidFill>
                <a:effectLst/>
                <a:latin typeface="Arial" panose="020B0604020202020204" pitchFamily="34" charset="0"/>
              </a:rPr>
              <a:t> שהוא קמצן.</a:t>
            </a:r>
          </a:p>
          <a:p>
            <a:pPr algn="r"/>
            <a:r>
              <a:rPr lang="he-IL" b="0" i="0" dirty="0">
                <a:solidFill>
                  <a:srgbClr val="000000"/>
                </a:solidFill>
                <a:effectLst/>
                <a:latin typeface="Arial" panose="020B0604020202020204" pitchFamily="34" charset="0"/>
              </a:rPr>
              <a:t>ויש בזה </a:t>
            </a:r>
            <a:r>
              <a:rPr lang="he-IL" b="0" i="0" dirty="0" err="1">
                <a:solidFill>
                  <a:srgbClr val="000000"/>
                </a:solidFill>
                <a:effectLst/>
                <a:latin typeface="Arial" panose="020B0604020202020204" pitchFamily="34" charset="0"/>
              </a:rPr>
              <a:t>עודמורכבות</a:t>
            </a:r>
            <a:r>
              <a:rPr lang="he-IL" b="0" i="0" dirty="0">
                <a:solidFill>
                  <a:srgbClr val="000000"/>
                </a:solidFill>
                <a:effectLst/>
                <a:latin typeface="Arial" panose="020B0604020202020204" pitchFamily="34" charset="0"/>
              </a:rPr>
              <a:t> נוספת, שלא תמיד צריך ורצוי ליצור את ההתניה הזאת בצורה גלויה וישירה. </a:t>
            </a:r>
            <a:r>
              <a:rPr lang="he-IL" b="0" i="0" dirty="0" err="1">
                <a:solidFill>
                  <a:srgbClr val="000000"/>
                </a:solidFill>
                <a:effectLst/>
                <a:latin typeface="Arial" panose="020B0604020202020204" pitchFamily="34" charset="0"/>
              </a:rPr>
              <a:t>אלאלפעמים</a:t>
            </a:r>
            <a:r>
              <a:rPr lang="he-IL" b="0" i="0" dirty="0">
                <a:solidFill>
                  <a:srgbClr val="000000"/>
                </a:solidFill>
                <a:effectLst/>
                <a:latin typeface="Arial" panose="020B0604020202020204" pitchFamily="34" charset="0"/>
              </a:rPr>
              <a:t> ניתן ורצוי ליצור אותה בצורה סמויה. ז"א נניח לדוגמא שמישהו לא רוצה </a:t>
            </a:r>
            <a:r>
              <a:rPr lang="he-IL" b="0" i="0" dirty="0" err="1">
                <a:solidFill>
                  <a:srgbClr val="000000"/>
                </a:solidFill>
                <a:effectLst/>
                <a:latin typeface="Arial" panose="020B0604020202020204" pitchFamily="34" charset="0"/>
              </a:rPr>
              <a:t>לחשובשהוא</a:t>
            </a:r>
            <a:r>
              <a:rPr lang="he-IL" b="0" i="0" dirty="0">
                <a:solidFill>
                  <a:srgbClr val="000000"/>
                </a:solidFill>
                <a:effectLst/>
                <a:latin typeface="Arial" panose="020B0604020202020204" pitchFamily="34" charset="0"/>
              </a:rPr>
              <a:t> פרימיטיבי. ונניח שברצונך לגרום לו לחשוב שהתנהגות כלשהי שלו היא </a:t>
            </a:r>
            <a:r>
              <a:rPr lang="he-IL" b="0" i="0" dirty="0" err="1">
                <a:solidFill>
                  <a:srgbClr val="000000"/>
                </a:solidFill>
                <a:effectLst/>
                <a:latin typeface="Arial" panose="020B0604020202020204" pitchFamily="34" charset="0"/>
              </a:rPr>
              <a:t>פרימיטיבית.ונניח</a:t>
            </a:r>
            <a:r>
              <a:rPr lang="he-IL" b="0" i="0" dirty="0">
                <a:solidFill>
                  <a:srgbClr val="000000"/>
                </a:solidFill>
                <a:effectLst/>
                <a:latin typeface="Arial" panose="020B0604020202020204" pitchFamily="34" charset="0"/>
              </a:rPr>
              <a:t> שאתה לא רוצה בצורה ישירה לומר לו שהוא פרימיטיבי אם הוא מתנהג כך.</a:t>
            </a:r>
          </a:p>
          <a:p>
            <a:pPr algn="r"/>
            <a:r>
              <a:rPr lang="he-IL" b="0" i="0" dirty="0">
                <a:solidFill>
                  <a:srgbClr val="000000"/>
                </a:solidFill>
                <a:effectLst/>
                <a:latin typeface="Arial" panose="020B0604020202020204" pitchFamily="34" charset="0"/>
              </a:rPr>
              <a:t>אז במקרה </a:t>
            </a:r>
            <a:r>
              <a:rPr lang="he-IL" b="0" i="0" dirty="0" err="1">
                <a:solidFill>
                  <a:srgbClr val="000000"/>
                </a:solidFill>
                <a:effectLst/>
                <a:latin typeface="Arial" panose="020B0604020202020204" pitchFamily="34" charset="0"/>
              </a:rPr>
              <a:t>כזהלדוגמא</a:t>
            </a:r>
            <a:r>
              <a:rPr lang="he-IL" b="0" i="0" dirty="0">
                <a:solidFill>
                  <a:srgbClr val="000000"/>
                </a:solidFill>
                <a:effectLst/>
                <a:latin typeface="Arial" panose="020B0604020202020204" pitchFamily="34" charset="0"/>
              </a:rPr>
              <a:t> באפשרותך להעביר לו מסר בצורה הבאה. 1 - מי שמתנהג כך, זה אומר עליו </a:t>
            </a:r>
            <a:r>
              <a:rPr lang="en-US" b="0" i="0" dirty="0">
                <a:solidFill>
                  <a:srgbClr val="000000"/>
                </a:solidFill>
                <a:effectLst/>
                <a:latin typeface="Arial" panose="020B0604020202020204" pitchFamily="34" charset="0"/>
              </a:rPr>
              <a:t>X</a:t>
            </a:r>
            <a:r>
              <a:rPr lang="he-IL" b="0" i="0" dirty="0">
                <a:solidFill>
                  <a:srgbClr val="000000"/>
                </a:solidFill>
                <a:effectLst/>
                <a:latin typeface="Arial" panose="020B0604020202020204" pitchFamily="34" charset="0"/>
              </a:rPr>
              <a:t>כלשהו. 2 - מי שה </a:t>
            </a:r>
            <a:r>
              <a:rPr lang="en-US" b="0" i="0" dirty="0">
                <a:solidFill>
                  <a:srgbClr val="000000"/>
                </a:solidFill>
                <a:effectLst/>
                <a:latin typeface="Arial" panose="020B0604020202020204" pitchFamily="34" charset="0"/>
              </a:rPr>
              <a:t>X </a:t>
            </a:r>
            <a:r>
              <a:rPr lang="he-IL" b="0" i="0" dirty="0">
                <a:solidFill>
                  <a:srgbClr val="000000"/>
                </a:solidFill>
                <a:effectLst/>
                <a:latin typeface="Arial" panose="020B0604020202020204" pitchFamily="34" charset="0"/>
              </a:rPr>
              <a:t>הזה נכון לגביו, זה אומר שהוא פרימיטיבי. ובכך בעצם אמרת לו </a:t>
            </a:r>
            <a:r>
              <a:rPr lang="he-IL" b="0" i="0" dirty="0" err="1">
                <a:solidFill>
                  <a:srgbClr val="000000"/>
                </a:solidFill>
                <a:effectLst/>
                <a:latin typeface="Arial" panose="020B0604020202020204" pitchFamily="34" charset="0"/>
              </a:rPr>
              <a:t>שמישמתנהג</a:t>
            </a:r>
            <a:r>
              <a:rPr lang="he-IL" b="0" i="0" dirty="0">
                <a:solidFill>
                  <a:srgbClr val="000000"/>
                </a:solidFill>
                <a:effectLst/>
                <a:latin typeface="Arial" panose="020B0604020202020204" pitchFamily="34" charset="0"/>
              </a:rPr>
              <a:t> כך, הוא פרימיטיבי. וכמובן שניתן לעשות את זה במסרים יותר עמוקים </a:t>
            </a:r>
            <a:r>
              <a:rPr lang="he-IL" b="0" i="0" dirty="0" err="1">
                <a:solidFill>
                  <a:srgbClr val="000000"/>
                </a:solidFill>
                <a:effectLst/>
                <a:latin typeface="Arial" panose="020B0604020202020204" pitchFamily="34" charset="0"/>
              </a:rPr>
              <a:t>וברמותיותר</a:t>
            </a:r>
            <a:r>
              <a:rPr lang="he-IL" b="0" i="0" dirty="0">
                <a:solidFill>
                  <a:srgbClr val="000000"/>
                </a:solidFill>
                <a:effectLst/>
                <a:latin typeface="Arial" panose="020B0604020202020204" pitchFamily="34" charset="0"/>
              </a:rPr>
              <a:t> עמוקות בתת המודע...</a:t>
            </a:r>
          </a:p>
          <a:p>
            <a:endParaRPr lang="he-IL" dirty="0"/>
          </a:p>
        </p:txBody>
      </p:sp>
      <p:sp>
        <p:nvSpPr>
          <p:cNvPr id="4" name="מציין מיקום של מספר שקופית 3">
            <a:extLst>
              <a:ext uri="{FF2B5EF4-FFF2-40B4-BE49-F238E27FC236}">
                <a16:creationId xmlns:a16="http://schemas.microsoft.com/office/drawing/2014/main" id="{B4D72093-7641-B598-E828-471A278EB914}"/>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706067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1AAC61-E242-307B-E5DB-2BE2BDAB430D}"/>
              </a:ext>
            </a:extLst>
          </p:cNvPr>
          <p:cNvSpPr>
            <a:spLocks noGrp="1"/>
          </p:cNvSpPr>
          <p:nvPr>
            <p:ph type="title"/>
          </p:nvPr>
        </p:nvSpPr>
        <p:spPr/>
        <p:txBody>
          <a:bodyPr/>
          <a:lstStyle/>
          <a:p>
            <a:endParaRPr lang="he-IL"/>
          </a:p>
        </p:txBody>
      </p:sp>
      <p:pic>
        <p:nvPicPr>
          <p:cNvPr id="7" name="מציין מיקום תוכן 6" descr="תמונה שמכילה טקסט, מכתב, צילום מסך, מסמך&#10;&#10;התיאור נוצר באופן אוטומטי">
            <a:extLst>
              <a:ext uri="{FF2B5EF4-FFF2-40B4-BE49-F238E27FC236}">
                <a16:creationId xmlns:a16="http://schemas.microsoft.com/office/drawing/2014/main" id="{20FA10E9-35C1-1C2F-30F7-4EB1907042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59415" y="941388"/>
            <a:ext cx="2361587" cy="5916612"/>
          </a:xfrm>
        </p:spPr>
      </p:pic>
      <p:sp>
        <p:nvSpPr>
          <p:cNvPr id="4" name="מציין מיקום של מספר שקופית 3">
            <a:extLst>
              <a:ext uri="{FF2B5EF4-FFF2-40B4-BE49-F238E27FC236}">
                <a16:creationId xmlns:a16="http://schemas.microsoft.com/office/drawing/2014/main" id="{4DABB5EB-9292-90C1-737E-6332B52F2292}"/>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771868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6977FB1-C215-86AA-2536-5509141D0698}"/>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C160B4AD-C155-CC74-AA95-BEA636745919}"/>
              </a:ext>
            </a:extLst>
          </p:cNvPr>
          <p:cNvSpPr>
            <a:spLocks noGrp="1"/>
          </p:cNvSpPr>
          <p:nvPr>
            <p:ph idx="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7D302EAC-9FA4-BCDB-F016-67CE44A0709B}"/>
              </a:ext>
            </a:extLst>
          </p:cNvPr>
          <p:cNvSpPr>
            <a:spLocks noGrp="1"/>
          </p:cNvSpPr>
          <p:nvPr>
            <p:ph type="sldNum" sz="quarter" idx="12"/>
          </p:nvPr>
        </p:nvSpPr>
        <p:spPr/>
        <p:txBody>
          <a:bodyPr/>
          <a:lstStyle/>
          <a:p>
            <a:fld id="{519954A3-9DFD-4C44-94BA-B95130A3BA1C}" type="slidenum">
              <a:rPr lang="en-US" smtClean="0"/>
              <a:t>26</a:t>
            </a:fld>
            <a:endParaRPr lang="en-US" dirty="0"/>
          </a:p>
        </p:txBody>
      </p:sp>
      <p:pic>
        <p:nvPicPr>
          <p:cNvPr id="6" name="תמונה 5">
            <a:extLst>
              <a:ext uri="{FF2B5EF4-FFF2-40B4-BE49-F238E27FC236}">
                <a16:creationId xmlns:a16="http://schemas.microsoft.com/office/drawing/2014/main" id="{5602FC31-BE6A-2431-4300-79E5E7120E1D}"/>
              </a:ext>
            </a:extLst>
          </p:cNvPr>
          <p:cNvPicPr>
            <a:picLocks noChangeAspect="1"/>
          </p:cNvPicPr>
          <p:nvPr/>
        </p:nvPicPr>
        <p:blipFill>
          <a:blip r:embed="rId2"/>
          <a:stretch>
            <a:fillRect/>
          </a:stretch>
        </p:blipFill>
        <p:spPr>
          <a:xfrm>
            <a:off x="744464" y="0"/>
            <a:ext cx="10703071" cy="6858000"/>
          </a:xfrm>
          <a:prstGeom prst="rect">
            <a:avLst/>
          </a:prstGeom>
        </p:spPr>
      </p:pic>
    </p:spTree>
    <p:extLst>
      <p:ext uri="{BB962C8B-B14F-4D97-AF65-F5344CB8AC3E}">
        <p14:creationId xmlns:p14="http://schemas.microsoft.com/office/powerpoint/2010/main" val="2862180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02F6DC-85A0-AA82-B87B-545B534E23E7}"/>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AE6C0C22-9BD4-B1C3-F2BF-58E1D5B09F18}"/>
              </a:ext>
            </a:extLst>
          </p:cNvPr>
          <p:cNvSpPr>
            <a:spLocks noGrp="1"/>
          </p:cNvSpPr>
          <p:nvPr>
            <p:ph idx="1"/>
          </p:nvPr>
        </p:nvSpPr>
        <p:spPr/>
        <p:txBody>
          <a:bodyPr>
            <a:normAutofit fontScale="85000" lnSpcReduction="10000"/>
          </a:bodyPr>
          <a:lstStyle/>
          <a:p>
            <a:r>
              <a:rPr lang="he-IL" dirty="0"/>
              <a:t>מצוות קימה בפני זקן. </a:t>
            </a:r>
          </a:p>
          <a:p>
            <a:r>
              <a:rPr lang="he-IL" dirty="0"/>
              <a:t>וראיתם אותו וזכרתם. </a:t>
            </a:r>
          </a:p>
          <a:p>
            <a:r>
              <a:rPr lang="he-IL" b="0" i="0" dirty="0">
                <a:solidFill>
                  <a:srgbClr val="141414"/>
                </a:solidFill>
                <a:effectLst/>
                <a:latin typeface="Segoe UI" panose="020B0502040204020203" pitchFamily="34" charset="0"/>
              </a:rPr>
              <a:t>היסוד נמצא בדברי רבנו יונה בשערי תשובה כי אם שב במרירות ודלפה עינו מתוגה כאשר יבוא יצרו שנית יזכור את עוצם היגון ולא יבוא שוב לידי חטא.</a:t>
            </a:r>
          </a:p>
          <a:p>
            <a:r>
              <a:rPr lang="he-IL" b="0" i="0" dirty="0">
                <a:solidFill>
                  <a:srgbClr val="141414"/>
                </a:solidFill>
                <a:effectLst/>
                <a:latin typeface="Segoe UI" panose="020B0502040204020203" pitchFamily="34" charset="0"/>
              </a:rPr>
              <a:t> מי שבילדותו התורה והמצוות התקשרו אצלו (אסוציאציה </a:t>
            </a:r>
            <a:r>
              <a:rPr lang="he-IL" b="0" i="0" dirty="0" err="1">
                <a:solidFill>
                  <a:srgbClr val="141414"/>
                </a:solidFill>
                <a:effectLst/>
                <a:latin typeface="Segoe UI" panose="020B0502040204020203" pitchFamily="34" charset="0"/>
              </a:rPr>
              <a:t>בלע"ז</a:t>
            </a:r>
            <a:r>
              <a:rPr lang="he-IL" b="0" i="0" dirty="0">
                <a:solidFill>
                  <a:srgbClr val="141414"/>
                </a:solidFill>
                <a:effectLst/>
                <a:latin typeface="Segoe UI" panose="020B0502040204020203" pitchFamily="34" charset="0"/>
              </a:rPr>
              <a:t>) לרגשות חיוביים ומשמחים, זה יכול לעמוד לו בבגרותו מול קשיים רבים, וכמאמרם ז"ל "חמין ושמן </a:t>
            </a:r>
            <a:r>
              <a:rPr lang="he-IL" b="0" i="0" dirty="0" err="1">
                <a:solidFill>
                  <a:srgbClr val="141414"/>
                </a:solidFill>
                <a:effectLst/>
                <a:latin typeface="Segoe UI" panose="020B0502040204020203" pitchFamily="34" charset="0"/>
              </a:rPr>
              <a:t>שסכתני</a:t>
            </a:r>
            <a:r>
              <a:rPr lang="he-IL" b="0" i="0" dirty="0">
                <a:solidFill>
                  <a:srgbClr val="141414"/>
                </a:solidFill>
                <a:effectLst/>
                <a:latin typeface="Segoe UI" panose="020B0502040204020203" pitchFamily="34" charset="0"/>
              </a:rPr>
              <a:t> אמי בילדותי הן עמדו לי בעת זקנותי" (חולין </a:t>
            </a:r>
            <a:r>
              <a:rPr lang="he-IL" b="0" i="0" dirty="0" err="1">
                <a:solidFill>
                  <a:srgbClr val="141414"/>
                </a:solidFill>
                <a:effectLst/>
                <a:latin typeface="Segoe UI" panose="020B0502040204020203" pitchFamily="34" charset="0"/>
              </a:rPr>
              <a:t>כד,ב</a:t>
            </a:r>
            <a:r>
              <a:rPr lang="he-IL" b="0" i="0" dirty="0">
                <a:solidFill>
                  <a:srgbClr val="141414"/>
                </a:solidFill>
                <a:effectLst/>
                <a:latin typeface="Segoe UI" panose="020B0502040204020203" pitchFamily="34" charset="0"/>
              </a:rPr>
              <a:t>).</a:t>
            </a:r>
            <a:endParaRPr lang="he-IL" b="0" dirty="0">
              <a:solidFill>
                <a:srgbClr val="141414"/>
              </a:solidFill>
              <a:latin typeface="Segoe UI" panose="020B0502040204020203" pitchFamily="34" charset="0"/>
            </a:endParaRPr>
          </a:p>
          <a:p>
            <a:endParaRPr lang="he-IL" b="0" dirty="0">
              <a:solidFill>
                <a:srgbClr val="141414"/>
              </a:solidFill>
              <a:latin typeface="Segoe UI" panose="020B0502040204020203" pitchFamily="34" charset="0"/>
            </a:endParaRPr>
          </a:p>
          <a:p>
            <a:r>
              <a:rPr lang="he-IL" b="0" i="0" u="sng" dirty="0">
                <a:solidFill>
                  <a:srgbClr val="141414"/>
                </a:solidFill>
                <a:effectLst/>
                <a:latin typeface="Segoe UI" panose="020B0502040204020203" pitchFamily="34" charset="0"/>
              </a:rPr>
              <a:t>צדיק כתמר יפרח עמ' רל"ט:</a:t>
            </a:r>
            <a:br>
              <a:rPr lang="he-IL" b="0" i="0" dirty="0">
                <a:solidFill>
                  <a:srgbClr val="141414"/>
                </a:solidFill>
                <a:effectLst/>
                <a:latin typeface="Segoe UI" panose="020B0502040204020203" pitchFamily="34" charset="0"/>
              </a:rPr>
            </a:br>
            <a:r>
              <a:rPr lang="he-IL" b="0" i="0" dirty="0">
                <a:solidFill>
                  <a:srgbClr val="141414"/>
                </a:solidFill>
                <a:effectLst/>
                <a:latin typeface="Segoe UI" panose="020B0502040204020203" pitchFamily="34" charset="0"/>
              </a:rPr>
              <a:t>ובאמת אצל קהל החסידים יש מדי פעם דבר שגורם להם התחדשות, ע"י ששמחים, אם זה סעודה שלישית או </a:t>
            </a:r>
            <a:r>
              <a:rPr lang="he-IL" b="0" i="0" dirty="0" err="1">
                <a:solidFill>
                  <a:srgbClr val="141414"/>
                </a:solidFill>
                <a:effectLst/>
                <a:latin typeface="Segoe UI" panose="020B0502040204020203" pitchFamily="34" charset="0"/>
              </a:rPr>
              <a:t>מלוה</a:t>
            </a:r>
            <a:r>
              <a:rPr lang="he-IL" b="0" i="0" dirty="0">
                <a:solidFill>
                  <a:srgbClr val="141414"/>
                </a:solidFill>
                <a:effectLst/>
                <a:latin typeface="Segoe UI" panose="020B0502040204020203" pitchFamily="34" charset="0"/>
              </a:rPr>
              <a:t> מלכה וכדו'.</a:t>
            </a:r>
            <a:br>
              <a:rPr lang="he-IL" b="0" i="0" dirty="0">
                <a:solidFill>
                  <a:srgbClr val="141414"/>
                </a:solidFill>
                <a:effectLst/>
                <a:latin typeface="Segoe UI" panose="020B0502040204020203" pitchFamily="34" charset="0"/>
              </a:rPr>
            </a:br>
            <a:r>
              <a:rPr lang="he-IL" b="0" i="0" dirty="0">
                <a:solidFill>
                  <a:srgbClr val="141414"/>
                </a:solidFill>
                <a:effectLst/>
                <a:latin typeface="Segoe UI" panose="020B0502040204020203" pitchFamily="34" charset="0"/>
              </a:rPr>
              <a:t>וסבור שבציבור שלנו חסר הדבר, שיגרום מדי פעם להתחדש ולהתרענן, שכן קשה הדבר לשבת כל הזמן רק ברצינות, [נעשים יבשים כך] צריך שיהיה גם שמחה מדי פעם.</a:t>
            </a:r>
            <a:br>
              <a:rPr lang="he-IL" b="0" i="0" dirty="0">
                <a:solidFill>
                  <a:srgbClr val="141414"/>
                </a:solidFill>
                <a:effectLst/>
                <a:latin typeface="Segoe UI" panose="020B0502040204020203" pitchFamily="34" charset="0"/>
              </a:rPr>
            </a:br>
            <a:r>
              <a:rPr lang="he-IL" b="0" i="0" dirty="0">
                <a:solidFill>
                  <a:srgbClr val="141414"/>
                </a:solidFill>
                <a:effectLst/>
                <a:latin typeface="Segoe UI" panose="020B0502040204020203" pitchFamily="34" charset="0"/>
              </a:rPr>
              <a:t>לכך עורר על כך בזמן האחרון שיש לראות להוסיף עוד דברים שיגרום להם שמחה.</a:t>
            </a:r>
            <a:br>
              <a:rPr lang="he-IL" b="0" i="0" dirty="0">
                <a:solidFill>
                  <a:srgbClr val="141414"/>
                </a:solidFill>
                <a:effectLst/>
                <a:latin typeface="Segoe UI" panose="020B0502040204020203" pitchFamily="34" charset="0"/>
              </a:rPr>
            </a:br>
            <a:r>
              <a:rPr lang="he-IL" b="0" i="0" dirty="0">
                <a:solidFill>
                  <a:srgbClr val="141414"/>
                </a:solidFill>
                <a:effectLst/>
                <a:latin typeface="Segoe UI" panose="020B0502040204020203" pitchFamily="34" charset="0"/>
              </a:rPr>
              <a:t>אמרו לפני רבינו שיש נוהג בישיבות שעושים דבר הנקרא עונג שבת, שבחורים יושבים ושרים ואומרים </a:t>
            </a:r>
            <a:r>
              <a:rPr lang="he-IL" b="0" i="0" dirty="0" err="1">
                <a:solidFill>
                  <a:srgbClr val="141414"/>
                </a:solidFill>
                <a:effectLst/>
                <a:latin typeface="Segoe UI" panose="020B0502040204020203" pitchFamily="34" charset="0"/>
              </a:rPr>
              <a:t>ד"ת</a:t>
            </a:r>
            <a:r>
              <a:rPr lang="he-IL" b="0" i="0" dirty="0">
                <a:solidFill>
                  <a:srgbClr val="141414"/>
                </a:solidFill>
                <a:effectLst/>
                <a:latin typeface="Segoe UI" panose="020B0502040204020203" pitchFamily="34" charset="0"/>
              </a:rPr>
              <a:t>, וטועמים דברי מתיקה, ורבינו קילס הדבר בהזדמנויות שונות.</a:t>
            </a:r>
            <a:br>
              <a:rPr lang="he-IL" b="0" i="0" dirty="0">
                <a:solidFill>
                  <a:srgbClr val="141414"/>
                </a:solidFill>
                <a:effectLst/>
                <a:latin typeface="Segoe UI" panose="020B0502040204020203" pitchFamily="34" charset="0"/>
              </a:rPr>
            </a:br>
            <a:r>
              <a:rPr lang="he-IL" b="0" i="0" dirty="0">
                <a:solidFill>
                  <a:srgbClr val="141414"/>
                </a:solidFill>
                <a:effectLst/>
                <a:latin typeface="Segoe UI" panose="020B0502040204020203" pitchFamily="34" charset="0"/>
              </a:rPr>
              <a:t>ושוב שמעתי עוד פעם מרבינו שבזמנינו צריך מזמן לזמן שיהיה קצת שמח, כמו כינוסי דרשו וכדו', מזמן לזמן צריך </a:t>
            </a:r>
            <a:r>
              <a:rPr lang="he-IL" b="0" i="0" dirty="0" err="1">
                <a:solidFill>
                  <a:srgbClr val="141414"/>
                </a:solidFill>
                <a:effectLst/>
                <a:latin typeface="Segoe UI" panose="020B0502040204020203" pitchFamily="34" charset="0"/>
              </a:rPr>
              <a:t>מלוה</a:t>
            </a:r>
            <a:r>
              <a:rPr lang="he-IL" b="0" i="0" dirty="0">
                <a:solidFill>
                  <a:srgbClr val="141414"/>
                </a:solidFill>
                <a:effectLst/>
                <a:latin typeface="Segoe UI" panose="020B0502040204020203" pitchFamily="34" charset="0"/>
              </a:rPr>
              <a:t> מלכה, חסר לבחור מזמן לזמן קצת שמחה, פעם בחודש או שש שבועות לעשות קצת שמחה, אף שהתורה משמחת, מ"מ חסר.</a:t>
            </a:r>
          </a:p>
          <a:p>
            <a:r>
              <a:rPr lang="he-IL" b="0" i="0" dirty="0">
                <a:solidFill>
                  <a:srgbClr val="141414"/>
                </a:solidFill>
                <a:effectLst/>
                <a:latin typeface="Segoe UI" panose="020B0502040204020203" pitchFamily="34" charset="0"/>
              </a:rPr>
              <a:t>אכן המשמעות הפשוטה של חינוך היא כניסת הילד לקיום המצוות. אבל הרי המטרה של החינוך היא לא שיקיים מצוות עכשיו, אלא </a:t>
            </a:r>
            <a:r>
              <a:rPr lang="he-IL" b="1" i="0" dirty="0">
                <a:solidFill>
                  <a:srgbClr val="141414"/>
                </a:solidFill>
                <a:effectLst/>
                <a:latin typeface="Segoe UI" panose="020B0502040204020203" pitchFamily="34" charset="0"/>
              </a:rPr>
              <a:t>שיתחבר נפשית</a:t>
            </a:r>
            <a:r>
              <a:rPr lang="he-IL" b="0" i="0" dirty="0">
                <a:solidFill>
                  <a:srgbClr val="141414"/>
                </a:solidFill>
                <a:effectLst/>
                <a:latin typeface="Segoe UI" panose="020B0502040204020203" pitchFamily="34" charset="0"/>
              </a:rPr>
              <a:t> למצוות באופן שיחפוץ לקיימם בהגיעו לכלל דעת, ומשכך מעשי החינוך צריכים </a:t>
            </a:r>
            <a:r>
              <a:rPr lang="he-IL" b="0" i="0" dirty="0" err="1">
                <a:solidFill>
                  <a:srgbClr val="141414"/>
                </a:solidFill>
                <a:effectLst/>
                <a:latin typeface="Segoe UI" panose="020B0502040204020203" pitchFamily="34" charset="0"/>
              </a:rPr>
              <a:t>להמדד</a:t>
            </a:r>
            <a:r>
              <a:rPr lang="he-IL" b="0" i="0" dirty="0">
                <a:solidFill>
                  <a:srgbClr val="141414"/>
                </a:solidFill>
                <a:effectLst/>
                <a:latin typeface="Segoe UI" panose="020B0502040204020203" pitchFamily="34" charset="0"/>
              </a:rPr>
              <a:t> לפי השגת התוצאה, ולא לפי מעלתם כשלעצמם. אדם הכופה על ילדו לקיים מצווה או ללמוד והילד בפנים מתמרד ומפתח רגש דחיה, הרי שמה שהוא עושה זה בדיוק ההיפך מחינוך, כיון שאולי הילד התחיל לקיים מצוות כעת אבל באיזשהו שלב הוא עלול להפסיק... ואילו אם שר ורוקד ואוכל </a:t>
            </a:r>
            <a:r>
              <a:rPr lang="he-IL" b="0" i="0" dirty="0" err="1">
                <a:solidFill>
                  <a:srgbClr val="141414"/>
                </a:solidFill>
                <a:effectLst/>
                <a:latin typeface="Segoe UI" panose="020B0502040204020203" pitchFamily="34" charset="0"/>
              </a:rPr>
              <a:t>לאטקעס</a:t>
            </a:r>
            <a:r>
              <a:rPr lang="he-IL" b="0" i="0" dirty="0">
                <a:solidFill>
                  <a:srgbClr val="141414"/>
                </a:solidFill>
                <a:effectLst/>
                <a:latin typeface="Segoe UI" panose="020B0502040204020203" pitchFamily="34" charset="0"/>
              </a:rPr>
              <a:t>, גם אם נניח שזה לא מצוה בעצם* - חינוך יש ויש.</a:t>
            </a:r>
            <a:br>
              <a:rPr lang="he-IL" dirty="0">
                <a:effectLst/>
              </a:rPr>
            </a:br>
            <a:endParaRPr lang="he-IL" dirty="0"/>
          </a:p>
          <a:p>
            <a:endParaRPr lang="he-IL" dirty="0"/>
          </a:p>
          <a:p>
            <a:endParaRPr lang="he-IL" dirty="0"/>
          </a:p>
        </p:txBody>
      </p:sp>
      <p:sp>
        <p:nvSpPr>
          <p:cNvPr id="4" name="מציין מיקום של מספר שקופית 3">
            <a:extLst>
              <a:ext uri="{FF2B5EF4-FFF2-40B4-BE49-F238E27FC236}">
                <a16:creationId xmlns:a16="http://schemas.microsoft.com/office/drawing/2014/main" id="{4399A19B-4DD7-B45F-29A3-CDD391465C69}"/>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145508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F4162-0139-EFF7-0B67-8D184BDC0D43}"/>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D30CCC66-ED06-5541-66FE-E903599470AF}"/>
              </a:ext>
            </a:extLst>
          </p:cNvPr>
          <p:cNvSpPr>
            <a:spLocks noGrp="1"/>
          </p:cNvSpPr>
          <p:nvPr>
            <p:ph type="title"/>
          </p:nvPr>
        </p:nvSpPr>
        <p:spPr/>
        <p:txBody>
          <a:bodyPr>
            <a:normAutofit/>
          </a:bodyPr>
          <a:lstStyle/>
          <a:p>
            <a:r>
              <a:rPr lang="he-IL" dirty="0"/>
              <a:t>עוגן</a:t>
            </a:r>
          </a:p>
        </p:txBody>
      </p:sp>
      <p:sp>
        <p:nvSpPr>
          <p:cNvPr id="3" name="מציין מיקום תוכן 2">
            <a:extLst>
              <a:ext uri="{FF2B5EF4-FFF2-40B4-BE49-F238E27FC236}">
                <a16:creationId xmlns:a16="http://schemas.microsoft.com/office/drawing/2014/main" id="{8C1480F5-57CF-35F5-D105-EA84149E4A78}"/>
              </a:ext>
            </a:extLst>
          </p:cNvPr>
          <p:cNvSpPr>
            <a:spLocks noGrp="1"/>
          </p:cNvSpPr>
          <p:nvPr>
            <p:ph idx="1"/>
          </p:nvPr>
        </p:nvSpPr>
        <p:spPr/>
        <p:txBody>
          <a:bodyPr>
            <a:normAutofit/>
          </a:bodyPr>
          <a:lstStyle/>
          <a:p>
            <a:r>
              <a:rPr lang="he-IL" b="1" i="0" dirty="0">
                <a:solidFill>
                  <a:srgbClr val="000000"/>
                </a:solidFill>
                <a:effectLst/>
                <a:latin typeface="Arial" panose="020B0604020202020204" pitchFamily="34" charset="0"/>
              </a:rPr>
              <a:t>אם חווינו רגש כלשהו בעבר, אנחנו מסוגלים לחוות אותו שוב כי הרגש הזה כבר מקודד במערכת העצבים שלנו.</a:t>
            </a:r>
            <a:endParaRPr lang="he-IL" b="0" i="0" dirty="0">
              <a:solidFill>
                <a:srgbClr val="000000"/>
              </a:solidFill>
              <a:effectLst/>
              <a:latin typeface="Arial" panose="020B0604020202020204" pitchFamily="34" charset="0"/>
            </a:endParaRPr>
          </a:p>
          <a:p>
            <a:r>
              <a:rPr lang="he-IL" b="0" i="0" dirty="0">
                <a:solidFill>
                  <a:srgbClr val="000000"/>
                </a:solidFill>
                <a:effectLst/>
                <a:latin typeface="Arial" panose="020B0604020202020204" pitchFamily="34" charset="0"/>
              </a:rPr>
              <a:t>כיצד מה הכלי שיעזור לי בזה? </a:t>
            </a:r>
          </a:p>
          <a:p>
            <a:r>
              <a:rPr lang="he-IL" b="0" i="0" dirty="0">
                <a:solidFill>
                  <a:srgbClr val="000000"/>
                </a:solidFill>
                <a:effectLst/>
                <a:latin typeface="Arial" panose="020B0604020202020204" pitchFamily="34" charset="0"/>
              </a:rPr>
              <a:t>הוא נקרא </a:t>
            </a:r>
            <a:r>
              <a:rPr lang="he-IL" b="1" i="0" dirty="0">
                <a:solidFill>
                  <a:srgbClr val="000000"/>
                </a:solidFill>
                <a:effectLst/>
                <a:latin typeface="Arial" panose="020B0604020202020204" pitchFamily="34" charset="0"/>
              </a:rPr>
              <a:t>"עוגן"</a:t>
            </a:r>
            <a:r>
              <a:rPr lang="he-IL" b="0" i="0" dirty="0">
                <a:solidFill>
                  <a:srgbClr val="000000"/>
                </a:solidFill>
                <a:effectLst/>
                <a:latin typeface="Arial" panose="020B0604020202020204" pitchFamily="34" charset="0"/>
              </a:rPr>
              <a:t> ומאפשר לך להפעיל רגש אצל אדם אחר מתי שאתה רוצה, בתנאי שהוא כבר הרגיש את זה בעבר, והרגש "מקודד" במערכת העצבים שלו.</a:t>
            </a:r>
          </a:p>
          <a:p>
            <a:r>
              <a:rPr lang="he-IL" b="0" i="0" dirty="0">
                <a:solidFill>
                  <a:srgbClr val="000000"/>
                </a:solidFill>
                <a:effectLst/>
                <a:latin typeface="Arial" panose="020B0604020202020204" pitchFamily="34" charset="0"/>
              </a:rPr>
              <a:t>"עוגן" הוא אותו "כפתור" או "פקודה" (תקרא לזה איך שנוח לך), שפונה למערכת העצבית של האדם, ומפעיל שם רגש, מחשבה, תיאור או תמונה, שמקושרים לעוגן הזה.</a:t>
            </a:r>
          </a:p>
          <a:p>
            <a:r>
              <a:rPr lang="he-IL" b="0" i="0" dirty="0">
                <a:solidFill>
                  <a:srgbClr val="000000"/>
                </a:solidFill>
                <a:effectLst/>
                <a:latin typeface="Arial" panose="020B0604020202020204" pitchFamily="34" charset="0"/>
              </a:rPr>
              <a:t>זאת אומרת שכאשר אתה מפעיל עוגן, אתה נותן למערכת העצבית של האדם </a:t>
            </a:r>
            <a:r>
              <a:rPr lang="he-IL" b="0" i="0" u="sng" dirty="0">
                <a:solidFill>
                  <a:srgbClr val="000000"/>
                </a:solidFill>
                <a:effectLst/>
                <a:latin typeface="Arial" panose="020B0604020202020204" pitchFamily="34" charset="0"/>
              </a:rPr>
              <a:t>פקודה</a:t>
            </a:r>
            <a:r>
              <a:rPr lang="he-IL" b="0" i="0" dirty="0">
                <a:solidFill>
                  <a:srgbClr val="000000"/>
                </a:solidFill>
                <a:effectLst/>
                <a:latin typeface="Arial" panose="020B0604020202020204" pitchFamily="34" charset="0"/>
              </a:rPr>
              <a:t> להרגיש משהו, להיזכר בתמונה או ברצף מחשבות ותיאורים.</a:t>
            </a:r>
          </a:p>
          <a:p>
            <a:r>
              <a:rPr lang="he-IL" b="1" i="0" dirty="0">
                <a:solidFill>
                  <a:srgbClr val="000000"/>
                </a:solidFill>
                <a:effectLst/>
                <a:latin typeface="Arial" panose="020B0604020202020204" pitchFamily="34" charset="0"/>
              </a:rPr>
              <a:t>שימוש בעוגנים מאפשר לך לקבל גישה ישירה לרגשות, </a:t>
            </a:r>
            <a:r>
              <a:rPr lang="he-IL" b="1" i="0" dirty="0" err="1">
                <a:solidFill>
                  <a:srgbClr val="000000"/>
                </a:solidFill>
                <a:effectLst/>
                <a:latin typeface="Arial" panose="020B0604020202020204" pitchFamily="34" charset="0"/>
              </a:rPr>
              <a:t>זכרונות</a:t>
            </a:r>
            <a:r>
              <a:rPr lang="he-IL" b="1" i="0" dirty="0">
                <a:solidFill>
                  <a:srgbClr val="000000"/>
                </a:solidFill>
                <a:effectLst/>
                <a:latin typeface="Arial" panose="020B0604020202020204" pitchFamily="34" charset="0"/>
              </a:rPr>
              <a:t> ומחשבות של אדם אחר או אפילו שלך.</a:t>
            </a:r>
            <a:endParaRPr lang="he-IL" b="0" i="0" dirty="0">
              <a:solidFill>
                <a:srgbClr val="000000"/>
              </a:solidFill>
              <a:effectLst/>
              <a:latin typeface="Arial" panose="020B0604020202020204" pitchFamily="34" charset="0"/>
            </a:endParaRPr>
          </a:p>
          <a:p>
            <a:endParaRPr lang="he-IL" b="0" i="0" dirty="0">
              <a:solidFill>
                <a:srgbClr val="000000"/>
              </a:solidFill>
              <a:effectLst/>
              <a:latin typeface="Arial" panose="020B0604020202020204" pitchFamily="34" charset="0"/>
            </a:endParaRPr>
          </a:p>
          <a:p>
            <a:endParaRPr lang="he-IL" dirty="0"/>
          </a:p>
        </p:txBody>
      </p:sp>
      <p:sp>
        <p:nvSpPr>
          <p:cNvPr id="4" name="מציין מיקום של מספר שקופית 3">
            <a:extLst>
              <a:ext uri="{FF2B5EF4-FFF2-40B4-BE49-F238E27FC236}">
                <a16:creationId xmlns:a16="http://schemas.microsoft.com/office/drawing/2014/main" id="{EFDD8628-D62C-07A1-0218-A2B5AEFE1FED}"/>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727087058"/>
      </p:ext>
    </p:extLst>
  </p:cSld>
  <p:clrMapOvr>
    <a:masterClrMapping/>
  </p:clrMapOvr>
  <mc:AlternateContent xmlns:mc="http://schemas.openxmlformats.org/markup-compatibility/2006" xmlns:p14="http://schemas.microsoft.com/office/powerpoint/2010/main">
    <mc:Choice Requires="p14">
      <p:transition spd="slow" p14:dur="2000" advTm="52955"/>
    </mc:Choice>
    <mc:Fallback xmlns="">
      <p:transition spd="slow" advTm="52955"/>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812CA-19D8-A399-324E-AF4F5C19B6D8}"/>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7FAECF8E-9B15-0437-8213-5FA77FB27FE3}"/>
              </a:ext>
            </a:extLst>
          </p:cNvPr>
          <p:cNvSpPr>
            <a:spLocks noGrp="1"/>
          </p:cNvSpPr>
          <p:nvPr>
            <p:ph type="title"/>
          </p:nvPr>
        </p:nvSpPr>
        <p:spPr/>
        <p:txBody>
          <a:bodyPr/>
          <a:lstStyle/>
          <a:p>
            <a:r>
              <a:rPr lang="he-IL" dirty="0"/>
              <a:t>עוגנים טבעיים</a:t>
            </a:r>
          </a:p>
        </p:txBody>
      </p:sp>
      <p:sp>
        <p:nvSpPr>
          <p:cNvPr id="3" name="מציין מיקום תוכן 2">
            <a:extLst>
              <a:ext uri="{FF2B5EF4-FFF2-40B4-BE49-F238E27FC236}">
                <a16:creationId xmlns:a16="http://schemas.microsoft.com/office/drawing/2014/main" id="{370DAE31-C9CD-650C-3DEE-1AB4D1AB3CDD}"/>
              </a:ext>
            </a:extLst>
          </p:cNvPr>
          <p:cNvSpPr>
            <a:spLocks noGrp="1"/>
          </p:cNvSpPr>
          <p:nvPr>
            <p:ph idx="1"/>
          </p:nvPr>
        </p:nvSpPr>
        <p:spPr/>
        <p:txBody>
          <a:bodyPr/>
          <a:lstStyle/>
          <a:p>
            <a:r>
              <a:rPr lang="he-IL" b="0" i="0" dirty="0">
                <a:solidFill>
                  <a:srgbClr val="000000"/>
                </a:solidFill>
                <a:effectLst/>
                <a:latin typeface="Arial" panose="020B0604020202020204" pitchFamily="34" charset="0"/>
              </a:rPr>
              <a:t>החיים שלנו מלאים בעוגנים "</a:t>
            </a:r>
            <a:r>
              <a:rPr lang="he-IL" b="0" i="0" u="sng" dirty="0">
                <a:solidFill>
                  <a:srgbClr val="000000"/>
                </a:solidFill>
                <a:effectLst/>
                <a:latin typeface="Arial" panose="020B0604020202020204" pitchFamily="34" charset="0"/>
              </a:rPr>
              <a:t>טבעיים</a:t>
            </a:r>
            <a:r>
              <a:rPr lang="he-IL" b="0" i="0" dirty="0">
                <a:solidFill>
                  <a:srgbClr val="000000"/>
                </a:solidFill>
                <a:effectLst/>
                <a:latin typeface="Arial" panose="020B0604020202020204" pitchFamily="34" charset="0"/>
              </a:rPr>
              <a:t>" פשוטים שנוצרים תוך כדי החיים. שיר </a:t>
            </a:r>
            <a:r>
              <a:rPr lang="he-IL" b="0" i="0" dirty="0" err="1">
                <a:solidFill>
                  <a:srgbClr val="000000"/>
                </a:solidFill>
                <a:effectLst/>
                <a:latin typeface="Arial" panose="020B0604020202020204" pitchFamily="34" charset="0"/>
              </a:rPr>
              <a:t>מסויים</a:t>
            </a:r>
            <a:r>
              <a:rPr lang="he-IL" b="0" i="0" dirty="0">
                <a:solidFill>
                  <a:srgbClr val="000000"/>
                </a:solidFill>
                <a:effectLst/>
                <a:latin typeface="Arial" panose="020B0604020202020204" pitchFamily="34" charset="0"/>
              </a:rPr>
              <a:t> יכול להעלות בך רגשי נוסטלגיה ולהזכיר לך </a:t>
            </a:r>
            <a:r>
              <a:rPr lang="he-IL" b="0" i="0" dirty="0" err="1">
                <a:solidFill>
                  <a:srgbClr val="000000"/>
                </a:solidFill>
                <a:effectLst/>
                <a:latin typeface="Arial" panose="020B0604020202020204" pitchFamily="34" charset="0"/>
              </a:rPr>
              <a:t>ארוע</a:t>
            </a:r>
            <a:r>
              <a:rPr lang="he-IL" b="0" i="0" dirty="0">
                <a:solidFill>
                  <a:srgbClr val="000000"/>
                </a:solidFill>
                <a:effectLst/>
                <a:latin typeface="Arial" panose="020B0604020202020204" pitchFamily="34" charset="0"/>
              </a:rPr>
              <a:t> מהעבר. שיר כזה הוא עוגן לרגשות האלה. כל פעם שאתה שומע אותו, המערכת העצבית שלך מקבלת "</a:t>
            </a:r>
            <a:r>
              <a:rPr lang="he-IL" b="0" i="0" u="sng" dirty="0">
                <a:solidFill>
                  <a:srgbClr val="000000"/>
                </a:solidFill>
                <a:effectLst/>
                <a:latin typeface="Arial" panose="020B0604020202020204" pitchFamily="34" charset="0"/>
              </a:rPr>
              <a:t>פקודה</a:t>
            </a:r>
            <a:r>
              <a:rPr lang="he-IL" b="0" i="0" dirty="0">
                <a:solidFill>
                  <a:srgbClr val="000000"/>
                </a:solidFill>
                <a:effectLst/>
                <a:latin typeface="Arial" panose="020B0604020202020204" pitchFamily="34" charset="0"/>
              </a:rPr>
              <a:t>" להעלות בזיכרון תמונה, רגש או חוויה מהעבר.</a:t>
            </a:r>
          </a:p>
          <a:p>
            <a:r>
              <a:rPr lang="he-IL" b="0" i="0" dirty="0">
                <a:solidFill>
                  <a:srgbClr val="000000"/>
                </a:solidFill>
                <a:effectLst/>
                <a:latin typeface="Arial" panose="020B0604020202020204" pitchFamily="34" charset="0"/>
              </a:rPr>
              <a:t>אפילו נושאי שיחה לעיתים מהווים עוגן לחוויות חזקות שהיו בעבר והתקשרו לנושאים אלה, לרגשות שחווית אז ולתמונות שעולות בזיכרון כאשר נושא השיחה הזה עולה...</a:t>
            </a:r>
          </a:p>
          <a:p>
            <a:r>
              <a:rPr lang="he-IL" b="0" i="0" dirty="0">
                <a:solidFill>
                  <a:srgbClr val="000000"/>
                </a:solidFill>
                <a:effectLst/>
                <a:latin typeface="Arial" panose="020B0604020202020204" pitchFamily="34" charset="0"/>
              </a:rPr>
              <a:t>אצל אנשים שעברו טראומה, ישנן מילים, תמונות או קולות שמהווים "עוגן" לרגש שלילי מאוד חזק. לכן משתדלים להרחיק את האנשים האלה מכל הגירויים שעלולים לתת "פקודה" למערכת העצבית שלהם "להפעיל" מחדש את הרגשות הנוראיים שחוו.</a:t>
            </a:r>
          </a:p>
          <a:p>
            <a:r>
              <a:rPr lang="he-IL" b="0" i="0" dirty="0">
                <a:solidFill>
                  <a:srgbClr val="000000"/>
                </a:solidFill>
                <a:effectLst/>
                <a:latin typeface="Arial" panose="020B0604020202020204" pitchFamily="34" charset="0"/>
              </a:rPr>
              <a:t>כל אלו דוגמאות לעוגנים </a:t>
            </a:r>
            <a:r>
              <a:rPr lang="he-IL" b="0" i="0" u="sng" dirty="0">
                <a:solidFill>
                  <a:srgbClr val="000000"/>
                </a:solidFill>
                <a:effectLst/>
                <a:latin typeface="Arial" panose="020B0604020202020204" pitchFamily="34" charset="0"/>
              </a:rPr>
              <a:t>טבעיים</a:t>
            </a:r>
            <a:r>
              <a:rPr lang="he-IL" b="0" i="0" dirty="0">
                <a:solidFill>
                  <a:srgbClr val="000000"/>
                </a:solidFill>
                <a:effectLst/>
                <a:latin typeface="Arial" panose="020B0604020202020204" pitchFamily="34" charset="0"/>
              </a:rPr>
              <a:t> שנוצרים בנו יום-יום, בצורה בלתי מודעת ובלתי מתוכננת. זה קורה בגלל שהמערכת העצבית שלנו רושמת ו"זוכרת" את כל הרגשות, התמונות והקולות שהיוו עבורנו חוויה חזקה (כמו כאב, שמחה, התלהבות, גירוי, התאהבות...).</a:t>
            </a:r>
          </a:p>
          <a:p>
            <a:r>
              <a:rPr lang="he-IL" b="1" i="0" dirty="0">
                <a:solidFill>
                  <a:srgbClr val="000000"/>
                </a:solidFill>
                <a:effectLst/>
                <a:latin typeface="Arial" panose="020B0604020202020204" pitchFamily="34" charset="0"/>
              </a:rPr>
              <a:t>בנוסף לעוגנים טבעיים, קיימים גם עוגנים </a:t>
            </a:r>
            <a:r>
              <a:rPr lang="he-IL" b="1" i="0" u="sng" dirty="0">
                <a:solidFill>
                  <a:srgbClr val="000000"/>
                </a:solidFill>
                <a:effectLst/>
                <a:latin typeface="Arial" panose="020B0604020202020204" pitchFamily="34" charset="0"/>
              </a:rPr>
              <a:t>מלאכותיים</a:t>
            </a:r>
            <a:r>
              <a:rPr lang="he-IL" b="1" i="0" dirty="0">
                <a:solidFill>
                  <a:srgbClr val="000000"/>
                </a:solidFill>
                <a:effectLst/>
                <a:latin typeface="Arial" panose="020B0604020202020204" pitchFamily="34" charset="0"/>
              </a:rPr>
              <a:t>.</a:t>
            </a:r>
            <a:endParaRPr lang="he-IL" b="0" i="0" dirty="0">
              <a:solidFill>
                <a:srgbClr val="000000"/>
              </a:solidFill>
              <a:effectLst/>
              <a:latin typeface="Arial" panose="020B0604020202020204" pitchFamily="34" charset="0"/>
            </a:endParaRPr>
          </a:p>
          <a:p>
            <a:r>
              <a:rPr lang="he-IL" b="0" i="0" dirty="0">
                <a:solidFill>
                  <a:srgbClr val="000000"/>
                </a:solidFill>
                <a:effectLst/>
                <a:latin typeface="Arial" panose="020B0604020202020204" pitchFamily="34" charset="0"/>
              </a:rPr>
              <a:t>אלו </a:t>
            </a:r>
            <a:r>
              <a:rPr lang="he-IL" b="1" i="0" dirty="0">
                <a:solidFill>
                  <a:srgbClr val="000000"/>
                </a:solidFill>
                <a:effectLst/>
                <a:latin typeface="Arial" panose="020B0604020202020204" pitchFamily="34" charset="0"/>
              </a:rPr>
              <a:t>"כפתורים"</a:t>
            </a:r>
            <a:r>
              <a:rPr lang="he-IL" b="0" i="0" dirty="0">
                <a:solidFill>
                  <a:srgbClr val="000000"/>
                </a:solidFill>
                <a:effectLst/>
                <a:latin typeface="Arial" panose="020B0604020202020204" pitchFamily="34" charset="0"/>
              </a:rPr>
              <a:t> שאנחנו יוצרים </a:t>
            </a:r>
            <a:r>
              <a:rPr lang="he-IL" b="0" i="0" u="sng" dirty="0">
                <a:solidFill>
                  <a:srgbClr val="000000"/>
                </a:solidFill>
                <a:effectLst/>
                <a:latin typeface="Arial" panose="020B0604020202020204" pitchFamily="34" charset="0"/>
              </a:rPr>
              <a:t>בכוונה</a:t>
            </a:r>
            <a:r>
              <a:rPr lang="he-IL" b="0" i="0" dirty="0">
                <a:solidFill>
                  <a:srgbClr val="000000"/>
                </a:solidFill>
                <a:effectLst/>
                <a:latin typeface="Arial" panose="020B0604020202020204" pitchFamily="34" charset="0"/>
              </a:rPr>
              <a:t> כדי לקבל גישה לרגשות של אדם אחר (רגשות שהוא מכיר).</a:t>
            </a:r>
          </a:p>
          <a:p>
            <a:endParaRPr lang="he-IL" dirty="0"/>
          </a:p>
        </p:txBody>
      </p:sp>
      <p:sp>
        <p:nvSpPr>
          <p:cNvPr id="4" name="מציין מיקום של מספר שקופית 3">
            <a:extLst>
              <a:ext uri="{FF2B5EF4-FFF2-40B4-BE49-F238E27FC236}">
                <a16:creationId xmlns:a16="http://schemas.microsoft.com/office/drawing/2014/main" id="{AB19053B-FA67-EA98-0DCF-AF3A9197A893}"/>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29</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56739789"/>
      </p:ext>
    </p:extLst>
  </p:cSld>
  <p:clrMapOvr>
    <a:masterClrMapping/>
  </p:clrMapOvr>
  <mc:AlternateContent xmlns:mc="http://schemas.openxmlformats.org/markup-compatibility/2006" xmlns:p14="http://schemas.microsoft.com/office/powerpoint/2010/main">
    <mc:Choice Requires="p14">
      <p:transition spd="slow" p14:dur="2000" advTm="98046"/>
    </mc:Choice>
    <mc:Fallback xmlns="">
      <p:transition spd="slow" advTm="9804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31AF257-E331-DE0B-7E12-D328A8475D68}"/>
              </a:ext>
            </a:extLst>
          </p:cNvPr>
          <p:cNvSpPr>
            <a:spLocks noGrp="1"/>
          </p:cNvSpPr>
          <p:nvPr>
            <p:ph type="title"/>
          </p:nvPr>
        </p:nvSpPr>
        <p:spPr/>
        <p:txBody>
          <a:bodyPr/>
          <a:lstStyle/>
          <a:p>
            <a:r>
              <a:rPr lang="he-IL" b="1" i="0" dirty="0">
                <a:solidFill>
                  <a:srgbClr val="CB2E35"/>
                </a:solidFill>
                <a:effectLst/>
                <a:latin typeface="Arial" panose="020B0604020202020204" pitchFamily="34" charset="0"/>
              </a:rPr>
              <a:t>המדריך לשימוש בעוגנים</a:t>
            </a:r>
            <a:endParaRPr lang="he-IL" dirty="0"/>
          </a:p>
        </p:txBody>
      </p:sp>
      <p:sp>
        <p:nvSpPr>
          <p:cNvPr id="3" name="מציין מיקום תוכן 2">
            <a:extLst>
              <a:ext uri="{FF2B5EF4-FFF2-40B4-BE49-F238E27FC236}">
                <a16:creationId xmlns:a16="http://schemas.microsoft.com/office/drawing/2014/main" id="{C9E1B17D-65B8-A181-FCE9-AE0A6267FBBF}"/>
              </a:ext>
            </a:extLst>
          </p:cNvPr>
          <p:cNvSpPr>
            <a:spLocks noGrp="1"/>
          </p:cNvSpPr>
          <p:nvPr>
            <p:ph idx="1"/>
          </p:nvPr>
        </p:nvSpPr>
        <p:spPr/>
        <p:txBody>
          <a:bodyPr>
            <a:normAutofit lnSpcReduction="10000"/>
          </a:bodyPr>
          <a:lstStyle/>
          <a:p>
            <a:r>
              <a:rPr lang="he-IL" b="0" i="0" dirty="0">
                <a:solidFill>
                  <a:srgbClr val="000000"/>
                </a:solidFill>
                <a:effectLst/>
                <a:latin typeface="Arial" panose="020B0604020202020204" pitchFamily="34" charset="0"/>
              </a:rPr>
              <a:t>עוגנים, זהו אולי אחד הכלים החזקים ביותר, לשליטה במצבו הפנימי של האדם.</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כלי שמאפשר לקבל גישה לרגשות, אמוציות ומחשבות שהאדם חווה.</a:t>
            </a:r>
          </a:p>
          <a:p>
            <a:r>
              <a:rPr lang="he-IL" b="0" i="0" dirty="0">
                <a:solidFill>
                  <a:srgbClr val="000000"/>
                </a:solidFill>
                <a:effectLst/>
                <a:latin typeface="Arial" panose="020B0604020202020204" pitchFamily="34" charset="0"/>
              </a:rPr>
              <a:t>כדי להבין כיצד עובדים עוגנים, חשוב להבין כיצד הגוף של האדם, שומר </a:t>
            </a:r>
            <a:r>
              <a:rPr lang="he-IL" b="0" i="0" dirty="0" err="1">
                <a:solidFill>
                  <a:srgbClr val="000000"/>
                </a:solidFill>
                <a:effectLst/>
                <a:latin typeface="Arial" panose="020B0604020202020204" pitchFamily="34" charset="0"/>
              </a:rPr>
              <a:t>בזכרונו</a:t>
            </a:r>
            <a:r>
              <a:rPr lang="he-IL" b="0" i="0" dirty="0">
                <a:solidFill>
                  <a:srgbClr val="000000"/>
                </a:solidFill>
                <a:effectLst/>
                <a:latin typeface="Arial" panose="020B0604020202020204" pitchFamily="34" charset="0"/>
              </a:rPr>
              <a:t> מידע.</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אנו מקבלים מידע בעזרת חמשת החושים. </a:t>
            </a:r>
          </a:p>
          <a:p>
            <a:r>
              <a:rPr lang="he-IL" b="0" i="0" dirty="0">
                <a:solidFill>
                  <a:srgbClr val="000000"/>
                </a:solidFill>
                <a:effectLst/>
                <a:highlight>
                  <a:srgbClr val="FFFF00"/>
                </a:highlight>
                <a:latin typeface="Arial" panose="020B0604020202020204" pitchFamily="34" charset="0"/>
              </a:rPr>
              <a:t>בנוסף לחושים אלה, אנו חווים אמוציות, רגש, מחשבות. הגוף שלנו כל הזמן קולט את המידע הזה במקביל. </a:t>
            </a:r>
            <a:r>
              <a:rPr lang="he-IL" b="0" i="0" dirty="0">
                <a:solidFill>
                  <a:srgbClr val="000000"/>
                </a:solidFill>
                <a:effectLst/>
                <a:latin typeface="Arial" panose="020B0604020202020204" pitchFamily="34" charset="0"/>
              </a:rPr>
              <a:t>ז"א בזמן שאנחנו שומעים מוזיקה, יש לנו מחשבות כלשהן, אנו רואים משהו, חווים איזשהן אמוציות </a:t>
            </a:r>
            <a:r>
              <a:rPr lang="he-IL" b="0" i="0" dirty="0" err="1">
                <a:solidFill>
                  <a:srgbClr val="000000"/>
                </a:solidFill>
                <a:effectLst/>
                <a:latin typeface="Arial" panose="020B0604020202020204" pitchFamily="34" charset="0"/>
              </a:rPr>
              <a:t>וכו</a:t>
            </a:r>
            <a:r>
              <a:rPr lang="he-IL" b="0" i="0" dirty="0">
                <a:solidFill>
                  <a:srgbClr val="000000"/>
                </a:solidFill>
                <a:effectLst/>
                <a:latin typeface="Arial" panose="020B0604020202020204" pitchFamily="34" charset="0"/>
              </a:rPr>
              <a:t>'. </a:t>
            </a:r>
          </a:p>
          <a:p>
            <a:r>
              <a:rPr lang="he-IL" i="0" dirty="0">
                <a:solidFill>
                  <a:srgbClr val="000000"/>
                </a:solidFill>
                <a:effectLst/>
                <a:latin typeface="Arial" panose="020B0604020202020204" pitchFamily="34" charset="0"/>
              </a:rPr>
              <a:t>כל התחושות האלה נשמרות </a:t>
            </a:r>
            <a:r>
              <a:rPr lang="he-IL" i="0" dirty="0" err="1">
                <a:solidFill>
                  <a:srgbClr val="000000"/>
                </a:solidFill>
                <a:effectLst/>
                <a:latin typeface="Arial" panose="020B0604020202020204" pitchFamily="34" charset="0"/>
              </a:rPr>
              <a:t>בזכרון</a:t>
            </a:r>
            <a:r>
              <a:rPr lang="he-IL" i="0" dirty="0">
                <a:solidFill>
                  <a:srgbClr val="000000"/>
                </a:solidFill>
                <a:effectLst/>
                <a:latin typeface="Arial" panose="020B0604020202020204" pitchFamily="34" charset="0"/>
              </a:rPr>
              <a:t> הגוף בו זמנית.</a:t>
            </a:r>
          </a:p>
          <a:p>
            <a:r>
              <a:rPr lang="he-IL" b="0" i="0" dirty="0">
                <a:solidFill>
                  <a:srgbClr val="000000"/>
                </a:solidFill>
                <a:effectLst/>
                <a:latin typeface="Arial" panose="020B0604020202020204" pitchFamily="34" charset="0"/>
              </a:rPr>
              <a:t>כדי להבין ביתר בירור כיצד נוצר עוגן, ניקח דוגמא פשוטה - אכילת שזיף ומוזיקה.</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בזמן שאתה אוכל שזיף, אתה מרגיש </a:t>
            </a:r>
            <a:r>
              <a:rPr lang="he-IL" b="0" i="0" dirty="0" err="1">
                <a:solidFill>
                  <a:srgbClr val="000000"/>
                </a:solidFill>
                <a:effectLst/>
                <a:latin typeface="Arial" panose="020B0604020202020204" pitchFamily="34" charset="0"/>
              </a:rPr>
              <a:t>באצבעותך</a:t>
            </a:r>
            <a:r>
              <a:rPr lang="he-IL" b="0" i="0" dirty="0">
                <a:solidFill>
                  <a:srgbClr val="000000"/>
                </a:solidFill>
                <a:effectLst/>
                <a:latin typeface="Arial" panose="020B0604020202020204" pitchFamily="34" charset="0"/>
              </a:rPr>
              <a:t> את המגע שלו, בתוך הפה אתה מרגיש את הטעם המריר-מתוק שלו, רואה את הפרי בעיניך ושומע שיר חדש שמאוד מוצא חן בעינייך. </a:t>
            </a:r>
          </a:p>
          <a:p>
            <a:r>
              <a:rPr lang="he-IL" b="0" i="0" dirty="0">
                <a:solidFill>
                  <a:srgbClr val="000000"/>
                </a:solidFill>
                <a:effectLst/>
                <a:latin typeface="Arial" panose="020B0604020202020204" pitchFamily="34" charset="0"/>
              </a:rPr>
              <a:t>כל המידע הזה נקלט על ידך ומקושר אחד לשני (סוג של קישור אסוציאטיבי).</a:t>
            </a:r>
            <a:br>
              <a:rPr lang="he-IL" b="0" i="0" dirty="0">
                <a:solidFill>
                  <a:srgbClr val="000000"/>
                </a:solidFill>
                <a:effectLst/>
                <a:latin typeface="Arial" panose="020B0604020202020204" pitchFamily="34" charset="0"/>
              </a:rPr>
            </a:br>
            <a:r>
              <a:rPr lang="he-IL" i="0" dirty="0">
                <a:solidFill>
                  <a:srgbClr val="000000"/>
                </a:solidFill>
                <a:effectLst/>
                <a:latin typeface="Arial" panose="020B0604020202020204" pitchFamily="34" charset="0"/>
              </a:rPr>
              <a:t>כך נוצר עוגן או מספר עוגנים בו זמנית.</a:t>
            </a:r>
          </a:p>
          <a:p>
            <a:r>
              <a:rPr lang="he-IL" b="0" i="0" dirty="0">
                <a:solidFill>
                  <a:srgbClr val="000000"/>
                </a:solidFill>
                <a:effectLst/>
                <a:latin typeface="Arial" panose="020B0604020202020204" pitchFamily="34" charset="0"/>
              </a:rPr>
              <a:t>כדי להפעיל עוגן, יש לחוש מחדש את אחת התחושות שחשת בעבר וכך יופעלו שאר התחושות המקושרות אליה.</a:t>
            </a:r>
          </a:p>
          <a:p>
            <a:r>
              <a:rPr lang="he-IL" b="0" i="0" dirty="0">
                <a:solidFill>
                  <a:srgbClr val="000000"/>
                </a:solidFill>
                <a:effectLst/>
                <a:latin typeface="Arial" panose="020B0604020202020204" pitchFamily="34" charset="0"/>
              </a:rPr>
              <a:t>לדוגמא, למחרת אתה מחליט שוב לשמוע את השיר ששמעת אתמול בזמן שאכלת שזיף. ברגע שאתה מתחיל לשמוע אותו, עולה בראשך הזיכרון שקושר לתהליך הזה. אתה נזכר בשזיף, מרגיש בפה את טעם שלו. לחליפין, יכולת שוב לקחת שזיף, או אפילו רק לחשוב עליו וזה היה מעלה בך את הזיכרון של המוזיקה ששמעת, את הטעם של השזיף, המראה והמגע שלו. ואולי בפעם הבאה, שתוכל שזיף, תיזכר במאמר זה :)</a:t>
            </a:r>
            <a:br>
              <a:rPr lang="he-IL" b="0" i="0" dirty="0">
                <a:solidFill>
                  <a:srgbClr val="000000"/>
                </a:solidFill>
                <a:effectLst/>
                <a:latin typeface="Arial" panose="020B0604020202020204" pitchFamily="34" charset="0"/>
              </a:rPr>
            </a:br>
            <a:r>
              <a:rPr lang="he-IL" i="0" dirty="0">
                <a:solidFill>
                  <a:srgbClr val="000000"/>
                </a:solidFill>
                <a:effectLst/>
                <a:latin typeface="Arial" panose="020B0604020202020204" pitchFamily="34" charset="0"/>
              </a:rPr>
              <a:t>זהו תהליך טבעי של גירוי ותגובה, שמתרחש כל הזמן. בפיזיולוגיה זה מכונה רפלקס.</a:t>
            </a:r>
          </a:p>
          <a:p>
            <a:endParaRPr lang="he-IL" dirty="0"/>
          </a:p>
        </p:txBody>
      </p:sp>
      <p:sp>
        <p:nvSpPr>
          <p:cNvPr id="4" name="מציין מיקום של מספר שקופית 3">
            <a:extLst>
              <a:ext uri="{FF2B5EF4-FFF2-40B4-BE49-F238E27FC236}">
                <a16:creationId xmlns:a16="http://schemas.microsoft.com/office/drawing/2014/main" id="{0DC39CDA-72A4-2996-CE1C-384B7C005DCB}"/>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4245086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C568BF7-562B-E515-E40D-6FFF97BF8AC7}"/>
              </a:ext>
            </a:extLst>
          </p:cNvPr>
          <p:cNvSpPr>
            <a:spLocks noGrp="1"/>
          </p:cNvSpPr>
          <p:nvPr>
            <p:ph type="title"/>
          </p:nvPr>
        </p:nvSpPr>
        <p:spPr/>
        <p:txBody>
          <a:bodyPr>
            <a:normAutofit fontScale="90000"/>
          </a:bodyPr>
          <a:lstStyle/>
          <a:p>
            <a:r>
              <a:rPr lang="he-IL" dirty="0"/>
              <a:t>קיימים מספר סוגי עוגנים</a:t>
            </a:r>
            <a:br>
              <a:rPr lang="he-IL" dirty="0"/>
            </a:br>
            <a:endParaRPr lang="he-IL" dirty="0"/>
          </a:p>
        </p:txBody>
      </p:sp>
      <p:sp>
        <p:nvSpPr>
          <p:cNvPr id="3" name="מציין מיקום תוכן 2">
            <a:extLst>
              <a:ext uri="{FF2B5EF4-FFF2-40B4-BE49-F238E27FC236}">
                <a16:creationId xmlns:a16="http://schemas.microsoft.com/office/drawing/2014/main" id="{5E9020B6-7F86-C4B5-4923-CCBFFCEC8B33}"/>
              </a:ext>
            </a:extLst>
          </p:cNvPr>
          <p:cNvSpPr>
            <a:spLocks noGrp="1"/>
          </p:cNvSpPr>
          <p:nvPr>
            <p:ph idx="1"/>
          </p:nvPr>
        </p:nvSpPr>
        <p:spPr/>
        <p:txBody>
          <a:bodyPr/>
          <a:lstStyle/>
          <a:p>
            <a:r>
              <a:rPr lang="he-IL" dirty="0"/>
              <a:t>עוגן תחושה (קינסטטי) - העוגן הפשוט ביותר לשימוש. הוא מתקיים לאורך זמן רב יותר. בדרך כלל יוצרים עוגן זה בעזרת מגע.</a:t>
            </a:r>
          </a:p>
          <a:p>
            <a:r>
              <a:rPr lang="he-IL" dirty="0"/>
              <a:t>עוגן שמיעתי (</a:t>
            </a:r>
            <a:r>
              <a:rPr lang="he-IL" dirty="0" err="1"/>
              <a:t>אודיטורי</a:t>
            </a:r>
            <a:r>
              <a:rPr lang="he-IL" dirty="0"/>
              <a:t>) - עוגן שנוצר בעזרת שמיעה של קול, מוזיקה, רעשים כלשהן וכד'. עוגן מסוג זה יכול להיות גם מילה שנאמרה בטון יוצא דופן או אינטונציה מיוחדת.</a:t>
            </a:r>
          </a:p>
          <a:p>
            <a:r>
              <a:rPr lang="he-IL" dirty="0"/>
              <a:t>עוגן ראיתי (ויזואלי) - עוגן שנוצר בעזרת ראיה. כאשר למראה כלשהו (תמונה, הבעת פנים) מקושר אירוע פנימי (זיכרון, מחשבה, קול פנימי, מצב רוח, זיכרון חושי).</a:t>
            </a:r>
          </a:p>
          <a:p>
            <a:r>
              <a:rPr lang="he-IL" dirty="0"/>
              <a:t>עוגן ריח - עוגן שנוצר בעזרת ריח. ריחות מיוחדים המקשרים </a:t>
            </a:r>
            <a:r>
              <a:rPr lang="he-IL" dirty="0" err="1"/>
              <a:t>לארועים</a:t>
            </a:r>
            <a:r>
              <a:rPr lang="he-IL" dirty="0"/>
              <a:t> </a:t>
            </a:r>
            <a:r>
              <a:rPr lang="he-IL" dirty="0" err="1"/>
              <a:t>פנימים</a:t>
            </a:r>
            <a:r>
              <a:rPr lang="he-IL" dirty="0"/>
              <a:t>. ריחות קטורת למשל, יכולים לשמש כעוגן </a:t>
            </a:r>
            <a:r>
              <a:rPr lang="he-IL" dirty="0" err="1"/>
              <a:t>מצויין</a:t>
            </a:r>
            <a:r>
              <a:rPr lang="he-IL" dirty="0"/>
              <a:t>.</a:t>
            </a:r>
          </a:p>
          <a:p>
            <a:r>
              <a:rPr lang="he-IL" dirty="0"/>
              <a:t>עוגן טעם - בדומה לשאר עוגנים, עוגן שמקושר לטעם. טעם של יין מיוחד, פירות, דם, שפתיים של מישהי. כל אלה דברים שיכולים לשמש כעוגנים למצבו </a:t>
            </a:r>
            <a:r>
              <a:rPr lang="he-IL" dirty="0" err="1"/>
              <a:t>פהנימי</a:t>
            </a:r>
            <a:r>
              <a:rPr lang="he-IL" dirty="0"/>
              <a:t> של האדם.</a:t>
            </a:r>
          </a:p>
          <a:p>
            <a:r>
              <a:rPr lang="he-IL" dirty="0"/>
              <a:t>עוגן שטח - עוגן שמקושר לאזור פיזי </a:t>
            </a:r>
            <a:r>
              <a:rPr lang="he-IL" dirty="0" err="1"/>
              <a:t>מסויים</a:t>
            </a:r>
            <a:r>
              <a:rPr lang="he-IL" dirty="0"/>
              <a:t>. לדוגמא ספרייה היא עוגן מקובל לשקט. ניתן ליצור בקלות עוגנים המקושרים למקום.</a:t>
            </a:r>
          </a:p>
        </p:txBody>
      </p:sp>
      <p:sp>
        <p:nvSpPr>
          <p:cNvPr id="4" name="מציין מיקום של מספר שקופית 3">
            <a:extLst>
              <a:ext uri="{FF2B5EF4-FFF2-40B4-BE49-F238E27FC236}">
                <a16:creationId xmlns:a16="http://schemas.microsoft.com/office/drawing/2014/main" id="{EB356739-6CE7-6220-BC25-0F5954A0282E}"/>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284893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0AD7977-0EF4-F657-F397-8B9A7B6759F6}"/>
              </a:ext>
            </a:extLst>
          </p:cNvPr>
          <p:cNvSpPr>
            <a:spLocks noGrp="1"/>
          </p:cNvSpPr>
          <p:nvPr>
            <p:ph type="title"/>
          </p:nvPr>
        </p:nvSpPr>
        <p:spPr/>
        <p:txBody>
          <a:bodyPr>
            <a:normAutofit fontScale="90000"/>
          </a:bodyPr>
          <a:lstStyle/>
          <a:p>
            <a:r>
              <a:rPr lang="he-IL" dirty="0"/>
              <a:t>מה צריך לעשות, כדי ליצור עוגן?</a:t>
            </a:r>
            <a:br>
              <a:rPr lang="he-IL" dirty="0"/>
            </a:br>
            <a:endParaRPr lang="he-IL" dirty="0"/>
          </a:p>
        </p:txBody>
      </p:sp>
      <p:sp>
        <p:nvSpPr>
          <p:cNvPr id="3" name="מציין מיקום תוכן 2">
            <a:extLst>
              <a:ext uri="{FF2B5EF4-FFF2-40B4-BE49-F238E27FC236}">
                <a16:creationId xmlns:a16="http://schemas.microsoft.com/office/drawing/2014/main" id="{A49994C5-301B-837E-F231-ACC2ACF38523}"/>
              </a:ext>
            </a:extLst>
          </p:cNvPr>
          <p:cNvSpPr>
            <a:spLocks noGrp="1"/>
          </p:cNvSpPr>
          <p:nvPr>
            <p:ph idx="1"/>
          </p:nvPr>
        </p:nvSpPr>
        <p:spPr/>
        <p:txBody>
          <a:bodyPr>
            <a:normAutofit fontScale="92500" lnSpcReduction="10000"/>
          </a:bodyPr>
          <a:lstStyle/>
          <a:p>
            <a:r>
              <a:rPr lang="he-IL" b="0" i="0" dirty="0">
                <a:solidFill>
                  <a:srgbClr val="000000"/>
                </a:solidFill>
                <a:effectLst/>
                <a:latin typeface="Arial" panose="020B0604020202020204" pitchFamily="34" charset="0"/>
              </a:rPr>
              <a:t>בזמן </a:t>
            </a:r>
            <a:r>
              <a:rPr lang="he-IL" b="0" i="0" dirty="0" err="1">
                <a:solidFill>
                  <a:srgbClr val="000000"/>
                </a:solidFill>
                <a:effectLst/>
                <a:latin typeface="Arial" panose="020B0604020202020204" pitchFamily="34" charset="0"/>
              </a:rPr>
              <a:t>ארוע</a:t>
            </a:r>
            <a:r>
              <a:rPr lang="he-IL" b="0" i="0" dirty="0">
                <a:solidFill>
                  <a:srgbClr val="000000"/>
                </a:solidFill>
                <a:effectLst/>
                <a:latin typeface="Arial" panose="020B0604020202020204" pitchFamily="34" charset="0"/>
              </a:rPr>
              <a:t> פנימי רצוי (מצב רוח, הרגשה </a:t>
            </a:r>
            <a:r>
              <a:rPr lang="he-IL" b="0" i="0" dirty="0" err="1">
                <a:solidFill>
                  <a:srgbClr val="000000"/>
                </a:solidFill>
                <a:effectLst/>
                <a:latin typeface="Arial" panose="020B0604020202020204" pitchFamily="34" charset="0"/>
              </a:rPr>
              <a:t>מסויימת</a:t>
            </a:r>
            <a:r>
              <a:rPr lang="he-IL" b="0" i="0" dirty="0">
                <a:solidFill>
                  <a:srgbClr val="000000"/>
                </a:solidFill>
                <a:effectLst/>
                <a:latin typeface="Arial" panose="020B0604020202020204" pitchFamily="34" charset="0"/>
              </a:rPr>
              <a:t>...), יש לעשות </a:t>
            </a:r>
            <a:r>
              <a:rPr lang="he-IL" b="0" i="0" dirty="0" err="1">
                <a:solidFill>
                  <a:srgbClr val="000000"/>
                </a:solidFill>
                <a:effectLst/>
                <a:latin typeface="Arial" panose="020B0604020202020204" pitchFamily="34" charset="0"/>
              </a:rPr>
              <a:t>ארוע</a:t>
            </a:r>
            <a:r>
              <a:rPr lang="he-IL" b="0" i="0" dirty="0">
                <a:solidFill>
                  <a:srgbClr val="000000"/>
                </a:solidFill>
                <a:effectLst/>
                <a:latin typeface="Arial" panose="020B0604020202020204" pitchFamily="34" charset="0"/>
              </a:rPr>
              <a:t> חיצוני (לדוגמא נגיעה) שישמש עוגן </a:t>
            </a:r>
            <a:r>
              <a:rPr lang="he-IL" b="0" i="0" dirty="0" err="1">
                <a:solidFill>
                  <a:srgbClr val="000000"/>
                </a:solidFill>
                <a:effectLst/>
                <a:latin typeface="Arial" panose="020B0604020202020204" pitchFamily="34" charset="0"/>
              </a:rPr>
              <a:t>לארוע</a:t>
            </a:r>
            <a:r>
              <a:rPr lang="he-IL" b="0" i="0" dirty="0">
                <a:solidFill>
                  <a:srgbClr val="000000"/>
                </a:solidFill>
                <a:effectLst/>
                <a:latin typeface="Arial" panose="020B0604020202020204" pitchFamily="34" charset="0"/>
              </a:rPr>
              <a:t> הפנימי.</a:t>
            </a:r>
          </a:p>
          <a:p>
            <a:r>
              <a:rPr lang="he-IL" b="1" i="0" dirty="0">
                <a:solidFill>
                  <a:srgbClr val="000000"/>
                </a:solidFill>
                <a:effectLst/>
                <a:latin typeface="Arial" panose="020B0604020202020204" pitchFamily="34" charset="0"/>
              </a:rPr>
              <a:t>מה צריך לעשות, כדי להפעיל עוגן קיים?</a:t>
            </a:r>
            <a:endParaRPr lang="he-IL" b="0" i="0" dirty="0">
              <a:solidFill>
                <a:srgbClr val="000000"/>
              </a:solidFill>
              <a:effectLst/>
              <a:latin typeface="Arial" panose="020B0604020202020204" pitchFamily="34" charset="0"/>
            </a:endParaRPr>
          </a:p>
          <a:p>
            <a:r>
              <a:rPr lang="he-IL" b="0" i="0" dirty="0">
                <a:solidFill>
                  <a:srgbClr val="000000"/>
                </a:solidFill>
                <a:effectLst/>
                <a:latin typeface="Arial" panose="020B0604020202020204" pitchFamily="34" charset="0"/>
              </a:rPr>
              <a:t>לחזור על </a:t>
            </a:r>
            <a:r>
              <a:rPr lang="he-IL" b="0" i="0" dirty="0" err="1">
                <a:solidFill>
                  <a:srgbClr val="000000"/>
                </a:solidFill>
                <a:effectLst/>
                <a:latin typeface="Arial" panose="020B0604020202020204" pitchFamily="34" charset="0"/>
              </a:rPr>
              <a:t>הארוע</a:t>
            </a:r>
            <a:r>
              <a:rPr lang="he-IL" b="0" i="0" dirty="0">
                <a:solidFill>
                  <a:srgbClr val="000000"/>
                </a:solidFill>
                <a:effectLst/>
                <a:latin typeface="Arial" panose="020B0604020202020204" pitchFamily="34" charset="0"/>
              </a:rPr>
              <a:t> החיצוני שמהווה עוגן </a:t>
            </a:r>
            <a:r>
              <a:rPr lang="he-IL" b="0" i="0" dirty="0" err="1">
                <a:solidFill>
                  <a:srgbClr val="000000"/>
                </a:solidFill>
                <a:effectLst/>
                <a:latin typeface="Arial" panose="020B0604020202020204" pitchFamily="34" charset="0"/>
              </a:rPr>
              <a:t>לארוע</a:t>
            </a:r>
            <a:r>
              <a:rPr lang="he-IL" b="0" i="0" dirty="0">
                <a:solidFill>
                  <a:srgbClr val="000000"/>
                </a:solidFill>
                <a:effectLst/>
                <a:latin typeface="Arial" panose="020B0604020202020204" pitchFamily="34" charset="0"/>
              </a:rPr>
              <a:t> הפנימי. העוגן יופעל והאירוע הפנימי יתרחש שוב.</a:t>
            </a:r>
          </a:p>
          <a:p>
            <a:r>
              <a:rPr lang="he-IL" b="0" i="0" dirty="0">
                <a:solidFill>
                  <a:srgbClr val="000000"/>
                </a:solidFill>
                <a:effectLst/>
                <a:latin typeface="Arial" panose="020B0604020202020204" pitchFamily="34" charset="0"/>
              </a:rPr>
              <a:t>לפני שאתה מתחיל להתעסק עם עוגנים, נעבור על מספר כללים חשובים.</a:t>
            </a:r>
          </a:p>
          <a:p>
            <a:r>
              <a:rPr lang="he-IL" b="1" i="0" dirty="0">
                <a:solidFill>
                  <a:srgbClr val="000000"/>
                </a:solidFill>
                <a:effectLst/>
                <a:latin typeface="Arial" panose="020B0604020202020204" pitchFamily="34" charset="0"/>
              </a:rPr>
              <a:t>1. עוגנים נוטים להימחק.</a:t>
            </a:r>
            <a:endParaRPr lang="he-IL" b="0" i="0" dirty="0">
              <a:solidFill>
                <a:srgbClr val="000000"/>
              </a:solidFill>
              <a:effectLst/>
              <a:latin typeface="Arial" panose="020B0604020202020204" pitchFamily="34" charset="0"/>
            </a:endParaRPr>
          </a:p>
          <a:p>
            <a:r>
              <a:rPr lang="he-IL" b="0" i="0" dirty="0">
                <a:solidFill>
                  <a:srgbClr val="000000"/>
                </a:solidFill>
                <a:effectLst/>
                <a:latin typeface="Arial" panose="020B0604020202020204" pitchFamily="34" charset="0"/>
              </a:rPr>
              <a:t>בוודאי קרה לך ששיר שאתה אוהב במיוחד ויש לך הרגשה מיוחדת כאשר אתה שומע אותו, מפסיק לתת את אותה ההשפעה עם הזמן. זוהי תופעה שמלווה כל עוגן, אם לא מחדשים אותו בצורה נכונה.</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אורך חייו של עוגן, הוא סופי. לאחר זמן ממושך שלא משתמשים בעוגן, הוא נמחק.</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גם לאחר שמשתמשים בו הרבה, הוא נשחק, נחלש ונעלם.</a:t>
            </a:r>
          </a:p>
          <a:p>
            <a:r>
              <a:rPr lang="he-IL" b="1" i="0" dirty="0">
                <a:solidFill>
                  <a:srgbClr val="000000"/>
                </a:solidFill>
                <a:effectLst/>
                <a:latin typeface="Arial" panose="020B0604020202020204" pitchFamily="34" charset="0"/>
              </a:rPr>
              <a:t>2. העוגן חייב להיות ייחודי.</a:t>
            </a:r>
            <a:endParaRPr lang="he-IL" b="0" i="0" dirty="0">
              <a:solidFill>
                <a:srgbClr val="000000"/>
              </a:solidFill>
              <a:effectLst/>
              <a:latin typeface="Arial" panose="020B0604020202020204" pitchFamily="34" charset="0"/>
            </a:endParaRPr>
          </a:p>
          <a:p>
            <a:r>
              <a:rPr lang="he-IL" b="0" i="0" dirty="0">
                <a:solidFill>
                  <a:srgbClr val="000000"/>
                </a:solidFill>
                <a:effectLst/>
                <a:latin typeface="Arial" panose="020B0604020202020204" pitchFamily="34" charset="0"/>
              </a:rPr>
              <a:t>העוגן צריך לשמש רק לעוגן. אם אתה רגיל לשרוק לעצמך כל שתי דקות, על תעשה את השריקה הזאת לעוגן. אתה הרי לא רוצה להפעיל אותו כל שתי דקות, אלא רק במקרה הצורך. מומלץ שהפעולה שמשמת לעוגן, </a:t>
            </a:r>
            <a:r>
              <a:rPr lang="he-IL" b="0" i="0" dirty="0" err="1">
                <a:solidFill>
                  <a:srgbClr val="000000"/>
                </a:solidFill>
                <a:effectLst/>
                <a:latin typeface="Arial" panose="020B0604020202020204" pitchFamily="34" charset="0"/>
              </a:rPr>
              <a:t>תוופיע</a:t>
            </a:r>
            <a:r>
              <a:rPr lang="he-IL" b="0" i="0" dirty="0">
                <a:solidFill>
                  <a:srgbClr val="000000"/>
                </a:solidFill>
                <a:effectLst/>
                <a:latin typeface="Arial" panose="020B0604020202020204" pitchFamily="34" charset="0"/>
              </a:rPr>
              <a:t> בשני מקרים בלבד:</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א. ברגע שאתה יוצר את העוגן.</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ב. ברגע שאתה מפעיל את העוגן.</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הדבר נותן לנו שליטה בעוגן ומבטיח שהעוגן לא יופעל, כאשר אנחנו לא רוצים זאת ולא יישחק מהר מדי.</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דוגמא לעוגן קינסטטי טוב, זו נגיעה בעצם המרפק (במידה וזוהי אינה פעולה נפוצה אצלך).</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דוגמא לעוגן ויזואלי טוב (כאשר העוגן מכוון כלפי מישהו אחר), זו תנועה מיוחדת עם היד, אותה אתה עושה רק בשביל ליצור ולהפעיל עוגן זה ולא משתמש בתנועה בחיי היום יום.</a:t>
            </a:r>
          </a:p>
          <a:p>
            <a:endParaRPr lang="he-IL" dirty="0"/>
          </a:p>
        </p:txBody>
      </p:sp>
      <p:sp>
        <p:nvSpPr>
          <p:cNvPr id="4" name="מציין מיקום של מספר שקופית 3">
            <a:extLst>
              <a:ext uri="{FF2B5EF4-FFF2-40B4-BE49-F238E27FC236}">
                <a16:creationId xmlns:a16="http://schemas.microsoft.com/office/drawing/2014/main" id="{9E97765B-32D9-3369-DED2-E113AE3F032A}"/>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401787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B9C8D1B-5A5D-F68A-1760-DA731BDA4E3D}"/>
              </a:ext>
            </a:extLst>
          </p:cNvPr>
          <p:cNvSpPr>
            <a:spLocks noGrp="1"/>
          </p:cNvSpPr>
          <p:nvPr>
            <p:ph type="title"/>
          </p:nvPr>
        </p:nvSpPr>
        <p:spPr/>
        <p:txBody>
          <a:bodyPr/>
          <a:lstStyle/>
          <a:p>
            <a:endParaRPr lang="he-IL" dirty="0"/>
          </a:p>
        </p:txBody>
      </p:sp>
      <p:sp>
        <p:nvSpPr>
          <p:cNvPr id="3" name="מציין מיקום תוכן 2">
            <a:extLst>
              <a:ext uri="{FF2B5EF4-FFF2-40B4-BE49-F238E27FC236}">
                <a16:creationId xmlns:a16="http://schemas.microsoft.com/office/drawing/2014/main" id="{6976C207-8EE3-FA15-AFA3-19839298630C}"/>
              </a:ext>
            </a:extLst>
          </p:cNvPr>
          <p:cNvSpPr>
            <a:spLocks noGrp="1"/>
          </p:cNvSpPr>
          <p:nvPr>
            <p:ph idx="1"/>
          </p:nvPr>
        </p:nvSpPr>
        <p:spPr/>
        <p:txBody>
          <a:bodyPr/>
          <a:lstStyle/>
          <a:p>
            <a:r>
              <a:rPr lang="he-IL" b="1" i="0" dirty="0">
                <a:solidFill>
                  <a:srgbClr val="000000"/>
                </a:solidFill>
                <a:effectLst/>
                <a:latin typeface="Arial" panose="020B0604020202020204" pitchFamily="34" charset="0"/>
              </a:rPr>
              <a:t>הפעלת העוגן.</a:t>
            </a:r>
            <a:endParaRPr lang="he-IL" b="0" i="0" dirty="0">
              <a:solidFill>
                <a:srgbClr val="000000"/>
              </a:solidFill>
              <a:effectLst/>
              <a:latin typeface="Arial" panose="020B0604020202020204" pitchFamily="34" charset="0"/>
            </a:endParaRPr>
          </a:p>
          <a:p>
            <a:r>
              <a:rPr lang="he-IL" b="0" i="0" dirty="0">
                <a:solidFill>
                  <a:srgbClr val="000000"/>
                </a:solidFill>
                <a:effectLst/>
                <a:latin typeface="Arial" panose="020B0604020202020204" pitchFamily="34" charset="0"/>
              </a:rPr>
              <a:t>ליצור עוגנים זה כמובן חשוב ומהנה, אבל בשביל מה אנו עושים זאת, אם לא כדי להשתמש בזה בהמשך? :)</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כדי שהעוגן יעבוד ויעבוד בצורה הטובה ביותר, זאת אומרת יגרום לחוויה חוזרת של האירוע הפנימי שהיה בזמן יצירת העוגן לחזור במלוא העוצמה, יש לשמור על כלל מאוד חשוב.</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הפעלת העוגן, חייבת להיעשות בדיוק באותה הצורה בה נוצר העוגן!</a:t>
            </a:r>
            <a:br>
              <a:rPr lang="he-IL" b="0" i="0" dirty="0">
                <a:solidFill>
                  <a:srgbClr val="000000"/>
                </a:solidFill>
                <a:effectLst/>
                <a:latin typeface="Arial" panose="020B0604020202020204" pitchFamily="34" charset="0"/>
              </a:rPr>
            </a:br>
            <a:r>
              <a:rPr lang="he-IL" b="0" i="0" dirty="0">
                <a:solidFill>
                  <a:srgbClr val="000000"/>
                </a:solidFill>
                <a:effectLst/>
                <a:latin typeface="Arial" panose="020B0604020202020204" pitchFamily="34" charset="0"/>
              </a:rPr>
              <a:t>אם העוגן, זו נגיעה כלשהי. יש לחזור על הנגיעה בדיוק </a:t>
            </a:r>
            <a:r>
              <a:rPr lang="he-IL" b="0" i="0" dirty="0" err="1">
                <a:solidFill>
                  <a:srgbClr val="000000"/>
                </a:solidFill>
                <a:effectLst/>
                <a:latin typeface="Arial" panose="020B0604020202020204" pitchFamily="34" charset="0"/>
              </a:rPr>
              <a:t>בואתו</a:t>
            </a:r>
            <a:r>
              <a:rPr lang="he-IL" b="0" i="0" dirty="0">
                <a:solidFill>
                  <a:srgbClr val="000000"/>
                </a:solidFill>
                <a:effectLst/>
                <a:latin typeface="Arial" panose="020B0604020202020204" pitchFamily="34" charset="0"/>
              </a:rPr>
              <a:t> המקום, באותה העוצמה ולאורך אותו הזמן.</a:t>
            </a:r>
          </a:p>
          <a:p>
            <a:endParaRPr lang="he-IL" dirty="0"/>
          </a:p>
        </p:txBody>
      </p:sp>
      <p:sp>
        <p:nvSpPr>
          <p:cNvPr id="4" name="מציין מיקום של מספר שקופית 3">
            <a:extLst>
              <a:ext uri="{FF2B5EF4-FFF2-40B4-BE49-F238E27FC236}">
                <a16:creationId xmlns:a16="http://schemas.microsoft.com/office/drawing/2014/main" id="{D646D63E-4EFC-AAEC-5714-C21EA77CE1DC}"/>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33</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475189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993F15-7FAC-7224-BCBD-DB270DF9A6BF}"/>
              </a:ext>
            </a:extLst>
          </p:cNvPr>
          <p:cNvSpPr>
            <a:spLocks noGrp="1"/>
          </p:cNvSpPr>
          <p:nvPr>
            <p:ph type="title"/>
          </p:nvPr>
        </p:nvSpPr>
        <p:spPr/>
        <p:txBody>
          <a:bodyPr/>
          <a:lstStyle/>
          <a:p>
            <a:r>
              <a:rPr lang="he-IL" dirty="0"/>
              <a:t>זמן יצירת העוגן</a:t>
            </a:r>
          </a:p>
        </p:txBody>
      </p:sp>
      <p:pic>
        <p:nvPicPr>
          <p:cNvPr id="6" name="מציין מיקום תוכן 5">
            <a:extLst>
              <a:ext uri="{FF2B5EF4-FFF2-40B4-BE49-F238E27FC236}">
                <a16:creationId xmlns:a16="http://schemas.microsoft.com/office/drawing/2014/main" id="{2C28F841-919E-6EAB-F30C-61BF91F14154}"/>
              </a:ext>
            </a:extLst>
          </p:cNvPr>
          <p:cNvPicPr>
            <a:picLocks noGrp="1" noChangeAspect="1"/>
          </p:cNvPicPr>
          <p:nvPr>
            <p:ph idx="1"/>
          </p:nvPr>
        </p:nvPicPr>
        <p:blipFill>
          <a:blip r:embed="rId2"/>
          <a:stretch>
            <a:fillRect/>
          </a:stretch>
        </p:blipFill>
        <p:spPr>
          <a:xfrm>
            <a:off x="2264950" y="1356164"/>
            <a:ext cx="5915851" cy="5087060"/>
          </a:xfrm>
        </p:spPr>
      </p:pic>
      <p:sp>
        <p:nvSpPr>
          <p:cNvPr id="4" name="מציין מיקום של מספר שקופית 3">
            <a:extLst>
              <a:ext uri="{FF2B5EF4-FFF2-40B4-BE49-F238E27FC236}">
                <a16:creationId xmlns:a16="http://schemas.microsoft.com/office/drawing/2014/main" id="{87776627-CBC2-967B-6AE7-64215963AA1D}"/>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34</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7401224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E0945DC-B23C-542D-18BC-B1A9D504B52C}"/>
              </a:ext>
            </a:extLst>
          </p:cNvPr>
          <p:cNvSpPr>
            <a:spLocks noGrp="1"/>
          </p:cNvSpPr>
          <p:nvPr>
            <p:ph type="title"/>
          </p:nvPr>
        </p:nvSpPr>
        <p:spPr/>
        <p:txBody>
          <a:bodyPr/>
          <a:lstStyle/>
          <a:p>
            <a:r>
              <a:rPr lang="he-IL" dirty="0"/>
              <a:t>ארבעה הדגשים לקביעת עוגן</a:t>
            </a:r>
          </a:p>
        </p:txBody>
      </p:sp>
      <p:sp>
        <p:nvSpPr>
          <p:cNvPr id="4" name="מציין מיקום של מספר שקופית 3">
            <a:extLst>
              <a:ext uri="{FF2B5EF4-FFF2-40B4-BE49-F238E27FC236}">
                <a16:creationId xmlns:a16="http://schemas.microsoft.com/office/drawing/2014/main" id="{605C46AC-6BF0-5056-ADB9-34B69F85CEEC}"/>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35</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
        <p:nvSpPr>
          <p:cNvPr id="15" name="מציין מיקום תוכן 14">
            <a:extLst>
              <a:ext uri="{FF2B5EF4-FFF2-40B4-BE49-F238E27FC236}">
                <a16:creationId xmlns:a16="http://schemas.microsoft.com/office/drawing/2014/main" id="{70A3DA20-3655-3475-59A1-82A72B88B56A}"/>
              </a:ext>
            </a:extLst>
          </p:cNvPr>
          <p:cNvSpPr>
            <a:spLocks noGrp="1"/>
          </p:cNvSpPr>
          <p:nvPr>
            <p:ph idx="1"/>
          </p:nvPr>
        </p:nvSpPr>
        <p:spPr/>
        <p:txBody>
          <a:bodyPr/>
          <a:lstStyle/>
          <a:p>
            <a:r>
              <a:rPr lang="he-IL" sz="1800" i="0" u="none" strike="noStrike" baseline="0" dirty="0">
                <a:solidFill>
                  <a:srgbClr val="000000"/>
                </a:solidFill>
                <a:latin typeface="Arial" panose="020B0604020202020204" pitchFamily="34" charset="0"/>
              </a:rPr>
              <a:t>יש  לשים  לב  לארבעת  הדגשים:   </a:t>
            </a:r>
          </a:p>
          <a:p>
            <a:r>
              <a:rPr lang="he-IL" sz="1800" b="0" i="0" u="none" strike="noStrike" baseline="0" dirty="0">
                <a:solidFill>
                  <a:srgbClr val="000000"/>
                </a:solidFill>
                <a:highlight>
                  <a:srgbClr val="FFFF00"/>
                </a:highlight>
                <a:latin typeface="Arial" panose="020B0604020202020204" pitchFamily="34" charset="0"/>
              </a:rPr>
              <a:t>עוצמה  רגשית,   </a:t>
            </a:r>
          </a:p>
          <a:p>
            <a:r>
              <a:rPr lang="he-IL" sz="1800" b="0" i="0" u="none" strike="noStrike" baseline="0" dirty="0">
                <a:solidFill>
                  <a:srgbClr val="000000"/>
                </a:solidFill>
                <a:latin typeface="Arial" panose="020B0604020202020204" pitchFamily="34" charset="0"/>
              </a:rPr>
              <a:t>ככל  שהמצב  הרגשי  ברגע  יצירת  העוגן  עוצמתי  יותר,   כך  המוח  שלנו  יחדד  את  הקליטה ויחפש  עוגנים  בסביבה  שלנו.   נוודא  שהמצב  הרגשי  שהאדם  נמצא  בו  נקי  ככל  האפשר ממצבים  רגשיים  נלווים. </a:t>
            </a:r>
          </a:p>
          <a:p>
            <a:r>
              <a:rPr lang="he-IL" sz="1800" b="0" i="0" u="none" strike="noStrike" baseline="0" dirty="0">
                <a:solidFill>
                  <a:srgbClr val="000000"/>
                </a:solidFill>
                <a:highlight>
                  <a:srgbClr val="FFFF00"/>
                </a:highlight>
                <a:latin typeface="Arial" panose="020B0604020202020204" pitchFamily="34" charset="0"/>
              </a:rPr>
              <a:t>תזמון,   </a:t>
            </a:r>
          </a:p>
          <a:p>
            <a:r>
              <a:rPr lang="he-IL" sz="1800" b="0" i="0" u="none" strike="noStrike" baseline="0" dirty="0">
                <a:solidFill>
                  <a:srgbClr val="000000"/>
                </a:solidFill>
                <a:latin typeface="Arial" panose="020B0604020202020204" pitchFamily="34" charset="0"/>
              </a:rPr>
              <a:t>למצבים  רגשיים  יש  שלב  של  התעצמות  ואז  דעיכה.   כשניצור  עוגן  נרצה  לעשות  להכניס  את </a:t>
            </a:r>
          </a:p>
          <a:p>
            <a:r>
              <a:rPr lang="he-IL" sz="1800" b="0" i="0" u="none" strike="noStrike" baseline="0" dirty="0">
                <a:solidFill>
                  <a:srgbClr val="000000"/>
                </a:solidFill>
                <a:latin typeface="Arial" panose="020B0604020202020204" pitchFamily="34" charset="0"/>
              </a:rPr>
              <a:t>הגירוי  לקראת  השיא  של  ההתעצמות  ולהוציא  אותו  לפני  שמתחילה  הדעיכה.   טעות  נפוצה </a:t>
            </a:r>
          </a:p>
          <a:p>
            <a:r>
              <a:rPr lang="he-IL" sz="1800" b="0" i="0" u="none" strike="noStrike" baseline="0" dirty="0">
                <a:solidFill>
                  <a:srgbClr val="000000"/>
                </a:solidFill>
                <a:latin typeface="Arial" panose="020B0604020202020204" pitchFamily="34" charset="0"/>
              </a:rPr>
              <a:t>שגורמת  למתרגלים  לפקפק  ביעילותם  של  עוגנים,   היא  טעות  בתזמון  הכנסת  והוצאת  הגירוי.</a:t>
            </a:r>
          </a:p>
          <a:p>
            <a:r>
              <a:rPr lang="he-IL" sz="1800" b="0" i="0" u="none" strike="noStrike" baseline="0" dirty="0">
                <a:solidFill>
                  <a:srgbClr val="000000"/>
                </a:solidFill>
                <a:highlight>
                  <a:srgbClr val="FFFF00"/>
                </a:highlight>
                <a:latin typeface="Arial" panose="020B0604020202020204" pitchFamily="34" charset="0"/>
              </a:rPr>
              <a:t>ייחודיות</a:t>
            </a:r>
            <a:r>
              <a:rPr lang="he-IL" sz="1800" b="0" i="0" u="none" strike="noStrike" baseline="0" dirty="0">
                <a:solidFill>
                  <a:srgbClr val="000000"/>
                </a:solidFill>
                <a:latin typeface="Arial" panose="020B0604020202020204" pitchFamily="34" charset="0"/>
              </a:rPr>
              <a:t>  </a:t>
            </a:r>
          </a:p>
          <a:p>
            <a:r>
              <a:rPr lang="he-IL" sz="1800" b="0" i="0" u="none" strike="noStrike" baseline="0" dirty="0">
                <a:solidFill>
                  <a:srgbClr val="000000"/>
                </a:solidFill>
                <a:latin typeface="Arial" panose="020B0604020202020204" pitchFamily="34" charset="0"/>
              </a:rPr>
              <a:t>ככל  שהגירוי  הוא  ייחודי  יותר  והאדם  פחות  חשוף  אליו  ביומיום,   למוח  יהיה  קל  יותר  לייחס  את </a:t>
            </a:r>
          </a:p>
          <a:p>
            <a:r>
              <a:rPr lang="he-IL" sz="1800" b="0" i="0" u="none" strike="noStrike" baseline="0" dirty="0">
                <a:solidFill>
                  <a:srgbClr val="000000"/>
                </a:solidFill>
                <a:latin typeface="Arial" panose="020B0604020202020204" pitchFamily="34" charset="0"/>
              </a:rPr>
              <a:t>התגובה  הרגשית  אליו.</a:t>
            </a:r>
          </a:p>
          <a:p>
            <a:r>
              <a:rPr lang="he-IL" sz="1800" b="0" i="0" u="none" strike="noStrike" baseline="0" dirty="0" err="1">
                <a:solidFill>
                  <a:srgbClr val="000000"/>
                </a:solidFill>
                <a:highlight>
                  <a:srgbClr val="FFFF00"/>
                </a:highlight>
                <a:latin typeface="Arial" panose="020B0604020202020204" pitchFamily="34" charset="0"/>
              </a:rPr>
              <a:t>וחזרתיות</a:t>
            </a:r>
            <a:r>
              <a:rPr lang="he-IL" sz="1800" b="0" i="0" u="none" strike="noStrike" baseline="0" dirty="0">
                <a:solidFill>
                  <a:srgbClr val="000000"/>
                </a:solidFill>
                <a:highlight>
                  <a:srgbClr val="FFFF00"/>
                </a:highlight>
                <a:latin typeface="Arial" panose="020B0604020202020204" pitchFamily="34" charset="0"/>
              </a:rPr>
              <a:t>.  </a:t>
            </a:r>
          </a:p>
          <a:p>
            <a:r>
              <a:rPr lang="he-IL" sz="1800" b="0" i="0" u="none" strike="noStrike" baseline="0" dirty="0">
                <a:solidFill>
                  <a:srgbClr val="000000"/>
                </a:solidFill>
                <a:latin typeface="Arial" panose="020B0604020202020204" pitchFamily="34" charset="0"/>
              </a:rPr>
              <a:t>לחזור  על  רצף  הגירוי  והתגובה  מספר  פעמים,   יאפשר  למוח  להעצים  את  הקשר  ביניהם. </a:t>
            </a:r>
          </a:p>
          <a:p>
            <a:endParaRPr lang="he-IL" sz="1800" b="0" i="0" u="none" strike="noStrike" baseline="0" dirty="0">
              <a:solidFill>
                <a:srgbClr val="000000"/>
              </a:solidFill>
              <a:highlight>
                <a:srgbClr val="FFFF00"/>
              </a:highlight>
              <a:latin typeface="Arial" panose="020B0604020202020204" pitchFamily="34" charset="0"/>
            </a:endParaRPr>
          </a:p>
          <a:p>
            <a:endParaRPr lang="he-IL" dirty="0"/>
          </a:p>
        </p:txBody>
      </p:sp>
    </p:spTree>
    <p:extLst>
      <p:ext uri="{BB962C8B-B14F-4D97-AF65-F5344CB8AC3E}">
        <p14:creationId xmlns:p14="http://schemas.microsoft.com/office/powerpoint/2010/main" val="3813450268"/>
      </p:ext>
    </p:extLst>
  </p:cSld>
  <p:clrMapOvr>
    <a:masterClrMapping/>
  </p:clrMapOvr>
  <mc:AlternateContent xmlns:mc="http://schemas.openxmlformats.org/markup-compatibility/2006" xmlns:p14="http://schemas.microsoft.com/office/powerpoint/2010/main">
    <mc:Choice Requires="p14">
      <p:transition spd="slow" p14:dur="2000" advTm="118831"/>
    </mc:Choice>
    <mc:Fallback xmlns="">
      <p:transition spd="slow" advTm="11883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012FF60-1CAF-4672-EB2D-61CA2A197D7C}"/>
              </a:ext>
            </a:extLst>
          </p:cNvPr>
          <p:cNvSpPr>
            <a:spLocks noGrp="1"/>
          </p:cNvSpPr>
          <p:nvPr>
            <p:ph type="title"/>
          </p:nvPr>
        </p:nvSpPr>
        <p:spPr/>
        <p:txBody>
          <a:bodyPr/>
          <a:lstStyle/>
          <a:p>
            <a:r>
              <a:rPr lang="he-IL" dirty="0"/>
              <a:t>כיצד באפשרותך לגרום למישהו לאהוב אותך? </a:t>
            </a:r>
          </a:p>
        </p:txBody>
      </p:sp>
      <p:sp>
        <p:nvSpPr>
          <p:cNvPr id="3" name="מציין מיקום תוכן 2">
            <a:extLst>
              <a:ext uri="{FF2B5EF4-FFF2-40B4-BE49-F238E27FC236}">
                <a16:creationId xmlns:a16="http://schemas.microsoft.com/office/drawing/2014/main" id="{7083769D-B073-0D98-89A2-73D82681CCD8}"/>
              </a:ext>
            </a:extLst>
          </p:cNvPr>
          <p:cNvSpPr>
            <a:spLocks noGrp="1"/>
          </p:cNvSpPr>
          <p:nvPr>
            <p:ph idx="1"/>
          </p:nvPr>
        </p:nvSpPr>
        <p:spPr/>
        <p:txBody>
          <a:bodyPr>
            <a:normAutofit fontScale="70000" lnSpcReduction="20000"/>
          </a:bodyPr>
          <a:lstStyle/>
          <a:p>
            <a:pPr algn="just" fontAlgn="base"/>
            <a:r>
              <a:rPr lang="he-IL" b="0" i="0" dirty="0">
                <a:solidFill>
                  <a:srgbClr val="444444"/>
                </a:solidFill>
                <a:effectLst/>
                <a:latin typeface="Open Sans" panose="020B0606030504020204" pitchFamily="34" charset="0"/>
              </a:rPr>
              <a:t>הדרך לכך היא, על ידי זה שתשלב את עצמך ותהפוך להיות חלק, מהחוויות הטובות ומהרגעים הטובים, של האדם שאתה רוצה שיאהב אותך.</a:t>
            </a:r>
          </a:p>
          <a:p>
            <a:pPr algn="just" fontAlgn="base"/>
            <a:r>
              <a:rPr lang="he-IL" b="0" i="0" dirty="0">
                <a:solidFill>
                  <a:srgbClr val="444444"/>
                </a:solidFill>
                <a:effectLst/>
                <a:latin typeface="Open Sans" panose="020B0606030504020204" pitchFamily="34" charset="0"/>
              </a:rPr>
              <a:t>כי האדם אוהב את מה שעושה לו טוב. וברגע שמשהו עושה טוב לאדם, בפרט פעם אחרי פעם, נוצרת לאדם התניה לאהוב את הדבר שעושה לו את הטוב.</a:t>
            </a:r>
          </a:p>
          <a:p>
            <a:pPr algn="just" fontAlgn="base"/>
            <a:r>
              <a:rPr lang="he-IL" b="0" i="0" dirty="0">
                <a:solidFill>
                  <a:srgbClr val="444444"/>
                </a:solidFill>
                <a:effectLst/>
                <a:latin typeface="Open Sans" panose="020B0606030504020204" pitchFamily="34" charset="0"/>
              </a:rPr>
              <a:t>אלא, שהמוח האנושי לא תמיד יודע לנתח לפרטי פרטים מה בדיוק ובאמת הדבר שעשה לו את הטוב, ולכן לפעמים המוח של האדם מתאהב בדברים הלא נכונים. לדוגמא, נניח שתשלח למישהי שליח שיביא לה פרחים. ונניח שהשליח ישחק משחק, ויציג את עצמו, כאילו הפרחים ממנו. והבחורה לא תדע מי זה ששלח לה את הפרחים. האם היא תתאהב בשולח האמיתי, או במי שהיא חושבת שהוא השולח?!</a:t>
            </a:r>
          </a:p>
          <a:p>
            <a:pPr algn="just" fontAlgn="base"/>
            <a:r>
              <a:rPr lang="he-IL" b="0" i="0" dirty="0">
                <a:solidFill>
                  <a:srgbClr val="444444"/>
                </a:solidFill>
                <a:effectLst/>
                <a:latin typeface="Open Sans" panose="020B0606030504020204" pitchFamily="34" charset="0"/>
              </a:rPr>
              <a:t>והרעיון הוא, שאם בן אדם היה בכל רגע מנתח, מה בדיוק הסיבה האמיתית שגורמת לו להרגיש טוב, הרי שממילא אף אחד לא היה באמת אוהב שום דבר ולא היה נקשר לשום דבר בעולם. כי שום דבר לכשעצמו, לא באמת עושה את הטוב. אלא רק הדברים הפנימיים שהאדם משיג, באמצעות הדברים החיצוניים, הם אלו שעושים לבן אדם את הטוב.</a:t>
            </a:r>
          </a:p>
          <a:p>
            <a:pPr algn="just" fontAlgn="base"/>
            <a:r>
              <a:rPr lang="he-IL" b="0" i="0" dirty="0">
                <a:solidFill>
                  <a:srgbClr val="444444"/>
                </a:solidFill>
                <a:effectLst/>
                <a:latin typeface="Open Sans" panose="020B0606030504020204" pitchFamily="34" charset="0"/>
              </a:rPr>
              <a:t>כי נניח שבן אדם אוהב כסף, האם הכסף עצמו עשה טוב לבן אדם? או שאולי הכסף עזר לבן אדם להשיג דברים אחרים שעושים לו טוב?! והאם הדברים האחרים, הם עצמם עשו לבן אדם טוב, או שמא גם הם רק עזרו לבן אדם להשיג משהו אחר פנימי יותר, שהוא זה שאחראי לתחושת הטוב?! וכך הלאה…</a:t>
            </a:r>
          </a:p>
          <a:p>
            <a:pPr algn="just" fontAlgn="base"/>
            <a:r>
              <a:rPr lang="he-IL" b="0" i="0" dirty="0">
                <a:solidFill>
                  <a:srgbClr val="444444"/>
                </a:solidFill>
                <a:effectLst/>
                <a:latin typeface="Open Sans" panose="020B0606030504020204" pitchFamily="34" charset="0"/>
              </a:rPr>
              <a:t>ובכל מקרה, בפרקטיקה, האדם אוהב את מה שכלפי חוץ נראה לו שעושה לו טוב, גם אם הוא רק השליח ולא הסיבה האמיתית.</a:t>
            </a:r>
          </a:p>
          <a:p>
            <a:pPr algn="just" fontAlgn="base"/>
            <a:r>
              <a:rPr lang="he-IL" b="0" i="0" dirty="0">
                <a:solidFill>
                  <a:srgbClr val="444444"/>
                </a:solidFill>
                <a:effectLst/>
                <a:latin typeface="Open Sans" panose="020B0606030504020204" pitchFamily="34" charset="0"/>
              </a:rPr>
              <a:t>ובנוסף, מאחר שהמוח לא ממש בודק מהי הסיבה האמיתית שעושה את הטוב, ממילא איך המוח יודע את מה לאהוב? והתשובה לכך היא, על ידי זה שהמוח מנסה למצוא מכנה משותף חריג בין הרגעים שעושים לו טוב. דהיינו, ברגע שהאדם מרגיש טוב, אוטומטית המוח שלו בודק בתת המודע שלו, מה בסיטואציה הזאת, שונה ממה שקרה לפני רגע. וכך כביכול המוח מזהה, את הסיבה שעושה לו טוב.</a:t>
            </a:r>
          </a:p>
          <a:p>
            <a:pPr algn="just" fontAlgn="base"/>
            <a:r>
              <a:rPr lang="he-IL" b="0" i="0" dirty="0">
                <a:solidFill>
                  <a:srgbClr val="444444"/>
                </a:solidFill>
                <a:effectLst/>
                <a:latin typeface="Open Sans" panose="020B0606030504020204" pitchFamily="34" charset="0"/>
              </a:rPr>
              <a:t>ובנוסף, המוח מנסה למצוא גם דפוסים שחוזרים על עצמם. והמוח מנסה לראות, איזה דבר שונה שקרה בסיטואציה, חוזר על עצמו, בכל פעם שהוא מרגיש טוב. וכך המוח עוד יותר יודע לזהות, את הדבר שעושה לו טוב.</a:t>
            </a:r>
          </a:p>
          <a:p>
            <a:pPr algn="just" fontAlgn="base"/>
            <a:r>
              <a:rPr lang="he-IL" b="0" i="0" dirty="0">
                <a:solidFill>
                  <a:srgbClr val="444444"/>
                </a:solidFill>
                <a:effectLst/>
                <a:latin typeface="Open Sans" panose="020B0606030504020204" pitchFamily="34" charset="0"/>
              </a:rPr>
              <a:t>ומה יקרה, אם כאשר המוח ישאל את עצמו, מה עשה לו טוב, הוא בכל פעם ימצא אותך, כדבר היוצא דופן, שחוזר על עצמו בכל פעם מחדש, בכל פעם שהמצב טוב?! תשובה, ממילא המוח של הבן אדם השני, יתאהב בך. כי המוח יכניס אותך באופן אוטומטי להתניה ולעוגן הרגשי, של הדבר שאחראי לתחושת הטוב.</a:t>
            </a:r>
          </a:p>
          <a:p>
            <a:pPr algn="just" fontAlgn="base"/>
            <a:r>
              <a:rPr lang="he-IL" b="0" i="0" dirty="0">
                <a:solidFill>
                  <a:srgbClr val="444444"/>
                </a:solidFill>
                <a:effectLst/>
                <a:latin typeface="Open Sans" panose="020B0606030504020204" pitchFamily="34" charset="0"/>
              </a:rPr>
              <a:t>ובפרט אם הטוב של הבן אדם מתרחש, </a:t>
            </a:r>
            <a:r>
              <a:rPr lang="he-IL" b="1" i="0" dirty="0">
                <a:solidFill>
                  <a:srgbClr val="444444"/>
                </a:solidFill>
                <a:effectLst/>
                <a:latin typeface="Open Sans" panose="020B0606030504020204" pitchFamily="34" charset="0"/>
              </a:rPr>
              <a:t>רק</a:t>
            </a:r>
            <a:r>
              <a:rPr lang="he-IL" b="0" i="0" dirty="0">
                <a:solidFill>
                  <a:srgbClr val="444444"/>
                </a:solidFill>
                <a:effectLst/>
                <a:latin typeface="Open Sans" panose="020B0606030504020204" pitchFamily="34" charset="0"/>
              </a:rPr>
              <a:t> כאשר אתה שם. ובפרט אם אתה שם </a:t>
            </a:r>
            <a:r>
              <a:rPr lang="he-IL" b="1" i="0" dirty="0">
                <a:solidFill>
                  <a:srgbClr val="444444"/>
                </a:solidFill>
                <a:effectLst/>
                <a:latin typeface="Open Sans" panose="020B0606030504020204" pitchFamily="34" charset="0"/>
              </a:rPr>
              <a:t>רק</a:t>
            </a:r>
            <a:r>
              <a:rPr lang="he-IL" b="0" i="0" dirty="0">
                <a:solidFill>
                  <a:srgbClr val="444444"/>
                </a:solidFill>
                <a:effectLst/>
                <a:latin typeface="Open Sans" panose="020B0606030504020204" pitchFamily="34" charset="0"/>
              </a:rPr>
              <a:t> כאשר טוב לבן אדם השני. וזה כמובן לא ממש מעשי, שיהיה לבן אדם השני, טוב רק כאשר הוא רואה אותך. ושבכל פעם שהוא יראה אותך, יהיה לו רק טוב. אבל ככל שזה יותר שואף לזה, ככל שיש יותר חוויות טובות, כשאתה בסביבה, כך הטוב שקורה, נקשר אליך וממילא מתאהבים בך.</a:t>
            </a:r>
          </a:p>
          <a:p>
            <a:pPr algn="just" fontAlgn="base"/>
            <a:r>
              <a:rPr lang="he-IL" b="0" i="0" dirty="0">
                <a:solidFill>
                  <a:srgbClr val="444444"/>
                </a:solidFill>
                <a:effectLst/>
                <a:latin typeface="Open Sans" panose="020B0606030504020204" pitchFamily="34" charset="0"/>
              </a:rPr>
              <a:t>ואיך בפועל ניתן להשתלב בחוויות הטובות של האדם השני? תשובה: הן על ידי זה שאתה באופן מודע יוצר חוויות טובות כאלו. והן על ידי זה שאתה בודק מתי יש חוויות טובות כאלו ומשתלב בהן באופן מודע…</a:t>
            </a:r>
          </a:p>
          <a:p>
            <a:endParaRPr lang="he-IL" dirty="0"/>
          </a:p>
        </p:txBody>
      </p:sp>
      <p:sp>
        <p:nvSpPr>
          <p:cNvPr id="4" name="מציין מיקום של מספר שקופית 3">
            <a:extLst>
              <a:ext uri="{FF2B5EF4-FFF2-40B4-BE49-F238E27FC236}">
                <a16:creationId xmlns:a16="http://schemas.microsoft.com/office/drawing/2014/main" id="{5E6BEFB4-C34E-FA73-35B2-BC7642152CD8}"/>
              </a:ext>
            </a:extLst>
          </p:cNvPr>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19954A3-9DFD-4C44-94BA-B95130A3BA1C}" type="slidenum">
              <a:rPr kumimoji="0" lang="en-US" sz="900" b="0" i="0" u="none" strike="noStrike" kern="1200" cap="none" spc="0" normalizeH="0" baseline="0" noProof="0" smtClean="0">
                <a:ln>
                  <a:noFill/>
                </a:ln>
                <a:solidFill>
                  <a:srgbClr val="F496CB">
                    <a:lumMod val="75000"/>
                  </a:srgbClr>
                </a:solidFill>
                <a:effectLst/>
                <a:uLnTx/>
                <a:uFillTx/>
                <a:latin typeface="Trebuchet MS" panose="020B060302020202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36</a:t>
            </a:fld>
            <a:endParaRPr kumimoji="0" lang="en-US" sz="900" b="0" i="0" u="none" strike="noStrike" kern="1200" cap="none" spc="0" normalizeH="0" baseline="0" noProof="0" dirty="0">
              <a:ln>
                <a:noFill/>
              </a:ln>
              <a:solidFill>
                <a:srgbClr val="F496CB">
                  <a:lumMod val="75000"/>
                </a:srgb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851753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EFFE6B9-8C88-07CB-6FE9-CD6276DA7015}"/>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7A60A8A1-E3B5-2CF6-54C7-4880021CEC05}"/>
              </a:ext>
            </a:extLst>
          </p:cNvPr>
          <p:cNvSpPr>
            <a:spLocks noGrp="1"/>
          </p:cNvSpPr>
          <p:nvPr>
            <p:ph idx="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7208BCDD-A46B-49BC-F5C4-ACE1DDAEAE0F}"/>
              </a:ext>
            </a:extLst>
          </p:cNvPr>
          <p:cNvSpPr>
            <a:spLocks noGrp="1"/>
          </p:cNvSpPr>
          <p:nvPr>
            <p:ph type="sldNum" sz="quarter" idx="12"/>
          </p:nvPr>
        </p:nvSpPr>
        <p:spPr/>
        <p:txBody>
          <a:bodyPr/>
          <a:lstStyle/>
          <a:p>
            <a:fld id="{519954A3-9DFD-4C44-94BA-B95130A3BA1C}" type="slidenum">
              <a:rPr lang="en-US" smtClean="0"/>
              <a:t>37</a:t>
            </a:fld>
            <a:endParaRPr lang="en-US" dirty="0"/>
          </a:p>
        </p:txBody>
      </p:sp>
    </p:spTree>
    <p:extLst>
      <p:ext uri="{BB962C8B-B14F-4D97-AF65-F5344CB8AC3E}">
        <p14:creationId xmlns:p14="http://schemas.microsoft.com/office/powerpoint/2010/main" val="3535185250"/>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פיאה">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otalTime>8777</TotalTime>
  <Words>4622</Words>
  <Application>Microsoft Office PowerPoint</Application>
  <PresentationFormat>מסך רחב</PresentationFormat>
  <Paragraphs>180</Paragraphs>
  <Slides>37</Slides>
  <Notes>0</Notes>
  <HiddenSlides>0</HiddenSlides>
  <MMClips>4</MMClips>
  <ScaleCrop>false</ScaleCrop>
  <HeadingPairs>
    <vt:vector size="6" baseType="variant">
      <vt:variant>
        <vt:lpstr>גופנים בשימוש</vt:lpstr>
      </vt:variant>
      <vt:variant>
        <vt:i4>10</vt:i4>
      </vt:variant>
      <vt:variant>
        <vt:lpstr>ערכת נושא</vt:lpstr>
      </vt:variant>
      <vt:variant>
        <vt:i4>2</vt:i4>
      </vt:variant>
      <vt:variant>
        <vt:lpstr>כותרות שקופיות</vt:lpstr>
      </vt:variant>
      <vt:variant>
        <vt:i4>37</vt:i4>
      </vt:variant>
    </vt:vector>
  </HeadingPairs>
  <TitlesOfParts>
    <vt:vector size="49" baseType="lpstr">
      <vt:lpstr>Arial</vt:lpstr>
      <vt:lpstr>Assistant</vt:lpstr>
      <vt:lpstr>Calibri</vt:lpstr>
      <vt:lpstr>Calibri Light</vt:lpstr>
      <vt:lpstr>Heebo</vt:lpstr>
      <vt:lpstr>inherit</vt:lpstr>
      <vt:lpstr>Open Sans</vt:lpstr>
      <vt:lpstr>Segoe UI</vt:lpstr>
      <vt:lpstr>Trebuchet MS</vt:lpstr>
      <vt:lpstr>Wingdings 3</vt:lpstr>
      <vt:lpstr>ערכת נושא Office</vt:lpstr>
      <vt:lpstr>פיאה</vt:lpstr>
      <vt:lpstr>מצגת של PowerPoint‏</vt:lpstr>
      <vt:lpstr>שליטה בכפתורי הקסם לרגשות האינטימיים</vt:lpstr>
      <vt:lpstr>התניה קלאסית</vt:lpstr>
      <vt:lpstr>מצגת של PowerPoint‏</vt:lpstr>
      <vt:lpstr>מצגת של PowerPoint‏</vt:lpstr>
      <vt:lpstr>התניה לדורות</vt:lpstr>
      <vt:lpstr>הפעלת החשק באמצעות כפתור</vt:lpstr>
      <vt:lpstr>חיוך מדומה מסייע במצבי לחץ </vt:lpstr>
      <vt:lpstr>עשרת בני רב פפא</vt:lpstr>
      <vt:lpstr>מצגת של PowerPoint‏</vt:lpstr>
      <vt:lpstr>התניה אופרנטית</vt:lpstr>
      <vt:lpstr>מצגת של PowerPoint‏</vt:lpstr>
      <vt:lpstr>כוחה של התניה</vt:lpstr>
      <vt:lpstr>מצגת של PowerPoint‏</vt:lpstr>
      <vt:lpstr>שיר שהופך את הגשם לברכה</vt:lpstr>
      <vt:lpstr>אַסוֹצִיאַצְיָה</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התניה מחשבתית</vt:lpstr>
      <vt:lpstr>מצגת של PowerPoint‏</vt:lpstr>
      <vt:lpstr>מצגת של PowerPoint‏</vt:lpstr>
      <vt:lpstr>מצגת של PowerPoint‏</vt:lpstr>
      <vt:lpstr>עוגן</vt:lpstr>
      <vt:lpstr>עוגנים טבעיים</vt:lpstr>
      <vt:lpstr>המדריך לשימוש בעוגנים</vt:lpstr>
      <vt:lpstr>קיימים מספר סוגי עוגנים </vt:lpstr>
      <vt:lpstr>מה צריך לעשות, כדי ליצור עוגן? </vt:lpstr>
      <vt:lpstr>מצגת של PowerPoint‏</vt:lpstr>
      <vt:lpstr>זמן יצירת העוגן</vt:lpstr>
      <vt:lpstr>ארבעה הדגשים לקביעת עוגן</vt:lpstr>
      <vt:lpstr>כיצד באפשרותך לגרום למישהו לאהוב אותך? </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יהודה טאוב</dc:creator>
  <cp:lastModifiedBy>יהודה טאוב</cp:lastModifiedBy>
  <cp:revision>3</cp:revision>
  <dcterms:created xsi:type="dcterms:W3CDTF">2024-02-29T10:59:51Z</dcterms:created>
  <dcterms:modified xsi:type="dcterms:W3CDTF">2024-03-12T01:12:15Z</dcterms:modified>
</cp:coreProperties>
</file>