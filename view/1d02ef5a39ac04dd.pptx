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7" r:id="rId2"/>
    <p:sldId id="258" r:id="rId3"/>
    <p:sldId id="262" r:id="rId4"/>
    <p:sldId id="263" r:id="rId5"/>
    <p:sldId id="264" r:id="rId6"/>
    <p:sldId id="265" r:id="rId7"/>
    <p:sldId id="266" r:id="rId8"/>
    <p:sldId id="259" r:id="rId9"/>
    <p:sldId id="260" r:id="rId10"/>
    <p:sldId id="261" r:id="rId11"/>
    <p:sldId id="267" r:id="rId12"/>
    <p:sldId id="268" r:id="rId13"/>
    <p:sldId id="283" r:id="rId14"/>
    <p:sldId id="284" r:id="rId15"/>
    <p:sldId id="272" r:id="rId16"/>
    <p:sldId id="269" r:id="rId17"/>
    <p:sldId id="270" r:id="rId18"/>
    <p:sldId id="271" r:id="rId19"/>
    <p:sldId id="273" r:id="rId20"/>
    <p:sldId id="274" r:id="rId21"/>
    <p:sldId id="275" r:id="rId22"/>
    <p:sldId id="276" r:id="rId23"/>
    <p:sldId id="277" r:id="rId24"/>
    <p:sldId id="278" r:id="rId25"/>
    <p:sldId id="279" r:id="rId26"/>
    <p:sldId id="280" r:id="rId27"/>
    <p:sldId id="281" r:id="rId28"/>
    <p:sldId id="282" r:id="rId29"/>
    <p:sldId id="285" r:id="rId30"/>
    <p:sldId id="286" r:id="rId31"/>
    <p:sldId id="287" r:id="rId32"/>
    <p:sldId id="288" r:id="rId33"/>
    <p:sldId id="289" r:id="rId3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013" autoAdjust="0"/>
    <p:restoredTop sz="94660"/>
  </p:normalViewPr>
  <p:slideViewPr>
    <p:cSldViewPr snapToGrid="0">
      <p:cViewPr varScale="1">
        <p:scale>
          <a:sx n="83" d="100"/>
          <a:sy n="83" d="100"/>
        </p:scale>
        <p:origin x="643"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יהודה טאוב" userId="80c2dbd02819b45c" providerId="LiveId" clId="{2307E94C-D204-4CF9-BA20-2C85E4ADCDB6}"/>
    <pc:docChg chg="undo custSel addSld modSld">
      <pc:chgData name="יהודה טאוב" userId="80c2dbd02819b45c" providerId="LiveId" clId="{2307E94C-D204-4CF9-BA20-2C85E4ADCDB6}" dt="2025-03-19T15:27:40.824" v="160"/>
      <pc:docMkLst>
        <pc:docMk/>
      </pc:docMkLst>
      <pc:sldChg chg="modSp new mod">
        <pc:chgData name="יהודה טאוב" userId="80c2dbd02819b45c" providerId="LiveId" clId="{2307E94C-D204-4CF9-BA20-2C85E4ADCDB6}" dt="2025-03-19T15:27:40.824" v="160"/>
        <pc:sldMkLst>
          <pc:docMk/>
          <pc:sldMk cId="3631468437" sldId="289"/>
        </pc:sldMkLst>
        <pc:spChg chg="mod">
          <ac:chgData name="יהודה טאוב" userId="80c2dbd02819b45c" providerId="LiveId" clId="{2307E94C-D204-4CF9-BA20-2C85E4ADCDB6}" dt="2025-03-19T15:26:14.066" v="17" actId="20577"/>
          <ac:spMkLst>
            <pc:docMk/>
            <pc:sldMk cId="3631468437" sldId="289"/>
            <ac:spMk id="2" creationId="{18A1EF9C-9204-3F01-4922-F529D9AD03FD}"/>
          </ac:spMkLst>
        </pc:spChg>
        <pc:spChg chg="mod">
          <ac:chgData name="יהודה טאוב" userId="80c2dbd02819b45c" providerId="LiveId" clId="{2307E94C-D204-4CF9-BA20-2C85E4ADCDB6}" dt="2025-03-19T15:27:40.824" v="160"/>
          <ac:spMkLst>
            <pc:docMk/>
            <pc:sldMk cId="3631468437" sldId="289"/>
            <ac:spMk id="3" creationId="{71483DEF-4832-C851-BD56-58EEC2C9032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A8037C0-54B4-9082-0943-1761EC37796D}"/>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98A23E3D-5C36-F0EA-AE48-8689AB0E7C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4F3054C3-AB77-8ACB-738A-FC286357FBB7}"/>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6ED3EE1C-201E-6D75-9524-E804CC32674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20391F3-D695-4E68-FBCD-95DE76826751}"/>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3381554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4407AAE-9734-D4B5-40E2-79BA918D6D0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3EB924D-689A-79D7-1E9B-4923FBFB8DD3}"/>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B6966C4-A01A-7A22-5C54-F6BD6E00E2C3}"/>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A03925B-CD9E-17A3-60FA-76507503B81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6033E05-7BD3-3AD0-DF3C-707633EF31AF}"/>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1260655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DDDCB9-0F39-AA5B-715F-994FAA26DBC2}"/>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B7E71BC-E366-38E2-71D2-52338A419B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CBA5D7F5-A569-74D3-A96B-5BA4D3CDB5D1}"/>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6B3678EF-67BA-0B52-AB88-523ECC39809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4B15D60-6D74-FE49-2074-D9E0A2099768}"/>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3464241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1E44F5-DBD3-F6A6-C62D-57ECDA1CFCC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3BCCC96-328D-8633-744B-184BB71A6942}"/>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A038572D-EB65-6703-9577-38768348F5E2}"/>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81AB2CB1-75DC-5240-8552-36D735C3855F}"/>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0149CC70-B5FB-7188-E857-29AE23A51F6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3216D5F-9AEF-BA9D-8DBE-808DC4B4F626}"/>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112132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593D0E0-E4B4-3F95-CF84-D8C3C999556E}"/>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79037AE-5790-467C-30C9-ECCCD69123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CC1FDD0D-7E81-5E52-6A72-ED75F63A70D7}"/>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04BC7367-B564-8B02-1A1C-4FB16054C6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8E8AF43-7EBF-17B3-D985-9A7B46090A68}"/>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D47B5256-0568-6D6F-9EFB-49EE911DA490}"/>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F945D020-59AA-84AD-92B1-537187A6D225}"/>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C084655B-4967-058E-5B4D-7D0E0C1E249F}"/>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370634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6B47FA-4E52-611E-0848-F8FAD20FB71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560559CF-1B3F-8E03-C025-B747E35BBC0D}"/>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85271763-424C-8534-DEAB-6607932A97EA}"/>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7A330839-C52B-F956-DAC7-0076D49B25DA}"/>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3567100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4552E1C4-548C-4B92-B881-41B90E3F85AB}"/>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93D68E9A-9ABE-10E9-7C49-2D08750C8F2B}"/>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D15684EE-BD65-5CB4-2603-C54F19313593}"/>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656526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C2586F-794B-8477-0F13-5227EB841ABF}"/>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3A9C8F8-4027-6369-8F3F-DCF7D5541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4FAFAC70-348A-9563-1A45-FBA740A050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8CE9391-6A16-7AF3-67EF-46E940E93E68}"/>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60F478DE-52EF-7B07-EC1A-7249CC55369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0961F6D-8AED-2DE8-435E-10E52EEF2792}"/>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1406178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3B3806-ACF7-B12F-A347-0177B0690262}"/>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A577C204-22ED-2D05-5E26-4811BB6306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54D4EA5C-B21D-A0EE-FF21-C1DC7358E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694D7C5-9CBA-5D28-70B8-3E4CE9C5A0AC}"/>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A48195E4-F938-622C-A73E-17A48628E0C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BAD2D12-73C7-A297-50C6-0256ABA683CE}"/>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199853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185A3E-F508-AD57-942C-0232DF475EA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B8CA2D17-F8EC-9A93-D73A-A89555837D32}"/>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7F99464-49A5-6C8C-3E81-7C9EF1947E19}"/>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9455628D-5D90-E93A-A1FB-673A3C5DD40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7F60811-2CB7-5BDE-4DD2-0139C7CF8EC2}"/>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816210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28D45620-AF86-5E02-D07A-0EC478F2196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8A9A46B-93D1-BB98-1B69-F9E455CF085B}"/>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E6D4D82-E1C6-478E-9F6E-00E8B2342923}"/>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7DA718FA-4020-C3D8-20F2-F3A9AEAC8CF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9C87DC0-8255-8287-FEDE-F9AE9BAD67A6}"/>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1145951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09F5DDD-4503-2A5C-6A61-92B85362B98C}"/>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DEECCDA-C364-03DD-D443-204D5C2C83D3}"/>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CC8D257-3B41-3F0E-2E84-1EF4DB31FFDC}"/>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C8289F34-7E0A-D968-3C33-086924DC02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18958B5F-67C6-AB0A-7A7D-9042965BECB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583F49D2-39A7-4013-96B0-9BB0E3ED0159}" type="slidenum">
              <a:rPr lang="he-IL" smtClean="0"/>
              <a:t>‹#›</a:t>
            </a:fld>
            <a:endParaRPr lang="he-IL"/>
          </a:p>
        </p:txBody>
      </p:sp>
    </p:spTree>
    <p:extLst>
      <p:ext uri="{BB962C8B-B14F-4D97-AF65-F5344CB8AC3E}">
        <p14:creationId xmlns:p14="http://schemas.microsoft.com/office/powerpoint/2010/main" val="35642944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2.pn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15.sv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9.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9.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9.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audio" Target="../media/media3.mp3"/><Relationship Id="rId7" Type="http://schemas.openxmlformats.org/officeDocument/2006/relationships/image" Target="../media/image12.png"/><Relationship Id="rId2" Type="http://schemas.microsoft.com/office/2007/relationships/media" Target="../media/media3.mp3"/><Relationship Id="rId1" Type="http://schemas.openxmlformats.org/officeDocument/2006/relationships/tags" Target="../tags/tag5.xml"/><Relationship Id="rId6" Type="http://schemas.openxmlformats.org/officeDocument/2006/relationships/image" Target="../media/image25.png"/><Relationship Id="rId5" Type="http://schemas.openxmlformats.org/officeDocument/2006/relationships/image" Target="../media/image23.jpg"/><Relationship Id="rId4"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claude.site/artifacts/b698b3e4-f1bd-46e9-98aa-ea139aa88086?fullscreen=tru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תמונה 3" descr="תמונה שמכילה בתוך מבנה, ספר, סרט מצויר, נר&#10;&#10;תוכן שנוצר על-ידי בינה מלאכותית עשוי להיות שגוי.">
            <a:extLst>
              <a:ext uri="{FF2B5EF4-FFF2-40B4-BE49-F238E27FC236}">
                <a16:creationId xmlns:a16="http://schemas.microsoft.com/office/drawing/2014/main" id="{3DCEEE46-E556-D138-DA31-380894EB04E5}"/>
              </a:ext>
            </a:extLst>
          </p:cNvPr>
          <p:cNvPicPr>
            <a:picLocks noChangeAspect="1"/>
          </p:cNvPicPr>
          <p:nvPr/>
        </p:nvPicPr>
        <p:blipFill>
          <a:blip r:embed="rId2"/>
          <a:srcRect t="14075" b="15002"/>
          <a:stretch/>
        </p:blipFill>
        <p:spPr>
          <a:xfrm>
            <a:off x="2522358" y="10"/>
            <a:ext cx="9669642"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כותרת 1">
            <a:extLst>
              <a:ext uri="{FF2B5EF4-FFF2-40B4-BE49-F238E27FC236}">
                <a16:creationId xmlns:a16="http://schemas.microsoft.com/office/drawing/2014/main" id="{99C800CD-D1D0-3F0A-E8DB-2508C1823383}"/>
              </a:ext>
            </a:extLst>
          </p:cNvPr>
          <p:cNvSpPr>
            <a:spLocks noGrp="1"/>
          </p:cNvSpPr>
          <p:nvPr>
            <p:ph type="ctrTitle"/>
          </p:nvPr>
        </p:nvSpPr>
        <p:spPr>
          <a:xfrm>
            <a:off x="952228" y="743447"/>
            <a:ext cx="3973385" cy="3692028"/>
          </a:xfrm>
          <a:noFill/>
        </p:spPr>
        <p:txBody>
          <a:bodyPr>
            <a:normAutofit fontScale="90000"/>
          </a:bodyPr>
          <a:lstStyle/>
          <a:p>
            <a:r>
              <a:rPr lang="he-IL" sz="4000" b="1" dirty="0">
                <a:latin typeface="Fb Toiren" panose="00000500000000000000" pitchFamily="50" charset="-79"/>
                <a:cs typeface="Fb Toiren" panose="00000500000000000000" pitchFamily="50" charset="-79"/>
              </a:rPr>
              <a:t>כיצד ניתן להקריב היום קרבן פסח?</a:t>
            </a:r>
            <a:br>
              <a:rPr lang="he-IL" sz="4000" b="1" dirty="0">
                <a:latin typeface="Fb Toiren" panose="00000500000000000000" pitchFamily="50" charset="-79"/>
                <a:cs typeface="Fb Toiren" panose="00000500000000000000" pitchFamily="50" charset="-79"/>
              </a:rPr>
            </a:br>
            <a:br>
              <a:rPr lang="he-IL" sz="4000" b="1" dirty="0">
                <a:latin typeface="Fb Toiren" panose="00000500000000000000" pitchFamily="50" charset="-79"/>
                <a:cs typeface="Fb Toiren" panose="00000500000000000000" pitchFamily="50" charset="-79"/>
              </a:rPr>
            </a:br>
            <a:r>
              <a:rPr lang="he-IL" sz="4000" b="1" dirty="0">
                <a:latin typeface="Fb Toiren" panose="00000500000000000000" pitchFamily="50" charset="-79"/>
                <a:cs typeface="Fb Toiren" panose="00000500000000000000" pitchFamily="50" charset="-79"/>
              </a:rPr>
              <a:t> סקירה מקיפה של בעיות, פתרונות ורעיונות</a:t>
            </a:r>
            <a:br>
              <a:rPr lang="he-IL" sz="4000" b="1" dirty="0">
                <a:latin typeface="Fb Toiren" panose="00000500000000000000" pitchFamily="50" charset="-79"/>
                <a:cs typeface="Fb Toiren" panose="00000500000000000000" pitchFamily="50" charset="-79"/>
              </a:rPr>
            </a:br>
            <a:endParaRPr lang="he-IL" sz="4000" dirty="0">
              <a:latin typeface="Fb Toiren" panose="00000500000000000000" pitchFamily="50" charset="-79"/>
              <a:cs typeface="Fb Toiren" panose="00000500000000000000" pitchFamily="50" charset="-79"/>
            </a:endParaRPr>
          </a:p>
        </p:txBody>
      </p:sp>
      <p:sp>
        <p:nvSpPr>
          <p:cNvPr id="3" name="כותרת משנה 2">
            <a:extLst>
              <a:ext uri="{FF2B5EF4-FFF2-40B4-BE49-F238E27FC236}">
                <a16:creationId xmlns:a16="http://schemas.microsoft.com/office/drawing/2014/main" id="{6DA4496C-A669-3701-F806-02D021AD938C}"/>
              </a:ext>
            </a:extLst>
          </p:cNvPr>
          <p:cNvSpPr>
            <a:spLocks noGrp="1"/>
          </p:cNvSpPr>
          <p:nvPr>
            <p:ph type="subTitle" idx="1"/>
          </p:nvPr>
        </p:nvSpPr>
        <p:spPr>
          <a:xfrm>
            <a:off x="952229" y="4629234"/>
            <a:ext cx="3973386" cy="1485319"/>
          </a:xfrm>
          <a:noFill/>
        </p:spPr>
        <p:txBody>
          <a:bodyPr>
            <a:normAutofit/>
          </a:bodyPr>
          <a:lstStyle/>
          <a:p>
            <a:r>
              <a:rPr lang="he-IL" sz="3600" dirty="0">
                <a:latin typeface="AklimatMF Medium" panose="01000503000000020003" pitchFamily="50" charset="-79"/>
                <a:cs typeface="AklimatMF Medium" panose="01000503000000020003" pitchFamily="50" charset="-79"/>
              </a:rPr>
              <a:t>הרב יהודה טאוב</a:t>
            </a:r>
          </a:p>
          <a:p>
            <a:r>
              <a:rPr lang="he-IL" sz="3600" dirty="0">
                <a:latin typeface="AklimatMF Medium" panose="01000503000000020003" pitchFamily="50" charset="-79"/>
                <a:cs typeface="AklimatMF Medium" panose="01000503000000020003" pitchFamily="50" charset="-79"/>
              </a:rPr>
              <a:t>על פי הרב אורי </a:t>
            </a:r>
            <a:r>
              <a:rPr lang="he-IL" sz="3600" dirty="0" err="1">
                <a:latin typeface="AklimatMF Medium" panose="01000503000000020003" pitchFamily="50" charset="-79"/>
                <a:cs typeface="AklimatMF Medium" panose="01000503000000020003" pitchFamily="50" charset="-79"/>
              </a:rPr>
              <a:t>אנגלדר</a:t>
            </a:r>
            <a:endParaRPr lang="he-IL" sz="3600" dirty="0">
              <a:latin typeface="AklimatMF Medium" panose="01000503000000020003" pitchFamily="50" charset="-79"/>
              <a:cs typeface="AklimatMF Medium" panose="01000503000000020003" pitchFamily="50" charset="-79"/>
            </a:endParaRPr>
          </a:p>
        </p:txBody>
      </p:sp>
    </p:spTree>
    <p:extLst>
      <p:ext uri="{BB962C8B-B14F-4D97-AF65-F5344CB8AC3E}">
        <p14:creationId xmlns:p14="http://schemas.microsoft.com/office/powerpoint/2010/main" val="255320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BD2F2B-13B6-6A48-187D-7161EF5C0FA2}"/>
              </a:ext>
            </a:extLst>
          </p:cNvPr>
          <p:cNvSpPr>
            <a:spLocks noGrp="1"/>
          </p:cNvSpPr>
          <p:nvPr>
            <p:ph type="title"/>
          </p:nvPr>
        </p:nvSpPr>
        <p:spPr/>
        <p:txBody>
          <a:bodyPr/>
          <a:lstStyle/>
          <a:p>
            <a:r>
              <a:rPr lang="he-IL" dirty="0"/>
              <a:t>למה נקרא שמו פסח?</a:t>
            </a:r>
          </a:p>
        </p:txBody>
      </p:sp>
      <p:pic>
        <p:nvPicPr>
          <p:cNvPr id="6" name="מציין מיקום של תמונה 5" descr="תמונה שמכילה נר, בתוך מבנה, עוגת יום הולדת, אוכל&#10;&#10;תוכן שנוצר על-ידי בינה מלאכותית עשוי להיות שגוי.">
            <a:extLst>
              <a:ext uri="{FF2B5EF4-FFF2-40B4-BE49-F238E27FC236}">
                <a16:creationId xmlns:a16="http://schemas.microsoft.com/office/drawing/2014/main" id="{F99214D9-BFB6-6A60-5439-38486B3AC097}"/>
              </a:ext>
            </a:extLst>
          </p:cNvPr>
          <p:cNvPicPr>
            <a:picLocks noGrp="1" noChangeAspect="1"/>
          </p:cNvPicPr>
          <p:nvPr>
            <p:ph type="pic" idx="1"/>
          </p:nvPr>
        </p:nvPicPr>
        <p:blipFill>
          <a:blip r:embed="rId2"/>
          <a:srcRect t="10520" b="10520"/>
          <a:stretch>
            <a:fillRect/>
          </a:stretch>
        </p:blipFill>
        <p:spPr/>
      </p:pic>
      <p:sp>
        <p:nvSpPr>
          <p:cNvPr id="4" name="מציין מיקום טקסט 3">
            <a:extLst>
              <a:ext uri="{FF2B5EF4-FFF2-40B4-BE49-F238E27FC236}">
                <a16:creationId xmlns:a16="http://schemas.microsoft.com/office/drawing/2014/main" id="{157E12ED-36EB-4D91-C1F8-A9CD0CF1B808}"/>
              </a:ext>
            </a:extLst>
          </p:cNvPr>
          <p:cNvSpPr>
            <a:spLocks noGrp="1"/>
          </p:cNvSpPr>
          <p:nvPr>
            <p:ph type="body" sz="half" idx="2"/>
          </p:nvPr>
        </p:nvSpPr>
        <p:spPr/>
        <p:txBody>
          <a:bodyPr>
            <a:normAutofit/>
          </a:bodyPr>
          <a:lstStyle/>
          <a:p>
            <a:r>
              <a:rPr lang="he-IL" sz="2800" dirty="0">
                <a:solidFill>
                  <a:srgbClr val="4C6A7D"/>
                </a:solidFill>
                <a:effectLst/>
                <a:highlight>
                  <a:srgbClr val="FFFFFF"/>
                </a:highlight>
                <a:latin typeface="AklimatMF Medium" panose="01000503000000020003" pitchFamily="50" charset="-79"/>
                <a:ea typeface="Arial" panose="020B0604020202020204" pitchFamily="34" charset="0"/>
                <a:cs typeface="AklimatMF Medium" panose="01000503000000020003" pitchFamily="50" charset="-79"/>
              </a:rPr>
              <a:t>בכל שנה יהודים עורכים הכנות מאומצות לקראת חג הפסח כשליל הסדר במרכזו. </a:t>
            </a:r>
          </a:p>
          <a:p>
            <a:r>
              <a:rPr lang="he-IL" sz="2800" dirty="0">
                <a:solidFill>
                  <a:srgbClr val="4C6A7D"/>
                </a:solidFill>
                <a:effectLst/>
                <a:highlight>
                  <a:srgbClr val="FFFFFF"/>
                </a:highlight>
                <a:latin typeface="AklimatMF Medium" panose="01000503000000020003" pitchFamily="50" charset="-79"/>
                <a:ea typeface="Arial" panose="020B0604020202020204" pitchFamily="34" charset="0"/>
                <a:cs typeface="AklimatMF Medium" panose="01000503000000020003" pitchFamily="50" charset="-79"/>
              </a:rPr>
              <a:t>אך למען האמת חייבים לזכור כי אנו חסרים את מרכז ליל הסדר והוא קרבן הפסח שעל שמו נקרא החג: פסח. </a:t>
            </a:r>
            <a:endParaRPr lang="he-IL" sz="2400" dirty="0">
              <a:latin typeface="AklimatMF Medium" panose="01000503000000020003" pitchFamily="50" charset="-79"/>
              <a:cs typeface="AklimatMF Medium" panose="01000503000000020003" pitchFamily="50" charset="-79"/>
            </a:endParaRPr>
          </a:p>
        </p:txBody>
      </p:sp>
    </p:spTree>
    <p:extLst>
      <p:ext uri="{BB962C8B-B14F-4D97-AF65-F5344CB8AC3E}">
        <p14:creationId xmlns:p14="http://schemas.microsoft.com/office/powerpoint/2010/main" val="1758054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21EFB56D-CDA2-C365-6C59-709387E47F0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A73D07C-4A6C-990C-D4C8-0EA74645C332}"/>
              </a:ext>
            </a:extLst>
          </p:cNvPr>
          <p:cNvSpPr>
            <a:spLocks noGrp="1"/>
          </p:cNvSpPr>
          <p:nvPr>
            <p:ph type="title"/>
          </p:nvPr>
        </p:nvSpPr>
        <p:spPr>
          <a:xfrm>
            <a:off x="839788" y="457200"/>
            <a:ext cx="3932237" cy="651164"/>
          </a:xfrm>
        </p:spPr>
        <p:txBody>
          <a:bodyPr/>
          <a:lstStyle/>
          <a:p>
            <a:pPr algn="ctr"/>
            <a:r>
              <a:rPr lang="he-IL" dirty="0">
                <a:latin typeface="Fb Toiren" panose="00000500000000000000" pitchFamily="50" charset="-79"/>
                <a:ea typeface="ADLaM Display" panose="020F0502020204030204" pitchFamily="2" charset="0"/>
                <a:cs typeface="Fb Toiren" panose="00000500000000000000" pitchFamily="50" charset="-79"/>
              </a:rPr>
              <a:t>יחודו של </a:t>
            </a:r>
            <a:r>
              <a:rPr lang="he-IL" dirty="0" err="1">
                <a:latin typeface="Fb Toiren" panose="00000500000000000000" pitchFamily="50" charset="-79"/>
                <a:ea typeface="ADLaM Display" panose="020F0502020204030204" pitchFamily="2" charset="0"/>
                <a:cs typeface="Fb Toiren" panose="00000500000000000000" pitchFamily="50" charset="-79"/>
              </a:rPr>
              <a:t>הקרבן</a:t>
            </a:r>
            <a:endParaRPr lang="he-IL" dirty="0">
              <a:latin typeface="Fb Toiren" panose="00000500000000000000" pitchFamily="50" charset="-79"/>
              <a:ea typeface="ADLaM Display" panose="020F0502020204030204" pitchFamily="2" charset="0"/>
              <a:cs typeface="Fb Toiren" panose="00000500000000000000" pitchFamily="50" charset="-79"/>
            </a:endParaRPr>
          </a:p>
        </p:txBody>
      </p:sp>
      <p:pic>
        <p:nvPicPr>
          <p:cNvPr id="6" name="מציין מיקום של תמונה 5" descr="תמונה שמכילה נר, בתוך מבנה, עוגת יום הולדת, אוכל&#10;&#10;תוכן שנוצר על-ידי בינה מלאכותית עשוי להיות שגוי.">
            <a:extLst>
              <a:ext uri="{FF2B5EF4-FFF2-40B4-BE49-F238E27FC236}">
                <a16:creationId xmlns:a16="http://schemas.microsoft.com/office/drawing/2014/main" id="{A10A68D8-7DCE-8CD0-C2E8-D66E0BEB763D}"/>
              </a:ext>
            </a:extLst>
          </p:cNvPr>
          <p:cNvPicPr>
            <a:picLocks noGrp="1" noChangeAspect="1"/>
          </p:cNvPicPr>
          <p:nvPr>
            <p:ph type="pic" idx="1"/>
          </p:nvPr>
        </p:nvPicPr>
        <p:blipFill>
          <a:blip r:embed="rId2"/>
          <a:srcRect t="10520" b="10520"/>
          <a:stretch>
            <a:fillRect/>
          </a:stretch>
        </p:blipFill>
        <p:spPr/>
      </p:pic>
      <p:sp>
        <p:nvSpPr>
          <p:cNvPr id="4" name="מציין מיקום טקסט 3">
            <a:extLst>
              <a:ext uri="{FF2B5EF4-FFF2-40B4-BE49-F238E27FC236}">
                <a16:creationId xmlns:a16="http://schemas.microsoft.com/office/drawing/2014/main" id="{B6BB6C85-D389-10CE-FB5C-90CD3BFA3CEF}"/>
              </a:ext>
            </a:extLst>
          </p:cNvPr>
          <p:cNvSpPr>
            <a:spLocks noGrp="1"/>
          </p:cNvSpPr>
          <p:nvPr>
            <p:ph type="body" sz="half" idx="2"/>
          </p:nvPr>
        </p:nvSpPr>
        <p:spPr>
          <a:xfrm>
            <a:off x="839788" y="1200727"/>
            <a:ext cx="3932237" cy="5292437"/>
          </a:xfrm>
        </p:spPr>
        <p:txBody>
          <a:bodyPr>
            <a:normAutofit fontScale="85000" lnSpcReduction="20000"/>
          </a:bodyPr>
          <a:lstStyle/>
          <a:p>
            <a:pPr algn="just"/>
            <a:r>
              <a:rPr lang="he-IL" sz="2800" dirty="0">
                <a:solidFill>
                  <a:srgbClr val="4C6A7D"/>
                </a:solidFill>
                <a:effectLst/>
                <a:highlight>
                  <a:srgbClr val="FFFFFF"/>
                </a:highlight>
                <a:latin typeface="AklimatMF Medium" panose="01000503000000020003" pitchFamily="50" charset="-79"/>
                <a:ea typeface="Arial" panose="020B0604020202020204" pitchFamily="34" charset="0"/>
                <a:cs typeface="AklimatMF Medium" panose="01000503000000020003" pitchFamily="50" charset="-79"/>
              </a:rPr>
              <a:t>קרבן הפסח הוא אחד המצוות המרכזיות והחשובות ביותר במסורת היהודית, אשר נצטוו עליה בני ישראל בליל יציאת מצרים כפי שמפורט בספר שמות. </a:t>
            </a:r>
          </a:p>
          <a:p>
            <a:pPr algn="just"/>
            <a:r>
              <a:rPr lang="he-IL" sz="2800" dirty="0">
                <a:solidFill>
                  <a:srgbClr val="4C6A7D"/>
                </a:solidFill>
                <a:effectLst/>
                <a:highlight>
                  <a:srgbClr val="FFFFFF"/>
                </a:highlight>
                <a:latin typeface="AklimatMF Medium" panose="01000503000000020003" pitchFamily="50" charset="-79"/>
                <a:ea typeface="Arial" panose="020B0604020202020204" pitchFamily="34" charset="0"/>
                <a:cs typeface="AklimatMF Medium" panose="01000503000000020003" pitchFamily="50" charset="-79"/>
              </a:rPr>
              <a:t>הקרבת הכבש או העז בליל ארבעה עשר בניסן ואכילתו עם מצות ומרורים בליל החג היוו את ליבת חגיגת הפסח בתקופת המקרא ובית המקדש. </a:t>
            </a:r>
          </a:p>
          <a:p>
            <a:pPr algn="just"/>
            <a:r>
              <a:rPr lang="he-IL" sz="2800" dirty="0">
                <a:solidFill>
                  <a:srgbClr val="4C6A7D"/>
                </a:solidFill>
                <a:effectLst/>
                <a:highlight>
                  <a:srgbClr val="FFFFFF"/>
                </a:highlight>
                <a:latin typeface="AklimatMF Medium" panose="01000503000000020003" pitchFamily="50" charset="-79"/>
                <a:ea typeface="Arial" panose="020B0604020202020204" pitchFamily="34" charset="0"/>
                <a:cs typeface="AklimatMF Medium" panose="01000503000000020003" pitchFamily="50" charset="-79"/>
              </a:rPr>
              <a:t>עם חורבן בית המקדש השני בשנת 70 לספירה, פסקה ברובה המכריע של קהילות ישראל הקרבת הקורבנות, ובכלל זה קרבן הפסח . </a:t>
            </a:r>
          </a:p>
          <a:p>
            <a:pPr algn="just"/>
            <a:r>
              <a:rPr lang="he-IL" sz="2800" dirty="0">
                <a:solidFill>
                  <a:srgbClr val="4C6A7D"/>
                </a:solidFill>
                <a:effectLst/>
                <a:highlight>
                  <a:srgbClr val="FFFFFF"/>
                </a:highlight>
                <a:latin typeface="AklimatMF Medium" panose="01000503000000020003" pitchFamily="50" charset="-79"/>
                <a:ea typeface="Arial" panose="020B0604020202020204" pitchFamily="34" charset="0"/>
                <a:cs typeface="AklimatMF Medium" panose="01000503000000020003" pitchFamily="50" charset="-79"/>
              </a:rPr>
              <a:t>השאלה האם ניתן ומותר להקריב כיום קרבן פסח מעסיקה רבים בקרב הציבור הדתי וההלכתי, ומעוררת דיונים סביב סוגיות היסטוריות, הלכתיות ומעשיות מורכבות.</a:t>
            </a:r>
            <a:endParaRPr lang="he-IL" sz="2400" dirty="0">
              <a:latin typeface="AklimatMF Medium" panose="01000503000000020003" pitchFamily="50" charset="-79"/>
              <a:cs typeface="AklimatMF Medium" panose="01000503000000020003" pitchFamily="50" charset="-79"/>
            </a:endParaRPr>
          </a:p>
        </p:txBody>
      </p:sp>
    </p:spTree>
    <p:extLst>
      <p:ext uri="{BB962C8B-B14F-4D97-AF65-F5344CB8AC3E}">
        <p14:creationId xmlns:p14="http://schemas.microsoft.com/office/powerpoint/2010/main" val="2638498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EF9EF1A-6826-48CD-2EAF-C638E5671EF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D37F200-388C-1824-0361-A6A404964488}"/>
              </a:ext>
            </a:extLst>
          </p:cNvPr>
          <p:cNvSpPr>
            <a:spLocks noGrp="1"/>
          </p:cNvSpPr>
          <p:nvPr>
            <p:ph type="title"/>
          </p:nvPr>
        </p:nvSpPr>
        <p:spPr>
          <a:xfrm>
            <a:off x="839788" y="457200"/>
            <a:ext cx="3932237" cy="697345"/>
          </a:xfrm>
        </p:spPr>
        <p:txBody>
          <a:bodyPr>
            <a:normAutofit fontScale="90000"/>
          </a:bodyPr>
          <a:lstStyle/>
          <a:p>
            <a:pPr algn="ctr"/>
            <a:r>
              <a:rPr lang="he-IL" sz="4400" b="1" dirty="0">
                <a:latin typeface="AklimatMF Medium" panose="01000503000000020003" pitchFamily="50" charset="-79"/>
                <a:cs typeface="AklimatMF Medium" panose="01000503000000020003" pitchFamily="50" charset="-79"/>
              </a:rPr>
              <a:t>התנאים לקרבן</a:t>
            </a:r>
          </a:p>
        </p:txBody>
      </p:sp>
      <p:sp>
        <p:nvSpPr>
          <p:cNvPr id="4" name="מציין מיקום טקסט 3">
            <a:extLst>
              <a:ext uri="{FF2B5EF4-FFF2-40B4-BE49-F238E27FC236}">
                <a16:creationId xmlns:a16="http://schemas.microsoft.com/office/drawing/2014/main" id="{E9779F2C-AB7E-7E6B-62BA-54661186E6E2}"/>
              </a:ext>
            </a:extLst>
          </p:cNvPr>
          <p:cNvSpPr>
            <a:spLocks noGrp="1"/>
          </p:cNvSpPr>
          <p:nvPr>
            <p:ph type="body" sz="half" idx="2"/>
          </p:nvPr>
        </p:nvSpPr>
        <p:spPr>
          <a:xfrm>
            <a:off x="839788" y="1385455"/>
            <a:ext cx="3932237" cy="5472545"/>
          </a:xfrm>
        </p:spPr>
        <p:txBody>
          <a:bodyPr>
            <a:normAutofit fontScale="85000" lnSpcReduction="20000"/>
          </a:bodyPr>
          <a:lstStyle/>
          <a:p>
            <a:pPr algn="just"/>
            <a:r>
              <a:rPr lang="he-IL" sz="2800" dirty="0">
                <a:latin typeface="AklimatMF Medium" panose="01000503000000020003" pitchFamily="50" charset="-79"/>
                <a:cs typeface="AklimatMF Medium" panose="01000503000000020003" pitchFamily="50" charset="-79"/>
              </a:rPr>
              <a:t>מקורו של קרבן הפסח נעוץ במעמד יציאת מצרים, כאשר האל ציווה על בני ישראל לקחת שה לבית אבות ולשחטו בין הערביים . </a:t>
            </a:r>
          </a:p>
          <a:p>
            <a:pPr algn="just"/>
            <a:r>
              <a:rPr lang="he-IL" sz="2800" dirty="0">
                <a:latin typeface="AklimatMF Medium" panose="01000503000000020003" pitchFamily="50" charset="-79"/>
                <a:cs typeface="AklimatMF Medium" panose="01000503000000020003" pitchFamily="50" charset="-79"/>
              </a:rPr>
              <a:t>הדם נועד להיות אות על הבתים אשר בהם יושבים בני ישראל, כדי שה' יפסח על פתחיהם במכת בכורות. </a:t>
            </a:r>
          </a:p>
          <a:p>
            <a:pPr algn="just"/>
            <a:r>
              <a:rPr lang="he-IL" sz="2800" dirty="0">
                <a:latin typeface="AklimatMF Medium" panose="01000503000000020003" pitchFamily="50" charset="-79"/>
                <a:cs typeface="AklimatMF Medium" panose="01000503000000020003" pitchFamily="50" charset="-79"/>
              </a:rPr>
              <a:t>התורה מפרטת את ההוראות לגבי אופן השחיטה, האכילה - הכוללת אכילת בשר </a:t>
            </a:r>
            <a:r>
              <a:rPr lang="he-IL" sz="2800" dirty="0" err="1">
                <a:latin typeface="AklimatMF Medium" panose="01000503000000020003" pitchFamily="50" charset="-79"/>
                <a:cs typeface="AklimatMF Medium" panose="01000503000000020003" pitchFamily="50" charset="-79"/>
              </a:rPr>
              <a:t>הקרבן</a:t>
            </a:r>
            <a:r>
              <a:rPr lang="he-IL" sz="2800" dirty="0">
                <a:latin typeface="AklimatMF Medium" panose="01000503000000020003" pitchFamily="50" charset="-79"/>
                <a:cs typeface="AklimatMF Medium" panose="01000503000000020003" pitchFamily="50" charset="-79"/>
              </a:rPr>
              <a:t> עם מצות ומרורים - ואת הציווי לזכור את האירוע הזה ולחוג את חג הפסח לדורות עולם. </a:t>
            </a:r>
          </a:p>
          <a:p>
            <a:pPr algn="just"/>
            <a:r>
              <a:rPr lang="he-IL" sz="2800" dirty="0">
                <a:latin typeface="AklimatMF Medium" panose="01000503000000020003" pitchFamily="50" charset="-79"/>
                <a:cs typeface="AklimatMF Medium" panose="01000503000000020003" pitchFamily="50" charset="-79"/>
              </a:rPr>
              <a:t>בספר במדבר מצווה בני ישראל להקריב את הפסח במועדו, בארבעה עשר יום לחודש הראשון, בין הערביים.</a:t>
            </a:r>
          </a:p>
          <a:p>
            <a:pPr algn="just"/>
            <a:r>
              <a:rPr lang="he-IL" sz="2800" dirty="0">
                <a:latin typeface="AklimatMF Medium" panose="01000503000000020003" pitchFamily="50" charset="-79"/>
                <a:cs typeface="AklimatMF Medium" panose="01000503000000020003" pitchFamily="50" charset="-79"/>
              </a:rPr>
              <a:t>ספר דברים מדגיש את הדרישה להקריב את </a:t>
            </a:r>
            <a:r>
              <a:rPr lang="he-IL" sz="2800" dirty="0" err="1">
                <a:latin typeface="AklimatMF Medium" panose="01000503000000020003" pitchFamily="50" charset="-79"/>
                <a:cs typeface="AklimatMF Medium" panose="01000503000000020003" pitchFamily="50" charset="-79"/>
              </a:rPr>
              <a:t>הקרבן</a:t>
            </a:r>
            <a:r>
              <a:rPr lang="he-IL" sz="2800" dirty="0">
                <a:latin typeface="AklimatMF Medium" panose="01000503000000020003" pitchFamily="50" charset="-79"/>
                <a:cs typeface="AklimatMF Medium" panose="01000503000000020003" pitchFamily="50" charset="-79"/>
              </a:rPr>
              <a:t> במקום אשר יבחר ה' לשכן שמו שם.</a:t>
            </a:r>
          </a:p>
        </p:txBody>
      </p:sp>
      <p:pic>
        <p:nvPicPr>
          <p:cNvPr id="5" name="מציין מיקום של תמונה 4">
            <a:extLst>
              <a:ext uri="{FF2B5EF4-FFF2-40B4-BE49-F238E27FC236}">
                <a16:creationId xmlns:a16="http://schemas.microsoft.com/office/drawing/2014/main" id="{38A5CC13-E324-4725-70E4-FF24C70A3E6C}"/>
              </a:ext>
            </a:extLst>
          </p:cNvPr>
          <p:cNvPicPr>
            <a:picLocks noGrp="1" noChangeAspect="1"/>
          </p:cNvPicPr>
          <p:nvPr>
            <p:ph type="pic" idx="1"/>
          </p:nvPr>
        </p:nvPicPr>
        <p:blipFill>
          <a:blip r:embed="rId2"/>
          <a:srcRect t="10520" b="10520"/>
          <a:stretch>
            <a:fillRect/>
          </a:stretch>
        </p:blipFill>
        <p:spPr>
          <a:prstGeom prst="rect">
            <a:avLst/>
          </a:prstGeom>
        </p:spPr>
      </p:pic>
    </p:spTree>
    <p:extLst>
      <p:ext uri="{BB962C8B-B14F-4D97-AF65-F5344CB8AC3E}">
        <p14:creationId xmlns:p14="http://schemas.microsoft.com/office/powerpoint/2010/main" val="2822270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E85D0D9B-9429-77B4-6C64-52B05605CA1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0538E2C-37BD-9DA3-AAE3-11DAC3E9D8EA}"/>
              </a:ext>
            </a:extLst>
          </p:cNvPr>
          <p:cNvSpPr>
            <a:spLocks noGrp="1"/>
          </p:cNvSpPr>
          <p:nvPr>
            <p:ph type="title"/>
          </p:nvPr>
        </p:nvSpPr>
        <p:spPr>
          <a:xfrm>
            <a:off x="839788" y="0"/>
            <a:ext cx="3932237" cy="738909"/>
          </a:xfrm>
        </p:spPr>
        <p:txBody>
          <a:bodyPr>
            <a:normAutofit/>
          </a:bodyPr>
          <a:lstStyle/>
          <a:p>
            <a:pPr algn="ctr"/>
            <a:r>
              <a:rPr lang="he-IL" sz="4400" b="1" dirty="0">
                <a:latin typeface="AklimatMF Medium" panose="01000503000000020003" pitchFamily="50" charset="-79"/>
                <a:cs typeface="AklimatMF Medium" panose="01000503000000020003" pitchFamily="50" charset="-79"/>
              </a:rPr>
              <a:t>התנאים לקרבן</a:t>
            </a:r>
          </a:p>
        </p:txBody>
      </p:sp>
      <p:sp>
        <p:nvSpPr>
          <p:cNvPr id="4" name="מציין מיקום טקסט 3">
            <a:extLst>
              <a:ext uri="{FF2B5EF4-FFF2-40B4-BE49-F238E27FC236}">
                <a16:creationId xmlns:a16="http://schemas.microsoft.com/office/drawing/2014/main" id="{4E3C2B60-9A04-DECA-CB74-73D47AE5609C}"/>
              </a:ext>
            </a:extLst>
          </p:cNvPr>
          <p:cNvSpPr>
            <a:spLocks noGrp="1"/>
          </p:cNvSpPr>
          <p:nvPr>
            <p:ph type="body" sz="half" idx="2"/>
          </p:nvPr>
        </p:nvSpPr>
        <p:spPr>
          <a:xfrm>
            <a:off x="120074" y="766619"/>
            <a:ext cx="4651952" cy="6091382"/>
          </a:xfrm>
        </p:spPr>
        <p:txBody>
          <a:bodyPr>
            <a:normAutofit fontScale="92500" lnSpcReduction="10000"/>
          </a:bodyPr>
          <a:lstStyle/>
          <a:p>
            <a:pPr algn="just"/>
            <a:r>
              <a:rPr lang="he-IL" sz="2400" dirty="0">
                <a:latin typeface="AklimatMF Medium" panose="01000503000000020003" pitchFamily="50" charset="-79"/>
                <a:cs typeface="AklimatMF Medium" panose="01000503000000020003" pitchFamily="50" charset="-79"/>
              </a:rPr>
              <a:t>בתקופת בית ראשון ושני, לאחר הכניסה לארץ ישראל ובניית המשכן והמקדש בירושלים, הפך המקדש למקום המרכזי להקרבת קרבן הפסח . </a:t>
            </a:r>
            <a:r>
              <a:rPr lang="he-IL" sz="2400" dirty="0" err="1">
                <a:latin typeface="AklimatMF Medium" panose="01000503000000020003" pitchFamily="50" charset="-79"/>
                <a:cs typeface="AklimatMF Medium" panose="01000503000000020003" pitchFamily="50" charset="-79"/>
              </a:rPr>
              <a:t>הקרבן</a:t>
            </a:r>
            <a:r>
              <a:rPr lang="he-IL" sz="2400" dirty="0">
                <a:latin typeface="AklimatMF Medium" panose="01000503000000020003" pitchFamily="50" charset="-79"/>
                <a:cs typeface="AklimatMF Medium" panose="01000503000000020003" pitchFamily="50" charset="-79"/>
              </a:rPr>
              <a:t> הוקרב על ידי משפחות או חבורות של אנשים שהתאגדו יחד למטרה זו . </a:t>
            </a:r>
          </a:p>
          <a:p>
            <a:pPr algn="just"/>
            <a:r>
              <a:rPr lang="he-IL" sz="2400" dirty="0">
                <a:latin typeface="AklimatMF Medium" panose="01000503000000020003" pitchFamily="50" charset="-79"/>
                <a:cs typeface="AklimatMF Medium" panose="01000503000000020003" pitchFamily="50" charset="-79"/>
              </a:rPr>
              <a:t>הטקס היה מרשים וכלל שחיטה המונית בעזרת הלויים </a:t>
            </a:r>
            <a:r>
              <a:rPr lang="he-IL" sz="2400" dirty="0" err="1">
                <a:latin typeface="AklimatMF Medium" panose="01000503000000020003" pitchFamily="50" charset="-79"/>
                <a:cs typeface="AklimatMF Medium" panose="01000503000000020003" pitchFamily="50" charset="-79"/>
              </a:rPr>
              <a:t>והכהנים</a:t>
            </a:r>
            <a:r>
              <a:rPr lang="he-IL" sz="2400" dirty="0">
                <a:latin typeface="AklimatMF Medium" panose="01000503000000020003" pitchFamily="50" charset="-79"/>
                <a:cs typeface="AklimatMF Medium" panose="01000503000000020003" pitchFamily="50" charset="-79"/>
              </a:rPr>
              <a:t>, אשר קיבלו את הדם בכלי זהב וכסף והזו אותו על המזבח . במהלך ההקרבה, הלויים היו משוררים את ההלל - מזמורי תהילה (קי"ג-קי"ח) - בליווי כלי נגינה . </a:t>
            </a:r>
          </a:p>
          <a:p>
            <a:pPr algn="just"/>
            <a:r>
              <a:rPr lang="he-IL" sz="2400" dirty="0">
                <a:latin typeface="AklimatMF Medium" panose="01000503000000020003" pitchFamily="50" charset="-79"/>
                <a:cs typeface="AklimatMF Medium" panose="01000503000000020003" pitchFamily="50" charset="-79"/>
              </a:rPr>
              <a:t>הלל הזקן קבע שהקרבת קרבן הפסח דוחה את השבת בשל חשיבותה הציבורית והעונש על אי-הקרבה . </a:t>
            </a:r>
          </a:p>
          <a:p>
            <a:pPr algn="just"/>
            <a:r>
              <a:rPr lang="he-IL" sz="2400" dirty="0">
                <a:latin typeface="AklimatMF Medium" panose="01000503000000020003" pitchFamily="50" charset="-79"/>
                <a:cs typeface="AklimatMF Medium" panose="01000503000000020003" pitchFamily="50" charset="-79"/>
              </a:rPr>
              <a:t>יתרה מכך, אף במצב שבו רוב העם היו טמאים, הותר להקריב את קרבן הפסח בזמנו, דבר המעיד על חשיבותו המיוחדת . </a:t>
            </a:r>
          </a:p>
          <a:p>
            <a:pPr algn="just"/>
            <a:r>
              <a:rPr lang="he-IL" sz="2400" dirty="0">
                <a:latin typeface="AklimatMF Medium" panose="01000503000000020003" pitchFamily="50" charset="-79"/>
                <a:cs typeface="AklimatMF Medium" panose="01000503000000020003" pitchFamily="50" charset="-79"/>
              </a:rPr>
              <a:t>ההיסטוריון יוסף בן מתתיהו מתאר את ההמונים העצומים שהיו עולים לירושלים כדי להשתתף בהקרבת הפסח, דבר המעיד על מרכזיותו של הטקס בחיי העם.</a:t>
            </a:r>
          </a:p>
        </p:txBody>
      </p:sp>
      <p:pic>
        <p:nvPicPr>
          <p:cNvPr id="7" name="מציין מיקום של תמונה 6">
            <a:extLst>
              <a:ext uri="{FF2B5EF4-FFF2-40B4-BE49-F238E27FC236}">
                <a16:creationId xmlns:a16="http://schemas.microsoft.com/office/drawing/2014/main" id="{98C26C49-A0F1-D23B-09E5-5FAF5BB89848}"/>
              </a:ext>
            </a:extLst>
          </p:cNvPr>
          <p:cNvPicPr>
            <a:picLocks noGrp="1" noChangeAspect="1"/>
          </p:cNvPicPr>
          <p:nvPr>
            <p:ph type="pic" idx="1"/>
          </p:nvPr>
        </p:nvPicPr>
        <p:blipFill>
          <a:blip r:embed="rId2"/>
          <a:srcRect l="13816" r="13816"/>
          <a:stretch>
            <a:fillRect/>
          </a:stretch>
        </p:blipFill>
        <p:spPr>
          <a:prstGeom prst="rect">
            <a:avLst/>
          </a:prstGeom>
        </p:spPr>
      </p:pic>
    </p:spTree>
    <p:extLst>
      <p:ext uri="{BB962C8B-B14F-4D97-AF65-F5344CB8AC3E}">
        <p14:creationId xmlns:p14="http://schemas.microsoft.com/office/powerpoint/2010/main" val="2715657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2F0A43E4-A632-3681-AFD8-2D224C8BCD3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95A3377-38B5-B6B0-3B3C-D2F7A273F8D4}"/>
              </a:ext>
            </a:extLst>
          </p:cNvPr>
          <p:cNvSpPr>
            <a:spLocks noGrp="1"/>
          </p:cNvSpPr>
          <p:nvPr>
            <p:ph type="title"/>
          </p:nvPr>
        </p:nvSpPr>
        <p:spPr>
          <a:xfrm>
            <a:off x="839788" y="0"/>
            <a:ext cx="3932237" cy="738909"/>
          </a:xfrm>
        </p:spPr>
        <p:txBody>
          <a:bodyPr>
            <a:normAutofit/>
          </a:bodyPr>
          <a:lstStyle/>
          <a:p>
            <a:pPr algn="ctr"/>
            <a:r>
              <a:rPr lang="he-IL" sz="4400" b="1" dirty="0">
                <a:latin typeface="AklimatMF Medium" panose="01000503000000020003" pitchFamily="50" charset="-79"/>
                <a:cs typeface="AklimatMF Medium" panose="01000503000000020003" pitchFamily="50" charset="-79"/>
              </a:rPr>
              <a:t>הפסקת </a:t>
            </a:r>
            <a:r>
              <a:rPr lang="he-IL" sz="4400" b="1" dirty="0" err="1">
                <a:latin typeface="AklimatMF Medium" panose="01000503000000020003" pitchFamily="50" charset="-79"/>
                <a:cs typeface="AklimatMF Medium" panose="01000503000000020003" pitchFamily="50" charset="-79"/>
              </a:rPr>
              <a:t>הקרבן</a:t>
            </a:r>
            <a:endParaRPr lang="he-IL" sz="4400" b="1" dirty="0">
              <a:latin typeface="AklimatMF Medium" panose="01000503000000020003" pitchFamily="50" charset="-79"/>
              <a:cs typeface="AklimatMF Medium" panose="01000503000000020003" pitchFamily="50" charset="-79"/>
            </a:endParaRPr>
          </a:p>
        </p:txBody>
      </p:sp>
      <p:sp>
        <p:nvSpPr>
          <p:cNvPr id="4" name="מציין מיקום טקסט 3">
            <a:extLst>
              <a:ext uri="{FF2B5EF4-FFF2-40B4-BE49-F238E27FC236}">
                <a16:creationId xmlns:a16="http://schemas.microsoft.com/office/drawing/2014/main" id="{3E27D5DE-1D3C-6CAE-8480-CB2B64450D87}"/>
              </a:ext>
            </a:extLst>
          </p:cNvPr>
          <p:cNvSpPr>
            <a:spLocks noGrp="1"/>
          </p:cNvSpPr>
          <p:nvPr>
            <p:ph type="body" sz="half" idx="2"/>
          </p:nvPr>
        </p:nvSpPr>
        <p:spPr>
          <a:xfrm>
            <a:off x="120074" y="766619"/>
            <a:ext cx="4651952" cy="6091382"/>
          </a:xfrm>
        </p:spPr>
        <p:txBody>
          <a:bodyPr>
            <a:normAutofit lnSpcReduction="10000"/>
          </a:bodyPr>
          <a:lstStyle/>
          <a:p>
            <a:pPr algn="just"/>
            <a:r>
              <a:rPr lang="he-IL" sz="2800" dirty="0">
                <a:latin typeface="AklimatMF Medium" panose="01000503000000020003" pitchFamily="50" charset="-79"/>
                <a:cs typeface="AklimatMF Medium" panose="01000503000000020003" pitchFamily="50" charset="-79"/>
              </a:rPr>
              <a:t>חורבן בית המקדש השני בשנת 70 לספירה היווה נקודת מפנה משמעותית בתולדות עם ישראל וגרם להפסקת רוב עבודת הקורבנות, כולל קרבן הפסח,</a:t>
            </a:r>
          </a:p>
          <a:p>
            <a:pPr algn="just"/>
            <a:r>
              <a:rPr lang="he-IL" sz="2800" dirty="0">
                <a:latin typeface="AklimatMF Medium" panose="01000503000000020003" pitchFamily="50" charset="-79"/>
                <a:cs typeface="AklimatMF Medium" panose="01000503000000020003" pitchFamily="50" charset="-79"/>
              </a:rPr>
              <a:t>התפיסה היהודית היא שאין להקריב קורבנות מחוץ למקום המיועד לכך - הר הבית בירושלים, ובפרט ללא קיום בית המקדש . </a:t>
            </a:r>
          </a:p>
          <a:p>
            <a:pPr algn="just"/>
            <a:r>
              <a:rPr lang="he-IL" sz="2800" dirty="0">
                <a:latin typeface="AklimatMF Medium" panose="01000503000000020003" pitchFamily="50" charset="-79"/>
                <a:cs typeface="AklimatMF Medium" panose="01000503000000020003" pitchFamily="50" charset="-79"/>
              </a:rPr>
              <a:t>עם חורבן המקדש, במסגרת חג הפסח כיום, קרבן הפסח מוזכר באופן סמלי בלבד, בעיקר באמצעות הזרוע המונחת על קערת הסדר.</a:t>
            </a:r>
          </a:p>
          <a:p>
            <a:pPr algn="just"/>
            <a:r>
              <a:rPr lang="he-IL" sz="2800" dirty="0">
                <a:latin typeface="AklimatMF Medium" panose="01000503000000020003" pitchFamily="50" charset="-79"/>
                <a:cs typeface="AklimatMF Medium" panose="01000503000000020003" pitchFamily="50" charset="-79"/>
              </a:rPr>
              <a:t>הזרוע מסמלת את קרבן הפסח שהיה נאכל בעבר, אך כיום היא משמשת רק כזיכרון לטקס המקורי . </a:t>
            </a:r>
          </a:p>
        </p:txBody>
      </p:sp>
      <p:pic>
        <p:nvPicPr>
          <p:cNvPr id="12" name="מציין מיקום של תמונה 11">
            <a:extLst>
              <a:ext uri="{FF2B5EF4-FFF2-40B4-BE49-F238E27FC236}">
                <a16:creationId xmlns:a16="http://schemas.microsoft.com/office/drawing/2014/main" id="{48DF9647-0CAD-3F37-EEE4-4881C9C7F954}"/>
              </a:ext>
            </a:extLst>
          </p:cNvPr>
          <p:cNvPicPr>
            <a:picLocks noGrp="1" noChangeAspect="1"/>
          </p:cNvPicPr>
          <p:nvPr>
            <p:ph type="pic" idx="1"/>
          </p:nvPr>
        </p:nvPicPr>
        <p:blipFill>
          <a:blip r:embed="rId2"/>
          <a:srcRect t="10520" b="10520"/>
          <a:stretch>
            <a:fillRect/>
          </a:stretch>
        </p:blipFill>
        <p:spPr>
          <a:prstGeom prst="rect">
            <a:avLst/>
          </a:prstGeom>
        </p:spPr>
      </p:pic>
    </p:spTree>
    <p:extLst>
      <p:ext uri="{BB962C8B-B14F-4D97-AF65-F5344CB8AC3E}">
        <p14:creationId xmlns:p14="http://schemas.microsoft.com/office/powerpoint/2010/main" val="3219229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CF190ADA-37C0-6176-9D1A-4C3A9F6F367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D310A5F-BC93-8BDF-51F9-ABB6899D9D65}"/>
              </a:ext>
            </a:extLst>
          </p:cNvPr>
          <p:cNvSpPr>
            <a:spLocks noGrp="1"/>
          </p:cNvSpPr>
          <p:nvPr>
            <p:ph type="title"/>
          </p:nvPr>
        </p:nvSpPr>
        <p:spPr>
          <a:xfrm>
            <a:off x="839788" y="457200"/>
            <a:ext cx="3932237" cy="1128409"/>
          </a:xfrm>
        </p:spPr>
        <p:txBody>
          <a:bodyPr>
            <a:normAutofit/>
          </a:bodyPr>
          <a:lstStyle/>
          <a:p>
            <a:pPr algn="ctr"/>
            <a:r>
              <a:rPr lang="he-IL" sz="4400" b="1" dirty="0">
                <a:latin typeface="AklimatMF Medium" panose="01000503000000020003" pitchFamily="50" charset="-79"/>
                <a:cs typeface="AklimatMF Medium" panose="01000503000000020003" pitchFamily="50" charset="-79"/>
              </a:rPr>
              <a:t>הרב </a:t>
            </a:r>
            <a:r>
              <a:rPr lang="he-IL" sz="4400" b="1" dirty="0" err="1">
                <a:latin typeface="AklimatMF Medium" panose="01000503000000020003" pitchFamily="50" charset="-79"/>
                <a:cs typeface="AklimatMF Medium" panose="01000503000000020003" pitchFamily="50" charset="-79"/>
              </a:rPr>
              <a:t>קלישר</a:t>
            </a:r>
            <a:endParaRPr lang="he-IL" sz="4400" b="1" dirty="0">
              <a:latin typeface="AklimatMF Medium" panose="01000503000000020003" pitchFamily="50" charset="-79"/>
              <a:cs typeface="AklimatMF Medium" panose="01000503000000020003" pitchFamily="50" charset="-79"/>
            </a:endParaRPr>
          </a:p>
        </p:txBody>
      </p:sp>
      <p:sp>
        <p:nvSpPr>
          <p:cNvPr id="4" name="מציין מיקום טקסט 3">
            <a:extLst>
              <a:ext uri="{FF2B5EF4-FFF2-40B4-BE49-F238E27FC236}">
                <a16:creationId xmlns:a16="http://schemas.microsoft.com/office/drawing/2014/main" id="{95E6E814-4FD2-4B74-EE5F-64DB54A2AAF2}"/>
              </a:ext>
            </a:extLst>
          </p:cNvPr>
          <p:cNvSpPr>
            <a:spLocks noGrp="1"/>
          </p:cNvSpPr>
          <p:nvPr>
            <p:ph type="body" sz="half" idx="2"/>
          </p:nvPr>
        </p:nvSpPr>
        <p:spPr/>
        <p:txBody>
          <a:bodyPr>
            <a:normAutofit fontScale="92500" lnSpcReduction="10000"/>
          </a:bodyPr>
          <a:lstStyle/>
          <a:p>
            <a:r>
              <a:rPr lang="he-IL" sz="3200" dirty="0">
                <a:latin typeface="AklimatMF Medium" panose="01000503000000020003" pitchFamily="50" charset="-79"/>
                <a:cs typeface="AklimatMF Medium" panose="01000503000000020003" pitchFamily="50" charset="-79"/>
              </a:rPr>
              <a:t>הרב צבי הירש </a:t>
            </a:r>
            <a:r>
              <a:rPr lang="he-IL" sz="3200" dirty="0" err="1">
                <a:latin typeface="AklimatMF Medium" panose="01000503000000020003" pitchFamily="50" charset="-79"/>
                <a:cs typeface="AklimatMF Medium" panose="01000503000000020003" pitchFamily="50" charset="-79"/>
              </a:rPr>
              <a:t>קלישר</a:t>
            </a:r>
            <a:r>
              <a:rPr lang="he-IL" sz="3200" dirty="0">
                <a:latin typeface="AklimatMF Medium" panose="01000503000000020003" pitchFamily="50" charset="-79"/>
                <a:cs typeface="AklimatMF Medium" panose="01000503000000020003" pitchFamily="50" charset="-79"/>
              </a:rPr>
              <a:t>, מגדולי תלמידי רבי עקיבא איגר עסק רבות בעניין בספרו 'דרישת ציון', </a:t>
            </a:r>
          </a:p>
          <a:p>
            <a:r>
              <a:rPr lang="he-IL" sz="3200" dirty="0">
                <a:latin typeface="AklimatMF Medium" panose="01000503000000020003" pitchFamily="50" charset="-79"/>
                <a:cs typeface="AklimatMF Medium" panose="01000503000000020003" pitchFamily="50" charset="-79"/>
              </a:rPr>
              <a:t>ואף פנה באיגרת לשר </a:t>
            </a:r>
            <a:r>
              <a:rPr lang="he-IL" sz="3200" dirty="0" err="1">
                <a:latin typeface="AklimatMF Medium" panose="01000503000000020003" pitchFamily="50" charset="-79"/>
                <a:cs typeface="AklimatMF Medium" panose="01000503000000020003" pitchFamily="50" charset="-79"/>
              </a:rPr>
              <a:t>מונטיפיורי</a:t>
            </a:r>
            <a:r>
              <a:rPr lang="he-IL" sz="3200" dirty="0">
                <a:latin typeface="AklimatMF Medium" panose="01000503000000020003" pitchFamily="50" charset="-79"/>
                <a:cs typeface="AklimatMF Medium" panose="01000503000000020003" pitchFamily="50" charset="-79"/>
              </a:rPr>
              <a:t> ולרוטשילד בה ביקש מהם לפנות לסולטן הטורקי כדי להקצות מקום בהר הבית לשם בניית מזבח וחידוש הקרבת קרבן הפסח. </a:t>
            </a:r>
          </a:p>
        </p:txBody>
      </p:sp>
      <p:sp>
        <p:nvSpPr>
          <p:cNvPr id="3" name="מציין מיקום של תמונה 2">
            <a:extLst>
              <a:ext uri="{FF2B5EF4-FFF2-40B4-BE49-F238E27FC236}">
                <a16:creationId xmlns:a16="http://schemas.microsoft.com/office/drawing/2014/main" id="{F8CD37C5-7BC6-0B61-581E-9BDDE989BC32}"/>
              </a:ext>
            </a:extLst>
          </p:cNvPr>
          <p:cNvSpPr>
            <a:spLocks noGrp="1"/>
          </p:cNvSpPr>
          <p:nvPr>
            <p:ph type="pic" idx="1"/>
          </p:nvPr>
        </p:nvSpPr>
        <p:spPr/>
        <p:txBody>
          <a:bodyPr/>
          <a:lstStyle/>
          <a:p>
            <a:endParaRPr lang="he-IL"/>
          </a:p>
        </p:txBody>
      </p:sp>
      <p:pic>
        <p:nvPicPr>
          <p:cNvPr id="1030" name="Picture 6">
            <a:extLst>
              <a:ext uri="{FF2B5EF4-FFF2-40B4-BE49-F238E27FC236}">
                <a16:creationId xmlns:a16="http://schemas.microsoft.com/office/drawing/2014/main" id="{ECCDF4D5-01FB-6CE8-CD5A-F649F0861B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260" y="982495"/>
            <a:ext cx="7060679" cy="4688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22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168F1D6C-3E8E-D537-19C2-3A9AB2E46CE6}"/>
              </a:ext>
            </a:extLst>
          </p:cNvPr>
          <p:cNvSpPr txBox="1"/>
          <p:nvPr/>
        </p:nvSpPr>
        <p:spPr>
          <a:xfrm>
            <a:off x="6973455" y="369651"/>
            <a:ext cx="4855379" cy="689419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 חידוש קרבן פסח</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חידוש קרבן פסח מהווה ביטוי מרכזי לחזרת עם ישראל לחירות אמיתית. כאשר משה פנה לזקני ישראל במצרים ב"משכו וקחו לכם צאן", הוא הניח את היסוד למצווה ראשונית זו.</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עברו ארבעים שנה מאז החזיקו צבאות ישראל בהר הבית, בדומה לארבעים שנות נדודי המדבר. רק לאחר תקופה זו, נכנסו בני ישראל לארצם והקריבו את הפסח בגלגל.</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הקרבת קרבן פסח היא:</a:t>
            </a: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ראשית היציאה לחירות</a:t>
            </a: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שחרור התודעה הלאומית מעול הגלות</a:t>
            </a: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פתיחת כל העבודות במקדש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אי-קיום מצווה זו עונשה כרת והיא חוסמת אפשרות גאולה.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קריאה לכלל ישראל להיערכות מעשית, כולל לימוד ענייני טהרה ולינה בירושלים אם ההקרבה תתאפשר.</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חידוש חשוב נוסף הוא בדגש על מצוות "והגדת לבנך" המתמקדת במשמעות קרבן הפסח וחובת הקרבתו בזמן הזה, כתשובה לשאלת "מה העבודה הזאת לכם?".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rPr>
              <a:t>היציאה לחירות של בני ישראל והעולם כולו ראשיתה ועיקרה בקרבן פסח.</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klimatMF Medium" panose="01000503000000020003" pitchFamily="50" charset="-79"/>
              <a:ea typeface="+mn-ea"/>
              <a:cs typeface="AklimatMF Medium" panose="01000503000000020003" pitchFamily="50" charset="-79"/>
            </a:endParaRPr>
          </a:p>
        </p:txBody>
      </p:sp>
      <p:pic>
        <p:nvPicPr>
          <p:cNvPr id="6" name="תמונה 5">
            <a:extLst>
              <a:ext uri="{FF2B5EF4-FFF2-40B4-BE49-F238E27FC236}">
                <a16:creationId xmlns:a16="http://schemas.microsoft.com/office/drawing/2014/main" id="{E195DEA4-DE42-F523-B830-E8A7EE5E877F}"/>
              </a:ext>
            </a:extLst>
          </p:cNvPr>
          <p:cNvPicPr>
            <a:picLocks noChangeAspect="1"/>
          </p:cNvPicPr>
          <p:nvPr/>
        </p:nvPicPr>
        <p:blipFill>
          <a:blip r:embed="rId2"/>
          <a:stretch>
            <a:fillRect/>
          </a:stretch>
        </p:blipFill>
        <p:spPr>
          <a:xfrm>
            <a:off x="0" y="0"/>
            <a:ext cx="6858000" cy="6858000"/>
          </a:xfrm>
          <a:prstGeom prst="rect">
            <a:avLst/>
          </a:prstGeom>
        </p:spPr>
      </p:pic>
    </p:spTree>
    <p:extLst>
      <p:ext uri="{BB962C8B-B14F-4D97-AF65-F5344CB8AC3E}">
        <p14:creationId xmlns:p14="http://schemas.microsoft.com/office/powerpoint/2010/main" val="3603588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EB94A206-6D30-D1DA-CF03-6E067D5048D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3EE5E0E-EB94-7AA5-64BA-8FAC542CA68E}"/>
              </a:ext>
            </a:extLst>
          </p:cNvPr>
          <p:cNvSpPr>
            <a:spLocks noGrp="1"/>
          </p:cNvSpPr>
          <p:nvPr>
            <p:ph type="title"/>
          </p:nvPr>
        </p:nvSpPr>
        <p:spPr>
          <a:xfrm>
            <a:off x="839788" y="457200"/>
            <a:ext cx="3932237" cy="1128409"/>
          </a:xfrm>
        </p:spPr>
        <p:txBody>
          <a:bodyPr>
            <a:normAutofit/>
          </a:bodyPr>
          <a:lstStyle/>
          <a:p>
            <a:pPr algn="ctr"/>
            <a:r>
              <a:rPr lang="he-IL" sz="4400" b="1" dirty="0" err="1">
                <a:latin typeface="AklimatMF Medium" panose="01000503000000020003" pitchFamily="50" charset="-79"/>
                <a:cs typeface="AklimatMF Medium" panose="01000503000000020003" pitchFamily="50" charset="-79"/>
              </a:rPr>
              <a:t>רמבם</a:t>
            </a:r>
            <a:r>
              <a:rPr lang="he-IL" sz="4400" b="1" dirty="0">
                <a:latin typeface="AklimatMF Medium" panose="01000503000000020003" pitchFamily="50" charset="-79"/>
                <a:cs typeface="AklimatMF Medium" panose="01000503000000020003" pitchFamily="50" charset="-79"/>
              </a:rPr>
              <a:t> -  קרבן פסח</a:t>
            </a:r>
          </a:p>
        </p:txBody>
      </p:sp>
      <p:sp>
        <p:nvSpPr>
          <p:cNvPr id="4" name="מציין מיקום טקסט 3">
            <a:extLst>
              <a:ext uri="{FF2B5EF4-FFF2-40B4-BE49-F238E27FC236}">
                <a16:creationId xmlns:a16="http://schemas.microsoft.com/office/drawing/2014/main" id="{47217EC3-2D4B-573F-C735-052534FA7D8B}"/>
              </a:ext>
            </a:extLst>
          </p:cNvPr>
          <p:cNvSpPr>
            <a:spLocks noGrp="1"/>
          </p:cNvSpPr>
          <p:nvPr>
            <p:ph type="body" sz="half" idx="2"/>
          </p:nvPr>
        </p:nvSpPr>
        <p:spPr/>
        <p:txBody>
          <a:bodyPr>
            <a:normAutofit fontScale="92500" lnSpcReduction="20000"/>
          </a:bodyPr>
          <a:lstStyle/>
          <a:p>
            <a:pPr algn="just"/>
            <a:r>
              <a:rPr lang="he-IL" sz="2800" dirty="0">
                <a:latin typeface="AklimatMF Medium" panose="01000503000000020003" pitchFamily="50" charset="-79"/>
                <a:cs typeface="AklimatMF Medium" panose="01000503000000020003" pitchFamily="50" charset="-79"/>
              </a:rPr>
              <a:t>רבים שהיו טמאי מת בפסח ראשון אם היו מיעוט הקהל הרי אלו </a:t>
            </a:r>
            <a:r>
              <a:rPr lang="he-IL" sz="2800" dirty="0" err="1">
                <a:latin typeface="AklimatMF Medium" panose="01000503000000020003" pitchFamily="50" charset="-79"/>
                <a:cs typeface="AklimatMF Medium" panose="01000503000000020003" pitchFamily="50" charset="-79"/>
              </a:rPr>
              <a:t>נדחין</a:t>
            </a:r>
            <a:r>
              <a:rPr lang="he-IL" sz="2800" dirty="0">
                <a:latin typeface="AklimatMF Medium" panose="01000503000000020003" pitchFamily="50" charset="-79"/>
                <a:cs typeface="AklimatMF Medium" panose="01000503000000020003" pitchFamily="50" charset="-79"/>
              </a:rPr>
              <a:t> לפסח שני כשאר הטמאים </a:t>
            </a:r>
          </a:p>
          <a:p>
            <a:pPr algn="just"/>
            <a:r>
              <a:rPr lang="he-IL" sz="2800" dirty="0">
                <a:latin typeface="AklimatMF Medium" panose="01000503000000020003" pitchFamily="50" charset="-79"/>
                <a:cs typeface="AklimatMF Medium" panose="01000503000000020003" pitchFamily="50" charset="-79"/>
              </a:rPr>
              <a:t>אבל אם היו רוב הקהל טמאי מת או שהיו </a:t>
            </a:r>
            <a:r>
              <a:rPr lang="he-IL" sz="2800" dirty="0" err="1">
                <a:latin typeface="AklimatMF Medium" panose="01000503000000020003" pitchFamily="50" charset="-79"/>
                <a:cs typeface="AklimatMF Medium" panose="01000503000000020003" pitchFamily="50" charset="-79"/>
              </a:rPr>
              <a:t>הכהנים</a:t>
            </a:r>
            <a:r>
              <a:rPr lang="he-IL" sz="2800" dirty="0">
                <a:latin typeface="AklimatMF Medium" panose="01000503000000020003" pitchFamily="50" charset="-79"/>
                <a:cs typeface="AklimatMF Medium" panose="01000503000000020003" pitchFamily="50" charset="-79"/>
              </a:rPr>
              <a:t> או כלי שרת טמאים טומאת מת אינן </a:t>
            </a:r>
            <a:r>
              <a:rPr lang="he-IL" sz="2800" dirty="0" err="1">
                <a:latin typeface="AklimatMF Medium" panose="01000503000000020003" pitchFamily="50" charset="-79"/>
                <a:cs typeface="AklimatMF Medium" panose="01000503000000020003" pitchFamily="50" charset="-79"/>
              </a:rPr>
              <a:t>נדחין</a:t>
            </a:r>
            <a:r>
              <a:rPr lang="he-IL" sz="2800" dirty="0">
                <a:latin typeface="AklimatMF Medium" panose="01000503000000020003" pitchFamily="50" charset="-79"/>
                <a:cs typeface="AklimatMF Medium" panose="01000503000000020003" pitchFamily="50" charset="-79"/>
              </a:rPr>
              <a:t>, אלא יקריבו כולן הפסח בטומאה הטמאים עם טהורים, </a:t>
            </a:r>
          </a:p>
          <a:p>
            <a:pPr algn="just"/>
            <a:r>
              <a:rPr lang="he-IL" sz="2800" dirty="0">
                <a:latin typeface="AklimatMF Medium" panose="01000503000000020003" pitchFamily="50" charset="-79"/>
                <a:cs typeface="AklimatMF Medium" panose="01000503000000020003" pitchFamily="50" charset="-79"/>
              </a:rPr>
              <a:t>שנאמר ויהי אנשים אשר היו טמאים לנפש אדם יחידים נדחים ואין הצבור נדחה, ודבר זה בטומאת המת בלבד כמו שביארנו בביאת המקדש. </a:t>
            </a:r>
          </a:p>
        </p:txBody>
      </p:sp>
      <p:pic>
        <p:nvPicPr>
          <p:cNvPr id="6" name="מציין מיקום של תמונה 5">
            <a:extLst>
              <a:ext uri="{FF2B5EF4-FFF2-40B4-BE49-F238E27FC236}">
                <a16:creationId xmlns:a16="http://schemas.microsoft.com/office/drawing/2014/main" id="{E0330D59-5558-9B3C-F7FC-2D7794F4DFFF}"/>
              </a:ext>
            </a:extLst>
          </p:cNvPr>
          <p:cNvPicPr>
            <a:picLocks noGrp="1" noChangeAspect="1"/>
          </p:cNvPicPr>
          <p:nvPr>
            <p:ph type="pic" idx="1"/>
          </p:nvPr>
        </p:nvPicPr>
        <p:blipFill>
          <a:blip r:embed="rId2"/>
          <a:srcRect t="10520" b="10520"/>
          <a:stretch>
            <a:fillRect/>
          </a:stretch>
        </p:blipFill>
        <p:spPr>
          <a:prstGeom prst="rect">
            <a:avLst/>
          </a:prstGeom>
        </p:spPr>
      </p:pic>
      <p:sp>
        <p:nvSpPr>
          <p:cNvPr id="5" name="AutoShape 2" descr="&#10;&#10;### מידע שנאסף:&#10;- **נושא**: יהודים אוכלים קרבן פסח (שה צלי) בליל הסדר כמתואר בתורה&#10;- **סגנון**: סגנון פיקסר (אנימציה חמודה)&#10;- **אווירה**: חגיגית, משפחתית, מסורתית&#10;- **תקופה**: עתיקה (תקופת התנ&quot;ך/בית המקדש)&#10;&#10;### הנה הפרומפט המלא שתוכל להעתיק ולהשתמש בו:&#10;&#10;```&#10;3D animation of a Jewish family celebrating Passover Seder durin. תמונה 2 מתוך 4">
            <a:extLst>
              <a:ext uri="{FF2B5EF4-FFF2-40B4-BE49-F238E27FC236}">
                <a16:creationId xmlns:a16="http://schemas.microsoft.com/office/drawing/2014/main" id="{85D0D923-ACD9-1F5C-3A54-D1CD2670B48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758738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FD2D2E98-B2A2-0962-52B7-18F7822F156F}"/>
            </a:ext>
          </a:extLst>
        </p:cNvPr>
        <p:cNvGrpSpPr/>
        <p:nvPr/>
      </p:nvGrpSpPr>
      <p:grpSpPr>
        <a:xfrm>
          <a:off x="0" y="0"/>
          <a:ext cx="0" cy="0"/>
          <a:chOff x="0" y="0"/>
          <a:chExt cx="0" cy="0"/>
        </a:xfrm>
      </p:grpSpPr>
      <p:sp>
        <p:nvSpPr>
          <p:cNvPr id="5" name="AutoShape 2" descr="&#10;&#10;### מידע שנאסף:&#10;- **נושא**: יהודים אוכלים קרבן פסח (שה צלי) בליל הסדר כמתואר בתורה&#10;- **סגנון**: סגנון פיקסר (אנימציה חמודה)&#10;- **אווירה**: חגיגית, משפחתית, מסורתית&#10;- **תקופה**: עתיקה (תקופת התנ&quot;ך/בית המקדש)&#10;&#10;### הנה הפרומפט המלא שתוכל להעתיק ולהשתמש בו:&#10;&#10;```&#10;3D animation of a Jewish family celebrating Passover Seder durin. תמונה 2 מתוך 4">
            <a:extLst>
              <a:ext uri="{FF2B5EF4-FFF2-40B4-BE49-F238E27FC236}">
                <a16:creationId xmlns:a16="http://schemas.microsoft.com/office/drawing/2014/main" id="{98A9149D-270F-1BB6-169D-33B187620AF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
        <p:nvSpPr>
          <p:cNvPr id="8" name="AutoShape 2" descr="תמונה של ">
            <a:extLst>
              <a:ext uri="{FF2B5EF4-FFF2-40B4-BE49-F238E27FC236}">
                <a16:creationId xmlns:a16="http://schemas.microsoft.com/office/drawing/2014/main" id="{934E7CCC-C9CE-C6AE-E324-CAF829DD7AB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pic>
        <p:nvPicPr>
          <p:cNvPr id="15" name="תמונה 14">
            <a:extLst>
              <a:ext uri="{FF2B5EF4-FFF2-40B4-BE49-F238E27FC236}">
                <a16:creationId xmlns:a16="http://schemas.microsoft.com/office/drawing/2014/main" id="{07658962-16FF-016B-8511-295B49D0F785}"/>
              </a:ext>
            </a:extLst>
          </p:cNvPr>
          <p:cNvPicPr>
            <a:picLocks noChangeAspect="1"/>
          </p:cNvPicPr>
          <p:nvPr/>
        </p:nvPicPr>
        <p:blipFill>
          <a:blip r:embed="rId2"/>
          <a:stretch>
            <a:fillRect/>
          </a:stretch>
        </p:blipFill>
        <p:spPr>
          <a:xfrm>
            <a:off x="3608777" y="0"/>
            <a:ext cx="8583223" cy="6049219"/>
          </a:xfrm>
          <a:prstGeom prst="rect">
            <a:avLst/>
          </a:prstGeom>
        </p:spPr>
      </p:pic>
      <p:pic>
        <p:nvPicPr>
          <p:cNvPr id="18" name="תמונה 17">
            <a:extLst>
              <a:ext uri="{FF2B5EF4-FFF2-40B4-BE49-F238E27FC236}">
                <a16:creationId xmlns:a16="http://schemas.microsoft.com/office/drawing/2014/main" id="{EB3E96A3-305B-9F78-F147-A9CBB9AA3586}"/>
              </a:ext>
            </a:extLst>
          </p:cNvPr>
          <p:cNvPicPr>
            <a:picLocks noChangeAspect="1"/>
          </p:cNvPicPr>
          <p:nvPr/>
        </p:nvPicPr>
        <p:blipFill>
          <a:blip r:embed="rId3"/>
          <a:stretch>
            <a:fillRect/>
          </a:stretch>
        </p:blipFill>
        <p:spPr>
          <a:xfrm>
            <a:off x="0" y="0"/>
            <a:ext cx="3592945" cy="3592945"/>
          </a:xfrm>
          <a:prstGeom prst="rect">
            <a:avLst/>
          </a:prstGeom>
        </p:spPr>
      </p:pic>
      <p:sp>
        <p:nvSpPr>
          <p:cNvPr id="19" name="תיבת טקסט 18">
            <a:extLst>
              <a:ext uri="{FF2B5EF4-FFF2-40B4-BE49-F238E27FC236}">
                <a16:creationId xmlns:a16="http://schemas.microsoft.com/office/drawing/2014/main" id="{6CC0005C-7EEB-66B2-372F-331FA3D5C513}"/>
              </a:ext>
            </a:extLst>
          </p:cNvPr>
          <p:cNvSpPr txBox="1"/>
          <p:nvPr/>
        </p:nvSpPr>
        <p:spPr>
          <a:xfrm>
            <a:off x="73891" y="3842327"/>
            <a:ext cx="3445164" cy="2862322"/>
          </a:xfrm>
          <a:prstGeom prst="rect">
            <a:avLst/>
          </a:prstGeom>
          <a:noFill/>
        </p:spPr>
        <p:txBody>
          <a:bodyPr wrap="square" rtlCol="1">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כתב החזון איש</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 (</a:t>
            </a: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אבן העזר ב ז</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 "</a:t>
            </a: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לכן בזמן הזה אי </a:t>
            </a:r>
            <a:r>
              <a:rPr kumimoji="0" lang="he-IL" sz="1800" b="1" i="0" u="none" strike="noStrike" kern="1200" cap="none" spc="0" normalizeH="0" baseline="0" noProof="0" dirty="0" err="1">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איתיהיב</a:t>
            </a: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 רשות להקריב קרבן פסח אין לבטל</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 </a:t>
            </a:r>
            <a:endPar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וכבר כתב כן </a:t>
            </a:r>
            <a:r>
              <a:rPr kumimoji="0" lang="he-IL" sz="1800" b="1" i="0" u="none" strike="noStrike" kern="1200" cap="none" spc="0" normalizeH="0" baseline="0" noProof="0" dirty="0" err="1">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המהר</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a:t>
            </a: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ץ חיות</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 (</a:t>
            </a: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בספרו עבודת המקדש</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 "</a:t>
            </a: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על כל פנים חזרתי על כל הצדדים</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 </a:t>
            </a: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ולא מצאתי שום דבר החוצץ היום להקריב קרבן פסח</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 </a:t>
            </a:r>
            <a:r>
              <a:rPr kumimoji="0" lang="he-IL"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rPr>
              <a:t>אחר שיבנה היום מזבח על מקום אשר היה בנוי בראשונה</a:t>
            </a:r>
            <a:r>
              <a:rPr kumimoji="0" lang="ar-SA" sz="1800" b="1"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Narkisim" panose="020E0502050101010101" pitchFamily="34" charset="-79"/>
              </a:rPr>
              <a:t>". </a:t>
            </a:r>
            <a:endParaRPr kumimoji="0" lang="en-US" sz="1800" b="0" i="0" u="none" strike="noStrike" kern="1200" cap="none" spc="0" normalizeH="0" baseline="0" noProof="0" dirty="0">
              <a:ln>
                <a:noFill/>
              </a:ln>
              <a:solidFill>
                <a:srgbClr val="000000"/>
              </a:solidFill>
              <a:effectLst/>
              <a:uLnTx/>
              <a:uFillTx/>
              <a:latin typeface="Fb Toiren" panose="00000500000000000000" pitchFamily="50" charset="-79"/>
              <a:ea typeface="Times New Roman" panose="02020603050405020304" pitchFamily="18" charset="0"/>
              <a:cs typeface="Fb Toiren" panose="00000500000000000000" pitchFamily="50" charset="-79"/>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Fb Toiren" panose="00000500000000000000" pitchFamily="50" charset="-79"/>
              <a:ea typeface="+mn-ea"/>
              <a:cs typeface="Fb Toiren" panose="00000500000000000000" pitchFamily="50" charset="-79"/>
            </a:endParaRPr>
          </a:p>
        </p:txBody>
      </p:sp>
    </p:spTree>
    <p:extLst>
      <p:ext uri="{BB962C8B-B14F-4D97-AF65-F5344CB8AC3E}">
        <p14:creationId xmlns:p14="http://schemas.microsoft.com/office/powerpoint/2010/main" val="4242248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1C6360AF-36D9-B4A1-115F-F19548D2F80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8C46A3A5-E53F-B237-B614-882C5CD6D8EF}"/>
              </a:ext>
            </a:extLst>
          </p:cNvPr>
          <p:cNvSpPr>
            <a:spLocks noGrp="1"/>
          </p:cNvSpPr>
          <p:nvPr>
            <p:ph type="title"/>
          </p:nvPr>
        </p:nvSpPr>
        <p:spPr>
          <a:xfrm>
            <a:off x="839788" y="457200"/>
            <a:ext cx="3932237" cy="1128409"/>
          </a:xfrm>
        </p:spPr>
        <p:txBody>
          <a:bodyPr>
            <a:normAutofit/>
          </a:bodyPr>
          <a:lstStyle/>
          <a:p>
            <a:pPr algn="ctr"/>
            <a:r>
              <a:rPr lang="he-IL" sz="4400" b="1" dirty="0">
                <a:latin typeface="AklimatMF Medium" panose="01000503000000020003" pitchFamily="50" charset="-79"/>
                <a:cs typeface="AklimatMF Medium" panose="01000503000000020003" pitchFamily="50" charset="-79"/>
              </a:rPr>
              <a:t>ארבעה מי יודע?</a:t>
            </a:r>
          </a:p>
        </p:txBody>
      </p:sp>
      <p:sp>
        <p:nvSpPr>
          <p:cNvPr id="4" name="מציין מיקום טקסט 3">
            <a:extLst>
              <a:ext uri="{FF2B5EF4-FFF2-40B4-BE49-F238E27FC236}">
                <a16:creationId xmlns:a16="http://schemas.microsoft.com/office/drawing/2014/main" id="{6C4A2506-6BD3-4421-E069-4C198466B3AC}"/>
              </a:ext>
            </a:extLst>
          </p:cNvPr>
          <p:cNvSpPr>
            <a:spLocks noGrp="1"/>
          </p:cNvSpPr>
          <p:nvPr>
            <p:ph type="body" sz="half" idx="2"/>
          </p:nvPr>
        </p:nvSpPr>
        <p:spPr>
          <a:xfrm>
            <a:off x="839788" y="2057399"/>
            <a:ext cx="3932237" cy="4620491"/>
          </a:xfrm>
        </p:spPr>
        <p:txBody>
          <a:bodyPr>
            <a:normAutofit lnSpcReduction="10000"/>
          </a:bodyPr>
          <a:lstStyle/>
          <a:p>
            <a:pPr algn="just" rtl="1">
              <a:lnSpc>
                <a:spcPct val="107000"/>
              </a:lnSpc>
              <a:spcAft>
                <a:spcPts val="800"/>
              </a:spcAft>
            </a:pPr>
            <a:r>
              <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בהכנות להקרבת קרבן פסח ישנם ארבעה חלקים</a:t>
            </a:r>
            <a:r>
              <a:rPr lang="ar-SA"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rPr>
              <a:t>. </a:t>
            </a:r>
            <a:endPar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endParaRPr>
          </a:p>
          <a:p>
            <a:pPr algn="just" rtl="1">
              <a:lnSpc>
                <a:spcPct val="107000"/>
              </a:lnSpc>
              <a:spcAft>
                <a:spcPts val="800"/>
              </a:spcAft>
            </a:pPr>
            <a:r>
              <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החלק </a:t>
            </a:r>
            <a:r>
              <a:rPr lang="he-IL" sz="2400" b="1"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ההלכתי</a:t>
            </a:r>
            <a:r>
              <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 הוא אולי הקל שבהם</a:t>
            </a:r>
            <a:r>
              <a:rPr lang="ar-SA"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rPr>
              <a:t>, </a:t>
            </a:r>
            <a:r>
              <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ואחר כך ישנו החלק </a:t>
            </a:r>
            <a:r>
              <a:rPr lang="he-IL" sz="2400" b="1"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הפרקטי</a:t>
            </a:r>
            <a:r>
              <a:rPr lang="ar-SA"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rPr>
              <a:t> - </a:t>
            </a:r>
            <a:r>
              <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לתכנן את הלוגיסטיקה להתאים למציאות של היום</a:t>
            </a:r>
            <a:r>
              <a:rPr lang="ar-SA"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rPr>
              <a:t>. </a:t>
            </a:r>
            <a:endParaRPr lang="he-IL"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endParaRPr>
          </a:p>
          <a:p>
            <a:pPr algn="just" rtl="1">
              <a:lnSpc>
                <a:spcPct val="107000"/>
              </a:lnSpc>
              <a:spcAft>
                <a:spcPts val="800"/>
              </a:spcAft>
            </a:pPr>
            <a:r>
              <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ישנו גם החלק </a:t>
            </a:r>
            <a:r>
              <a:rPr lang="he-IL" sz="2400" b="1"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הציבורי</a:t>
            </a:r>
            <a:r>
              <a:rPr lang="ar-SA"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rPr>
              <a:t> - </a:t>
            </a:r>
            <a:r>
              <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תמיכה של רבנים ואישי ציבור מכל המגזרים</a:t>
            </a:r>
            <a:r>
              <a:rPr lang="ar-SA"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rPr>
              <a:t>, </a:t>
            </a:r>
            <a:endParaRPr lang="he-IL"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endParaRPr>
          </a:p>
          <a:p>
            <a:pPr algn="just" rtl="1">
              <a:lnSpc>
                <a:spcPct val="107000"/>
              </a:lnSpc>
              <a:spcAft>
                <a:spcPts val="800"/>
              </a:spcAft>
            </a:pPr>
            <a:r>
              <a:rPr lang="he-IL"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והחלק הרביעי שבו היה שינוי גדול לאחרונה הוא החלק </a:t>
            </a:r>
            <a:r>
              <a:rPr lang="he-IL" sz="2400" b="1"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rPr>
              <a:t>הבטחוני</a:t>
            </a:r>
            <a:r>
              <a:rPr lang="ar-SA" sz="2400" dirty="0">
                <a:solidFill>
                  <a:srgbClr val="000000"/>
                </a:solidFill>
                <a:effectLst/>
                <a:latin typeface="AklimatMF Medium" panose="01000503000000020003" pitchFamily="50" charset="-79"/>
                <a:ea typeface="Times New Roman" panose="02020603050405020304" pitchFamily="18" charset="0"/>
                <a:cs typeface="Narkisim" panose="020E0502050101010101" pitchFamily="34" charset="-79"/>
              </a:rPr>
              <a:t>.</a:t>
            </a:r>
            <a:endParaRPr lang="en-US" sz="2400" dirty="0">
              <a:solidFill>
                <a:srgbClr val="000000"/>
              </a:solidFill>
              <a:effectLst/>
              <a:latin typeface="AklimatMF Medium" panose="01000503000000020003" pitchFamily="50" charset="-79"/>
              <a:ea typeface="Times New Roman" panose="02020603050405020304" pitchFamily="18" charset="0"/>
              <a:cs typeface="AklimatMF Medium" panose="01000503000000020003" pitchFamily="50" charset="-79"/>
            </a:endParaRPr>
          </a:p>
        </p:txBody>
      </p:sp>
      <p:pic>
        <p:nvPicPr>
          <p:cNvPr id="6" name="מציין מיקום של תמונה 5">
            <a:extLst>
              <a:ext uri="{FF2B5EF4-FFF2-40B4-BE49-F238E27FC236}">
                <a16:creationId xmlns:a16="http://schemas.microsoft.com/office/drawing/2014/main" id="{13ABFCF3-2F03-51F0-7D45-C7321CDE73D3}"/>
              </a:ext>
            </a:extLst>
          </p:cNvPr>
          <p:cNvPicPr>
            <a:picLocks noGrp="1" noChangeAspect="1"/>
          </p:cNvPicPr>
          <p:nvPr>
            <p:ph type="pic" idx="1"/>
          </p:nvPr>
        </p:nvPicPr>
        <p:blipFill>
          <a:blip r:embed="rId2"/>
          <a:srcRect t="10520" b="10520"/>
          <a:stretch>
            <a:fillRect/>
          </a:stretch>
        </p:blipFill>
        <p:spPr>
          <a:prstGeom prst="rect">
            <a:avLst/>
          </a:prstGeom>
        </p:spPr>
      </p:pic>
      <p:sp>
        <p:nvSpPr>
          <p:cNvPr id="5" name="AutoShape 2" descr="&#10;&#10;### מידע שנאסף:&#10;- **נושא**: יהודים אוכלים קרבן פסח (שה צלי) בליל הסדר כמתואר בתורה&#10;- **סגנון**: סגנון פיקסר (אנימציה חמודה)&#10;- **אווירה**: חגיגית, משפחתית, מסורתית&#10;- **תקופה**: עתיקה (תקופת התנ&quot;ך/בית המקדש)&#10;&#10;### הנה הפרומפט המלא שתוכל להעתיק ולהשתמש בו:&#10;&#10;```&#10;3D animation of a Jewish family celebrating Passover Seder durin. תמונה 2 מתוך 4">
            <a:extLst>
              <a:ext uri="{FF2B5EF4-FFF2-40B4-BE49-F238E27FC236}">
                <a16:creationId xmlns:a16="http://schemas.microsoft.com/office/drawing/2014/main" id="{E1E9672A-B964-7DEE-AEB8-3CBA0E8C7A6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132461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4043942-2119-1667-B08C-639C0F07FA7F}"/>
            </a:ext>
          </a:extLst>
        </p:cNvPr>
        <p:cNvGrpSpPr/>
        <p:nvPr/>
      </p:nvGrpSpPr>
      <p:grpSpPr>
        <a:xfrm>
          <a:off x="0" y="0"/>
          <a:ext cx="0" cy="0"/>
          <a:chOff x="0" y="0"/>
          <a:chExt cx="0" cy="0"/>
        </a:xfrm>
      </p:grpSpPr>
      <p:pic>
        <p:nvPicPr>
          <p:cNvPr id="9" name="מציין מיקום של תמונה 8" descr="תמונה שמכילה טקסט, מקל גשם, אומנות&#10;&#10;תוכן שנוצר על-ידי בינה מלאכותית עשוי להיות שגוי.">
            <a:extLst>
              <a:ext uri="{FF2B5EF4-FFF2-40B4-BE49-F238E27FC236}">
                <a16:creationId xmlns:a16="http://schemas.microsoft.com/office/drawing/2014/main" id="{F3276859-6A0C-90D3-FD33-DB07F10FBC4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40613" b="40613"/>
          <a:stretch>
            <a:fillRect/>
          </a:stretch>
        </p:blipFill>
        <p:spPr/>
      </p:pic>
      <p:sp>
        <p:nvSpPr>
          <p:cNvPr id="2" name="כותרת 1">
            <a:extLst>
              <a:ext uri="{FF2B5EF4-FFF2-40B4-BE49-F238E27FC236}">
                <a16:creationId xmlns:a16="http://schemas.microsoft.com/office/drawing/2014/main" id="{4E88568F-BCD9-E894-CFAD-C053CBB38501}"/>
              </a:ext>
            </a:extLst>
          </p:cNvPr>
          <p:cNvSpPr>
            <a:spLocks noGrp="1"/>
          </p:cNvSpPr>
          <p:nvPr>
            <p:ph type="title"/>
          </p:nvPr>
        </p:nvSpPr>
        <p:spPr>
          <a:xfrm>
            <a:off x="839788" y="457200"/>
            <a:ext cx="3932237" cy="798945"/>
          </a:xfrm>
        </p:spPr>
        <p:txBody>
          <a:bodyPr>
            <a:normAutofit/>
          </a:bodyPr>
          <a:lstStyle/>
          <a:p>
            <a:pPr algn="ctr"/>
            <a:r>
              <a:rPr lang="he-IL" sz="4400" b="1" dirty="0">
                <a:latin typeface="AklimatMF Medium" panose="01000503000000020003" pitchFamily="50" charset="-79"/>
                <a:cs typeface="AklimatMF Medium" panose="01000503000000020003" pitchFamily="50" charset="-79"/>
              </a:rPr>
              <a:t>ארבעה מי יודע?</a:t>
            </a:r>
          </a:p>
        </p:txBody>
      </p:sp>
      <p:sp>
        <p:nvSpPr>
          <p:cNvPr id="4" name="מציין מיקום טקסט 3">
            <a:extLst>
              <a:ext uri="{FF2B5EF4-FFF2-40B4-BE49-F238E27FC236}">
                <a16:creationId xmlns:a16="http://schemas.microsoft.com/office/drawing/2014/main" id="{06D91FBA-F73B-2D04-0BB1-5FD4429DCBDD}"/>
              </a:ext>
            </a:extLst>
          </p:cNvPr>
          <p:cNvSpPr>
            <a:spLocks noGrp="1"/>
          </p:cNvSpPr>
          <p:nvPr>
            <p:ph type="body" sz="half" idx="2"/>
          </p:nvPr>
        </p:nvSpPr>
        <p:spPr>
          <a:xfrm>
            <a:off x="286328" y="1496291"/>
            <a:ext cx="4485698" cy="5361709"/>
          </a:xfrm>
        </p:spPr>
        <p:txBody>
          <a:bodyPr>
            <a:normAutofit fontScale="85000" lnSpcReduction="10000"/>
          </a:bodyPr>
          <a:lstStyle/>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לפני שנתיים</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לא היה ניתן לדמיין הקרבת קרבן פסח</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כאשר כל אחד הניח כדבר פשוט שזה יבעיר את המזרח התיכון</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ירושלים תתכסה בטילים מכל הכיוונים</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מעזה ולבנון</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איראן</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עיראק ותימן</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ואולי עוד כמה </a:t>
            </a:r>
            <a:r>
              <a:rPr lang="he-IL" sz="2000" dirty="0" err="1">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מביידן</a:t>
            </a:r>
            <a:r>
              <a:rPr lang="ar-SA" sz="2000" dirty="0">
                <a:solidFill>
                  <a:srgbClr val="000000"/>
                </a:solidFill>
                <a:effectLst/>
                <a:latin typeface="Secular One" panose="00000500000000000000" pitchFamily="2" charset="-79"/>
                <a:ea typeface="Times New Roman" panose="02020603050405020304" pitchFamily="18" charset="0"/>
                <a:cs typeface="Times New Roman" panose="02020603050405020304" pitchFamily="18" charset="0"/>
              </a:rPr>
              <a:t>…</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חלפו שנתיים מטלטלות</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בהן עברנו צירי לידה</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והמציאות השתנתה</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האיום מעזה כבר לא קיים</a:t>
            </a:r>
            <a:r>
              <a:rPr lang="he-IL" sz="2000" dirty="0">
                <a:solidFill>
                  <a:srgbClr val="000000"/>
                </a:solidFill>
                <a:latin typeface="Secular One" panose="00000500000000000000" pitchFamily="2" charset="-79"/>
                <a:ea typeface="Times New Roman" panose="02020603050405020304" pitchFamily="18" charset="0"/>
                <a:cs typeface="Secular One" panose="00000500000000000000" pitchFamily="2" charset="-79"/>
              </a:rPr>
              <a:t>.</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חיזבאללה נחלש מאד בלבנון ורבבות טיליו התאדו</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את הטילים מאיראן כבר קבלנו פעמיים</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אך ללא </a:t>
            </a:r>
            <a:r>
              <a:rPr lang="he-IL" sz="2000" dirty="0" err="1">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קרבנות</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ולא נראה שהקרבת קרבן פסח </a:t>
            </a:r>
            <a:r>
              <a:rPr lang="he-IL" sz="2000" dirty="0" err="1">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היתה</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 משנה בהרבה</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בינתיים</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קרסו סוריה והציר האירני</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והמזרח התיכון משתנה במהירות</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en-US" sz="28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p:txBody>
      </p:sp>
      <p:sp>
        <p:nvSpPr>
          <p:cNvPr id="5" name="AutoShape 2" descr="&#10;&#10;### מידע שנאסף:&#10;- **נושא**: יהודים אוכלים קרבן פסח (שה צלי) בליל הסדר כמתואר בתורה&#10;- **סגנון**: סגנון פיקסר (אנימציה חמודה)&#10;- **אווירה**: חגיגית, משפחתית, מסורתית&#10;- **תקופה**: עתיקה (תקופת התנ&quot;ך/בית המקדש)&#10;&#10;### הנה הפרומפט המלא שתוכל להעתיק ולהשתמש בו:&#10;&#10;```&#10;3D animation of a Jewish family celebrating Passover Seder durin. תמונה 2 מתוך 4">
            <a:extLst>
              <a:ext uri="{FF2B5EF4-FFF2-40B4-BE49-F238E27FC236}">
                <a16:creationId xmlns:a16="http://schemas.microsoft.com/office/drawing/2014/main" id="{290D340A-0FA5-9D38-F502-837CDB3F119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3381832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7A67A89A-19BD-7BC2-6074-F88CA678808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5E36475-8DBD-8708-754B-10D6750D8716}"/>
              </a:ext>
            </a:extLst>
          </p:cNvPr>
          <p:cNvSpPr>
            <a:spLocks noGrp="1"/>
          </p:cNvSpPr>
          <p:nvPr>
            <p:ph type="title"/>
          </p:nvPr>
        </p:nvSpPr>
        <p:spPr/>
        <p:txBody>
          <a:bodyPr>
            <a:normAutofit/>
          </a:bodyPr>
          <a:lstStyle/>
          <a:p>
            <a:pPr algn="ctr"/>
            <a:r>
              <a:rPr lang="he-IL" sz="4400" b="1" dirty="0">
                <a:latin typeface="AklimatMF Medium" panose="01000503000000020003" pitchFamily="50" charset="-79"/>
                <a:cs typeface="AklimatMF Medium" panose="01000503000000020003" pitchFamily="50" charset="-79"/>
              </a:rPr>
              <a:t>                                                   והיא שעמדה</a:t>
            </a:r>
          </a:p>
        </p:txBody>
      </p:sp>
      <p:pic>
        <p:nvPicPr>
          <p:cNvPr id="11" name="מציין מיקום של תמונה 10" descr="תמונה שמכילה טקסט, מקל גשם, אומנות&#10;&#10;תוכן שנוצר על-ידי בינה מלאכותית עשוי להיות שגוי.">
            <a:extLst>
              <a:ext uri="{FF2B5EF4-FFF2-40B4-BE49-F238E27FC236}">
                <a16:creationId xmlns:a16="http://schemas.microsoft.com/office/drawing/2014/main" id="{4C885875-A3B6-9C9D-1C9B-C00ED6BF97E6}"/>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566401" y="20733"/>
            <a:ext cx="1625600" cy="6837267"/>
          </a:xfrm>
        </p:spPr>
      </p:pic>
      <p:sp>
        <p:nvSpPr>
          <p:cNvPr id="4" name="מציין מיקום טקסט 3">
            <a:extLst>
              <a:ext uri="{FF2B5EF4-FFF2-40B4-BE49-F238E27FC236}">
                <a16:creationId xmlns:a16="http://schemas.microsoft.com/office/drawing/2014/main" id="{9AF3C1F4-FEDE-FCF6-97A1-F12175E28357}"/>
              </a:ext>
            </a:extLst>
          </p:cNvPr>
          <p:cNvSpPr>
            <a:spLocks noGrp="1"/>
          </p:cNvSpPr>
          <p:nvPr>
            <p:ph type="body" sz="half" idx="4294967295"/>
          </p:nvPr>
        </p:nvSpPr>
        <p:spPr>
          <a:xfrm>
            <a:off x="1" y="1497013"/>
            <a:ext cx="3805382" cy="5360987"/>
          </a:xfrm>
        </p:spPr>
        <p:txBody>
          <a:bodyPr>
            <a:normAutofit fontScale="85000" lnSpcReduction="20000"/>
          </a:bodyPr>
          <a:lstStyle/>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לפני שנתיים</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לא היה ניתן לדמיין הקרבת קרבן פסח</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כאשר כל אחד הניח כדבר פשוט שזה יבעיר את המזרח התיכון</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ירושלים תתכסה בטילים מכל הכיוונים</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מעזה ולבנון</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איראן</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עיראק ותימן</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ואולי עוד כמה </a:t>
            </a:r>
            <a:r>
              <a:rPr lang="he-IL" sz="2000" dirty="0" err="1">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מביידן</a:t>
            </a:r>
            <a:r>
              <a:rPr lang="ar-SA" sz="2000" dirty="0">
                <a:solidFill>
                  <a:srgbClr val="000000"/>
                </a:solidFill>
                <a:effectLst/>
                <a:latin typeface="Secular One" panose="00000500000000000000" pitchFamily="2" charset="-79"/>
                <a:ea typeface="Times New Roman" panose="02020603050405020304" pitchFamily="18" charset="0"/>
                <a:cs typeface="Times New Roman" panose="02020603050405020304" pitchFamily="18" charset="0"/>
              </a:rPr>
              <a:t>…</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חלפו שנתיים מטלטלות</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בהן עברנו צירי לידה</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והמציאות השתנתה</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האיום מעזה כבר לא קיים</a:t>
            </a:r>
            <a:r>
              <a:rPr lang="he-IL" sz="2000" dirty="0">
                <a:solidFill>
                  <a:srgbClr val="000000"/>
                </a:solidFill>
                <a:latin typeface="Secular One" panose="00000500000000000000" pitchFamily="2" charset="-79"/>
                <a:ea typeface="Times New Roman" panose="02020603050405020304" pitchFamily="18" charset="0"/>
                <a:cs typeface="Secular One" panose="00000500000000000000" pitchFamily="2" charset="-79"/>
              </a:rPr>
              <a:t>.</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חיזבאללה נחלש מאד בלבנון ורבבות טיליו התאדו</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את הטילים מאיראן כבר קבלנו פעמיים</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אך ללא </a:t>
            </a:r>
            <a:r>
              <a:rPr lang="he-IL" sz="2000" dirty="0" err="1">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קרבנות</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ולא נראה שהקרבת קרבן פסח </a:t>
            </a:r>
            <a:r>
              <a:rPr lang="he-IL" sz="2000" dirty="0" err="1">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היתה</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 משנה בהרבה</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a:p>
            <a:pPr algn="just" rtl="1">
              <a:lnSpc>
                <a:spcPct val="107000"/>
              </a:lnSpc>
              <a:spcAft>
                <a:spcPts val="800"/>
              </a:spcAft>
            </a:pP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בינתיים</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קרסו סוריה והציר האירני</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r>
              <a:rPr lang="he-IL" sz="20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rPr>
              <a:t>והמזרח התיכון משתנה במהירות</a:t>
            </a:r>
            <a:r>
              <a:rPr lang="ar-SA" sz="2000" dirty="0">
                <a:solidFill>
                  <a:srgbClr val="000000"/>
                </a:solidFill>
                <a:effectLst/>
                <a:latin typeface="Secular One" panose="00000500000000000000" pitchFamily="2" charset="-79"/>
                <a:ea typeface="Times New Roman" panose="02020603050405020304" pitchFamily="18" charset="0"/>
                <a:cs typeface="Narkisim" panose="020E0502050101010101" pitchFamily="34" charset="-79"/>
              </a:rPr>
              <a:t>. </a:t>
            </a:r>
            <a:endParaRPr lang="en-US" sz="2800" dirty="0">
              <a:solidFill>
                <a:srgbClr val="000000"/>
              </a:solidFill>
              <a:effectLst/>
              <a:latin typeface="Secular One" panose="00000500000000000000" pitchFamily="2" charset="-79"/>
              <a:ea typeface="Times New Roman" panose="02020603050405020304" pitchFamily="18" charset="0"/>
              <a:cs typeface="Secular One" panose="00000500000000000000" pitchFamily="2" charset="-79"/>
            </a:endParaRPr>
          </a:p>
        </p:txBody>
      </p:sp>
      <p:sp>
        <p:nvSpPr>
          <p:cNvPr id="5" name="AutoShape 2" descr="&#10;&#10;### מידע שנאסף:&#10;- **נושא**: יהודים אוכלים קרבן פסח (שה צלי) בליל הסדר כמתואר בתורה&#10;- **סגנון**: סגנון פיקסר (אנימציה חמודה)&#10;- **אווירה**: חגיגית, משפחתית, מסורתית&#10;- **תקופה**: עתיקה (תקופת התנ&quot;ך/בית המקדש)&#10;&#10;### הנה הפרומפט המלא שתוכל להעתיק ולהשתמש בו:&#10;&#10;```&#10;3D animation of a Jewish family celebrating Passover Seder durin. תמונה 2 מתוך 4">
            <a:extLst>
              <a:ext uri="{FF2B5EF4-FFF2-40B4-BE49-F238E27FC236}">
                <a16:creationId xmlns:a16="http://schemas.microsoft.com/office/drawing/2014/main" id="{5A68D31C-E1A1-492A-72EC-F1D6590488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pic>
        <p:nvPicPr>
          <p:cNvPr id="12" name="ChQTeWH-65vXGd_boCG1yeR-VihvSBAA">
            <a:hlinkClick r:id="" action="ppaction://media"/>
            <a:extLst>
              <a:ext uri="{FF2B5EF4-FFF2-40B4-BE49-F238E27FC236}">
                <a16:creationId xmlns:a16="http://schemas.microsoft.com/office/drawing/2014/main" id="{281BF389-374C-CD1B-A559-B4691993401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63525" y="690707"/>
            <a:ext cx="487363" cy="487363"/>
          </a:xfrm>
          <a:prstGeom prst="rect">
            <a:avLst/>
          </a:prstGeom>
        </p:spPr>
      </p:pic>
      <p:pic>
        <p:nvPicPr>
          <p:cNvPr id="13" name="מציין מיקום של תמונה 10" descr="תמונה שמכילה טקסט, מקל גשם, אומנות&#10;&#10;תוכן שנוצר על-ידי בינה מלאכותית עשוי להיות שגוי.">
            <a:extLst>
              <a:ext uri="{FF2B5EF4-FFF2-40B4-BE49-F238E27FC236}">
                <a16:creationId xmlns:a16="http://schemas.microsoft.com/office/drawing/2014/main" id="{A629CE94-99C1-46C2-E231-E4B49FF57CD1}"/>
              </a:ext>
            </a:extLst>
          </p:cNvPr>
          <p:cNvPicPr>
            <a:picLocks noChangeAspect="1"/>
          </p:cNvPicPr>
          <p:nvPr/>
        </p:nvPicPr>
        <p:blipFill>
          <a:blip r:embed="rId4">
            <a:extLst>
              <a:ext uri="{28A0092B-C50C-407E-A947-70E740481C1C}">
                <a14:useLocalDpi xmlns:a14="http://schemas.microsoft.com/office/drawing/2010/main" val="0"/>
              </a:ext>
            </a:extLst>
          </a:blip>
          <a:srcRect b="48801"/>
          <a:stretch/>
        </p:blipFill>
        <p:spPr>
          <a:xfrm>
            <a:off x="7305963" y="0"/>
            <a:ext cx="3172692" cy="6832104"/>
          </a:xfrm>
          <a:prstGeom prst="rect">
            <a:avLst/>
          </a:prstGeom>
        </p:spPr>
      </p:pic>
      <p:pic>
        <p:nvPicPr>
          <p:cNvPr id="14" name="מציין מיקום של תמונה 10" descr="תמונה שמכילה טקסט, מקל גשם, אומנות&#10;&#10;תוכן שנוצר על-ידי בינה מלאכותית עשוי להיות שגוי.">
            <a:extLst>
              <a:ext uri="{FF2B5EF4-FFF2-40B4-BE49-F238E27FC236}">
                <a16:creationId xmlns:a16="http://schemas.microsoft.com/office/drawing/2014/main" id="{29A79290-AFC2-ED44-0AE7-00AC8EAC7173}"/>
              </a:ext>
            </a:extLst>
          </p:cNvPr>
          <p:cNvPicPr>
            <a:picLocks noChangeAspect="1"/>
          </p:cNvPicPr>
          <p:nvPr/>
        </p:nvPicPr>
        <p:blipFill>
          <a:blip r:embed="rId4">
            <a:extLst>
              <a:ext uri="{28A0092B-C50C-407E-A947-70E740481C1C}">
                <a14:useLocalDpi xmlns:a14="http://schemas.microsoft.com/office/drawing/2010/main" val="0"/>
              </a:ext>
            </a:extLst>
          </a:blip>
          <a:srcRect t="50490"/>
          <a:stretch/>
        </p:blipFill>
        <p:spPr>
          <a:xfrm>
            <a:off x="3980874" y="0"/>
            <a:ext cx="3311238" cy="6895276"/>
          </a:xfrm>
          <a:prstGeom prst="rect">
            <a:avLst/>
          </a:prstGeom>
        </p:spPr>
      </p:pic>
    </p:spTree>
    <p:extLst>
      <p:ext uri="{BB962C8B-B14F-4D97-AF65-F5344CB8AC3E}">
        <p14:creationId xmlns:p14="http://schemas.microsoft.com/office/powerpoint/2010/main" val="235145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9399"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4AD716A4-14D5-D99D-7A3A-51EE29C5742C}"/>
              </a:ext>
            </a:extLst>
          </p:cNvPr>
          <p:cNvPicPr>
            <a:picLocks noChangeAspect="1"/>
          </p:cNvPicPr>
          <p:nvPr/>
        </p:nvPicPr>
        <p:blipFill>
          <a:blip r:embed="rId2"/>
          <a:stretch>
            <a:fillRect/>
          </a:stretch>
        </p:blipFill>
        <p:spPr>
          <a:xfrm>
            <a:off x="4833343" y="158736"/>
            <a:ext cx="4372585" cy="6411220"/>
          </a:xfrm>
          <a:prstGeom prst="rect">
            <a:avLst/>
          </a:prstGeom>
        </p:spPr>
      </p:pic>
      <p:pic>
        <p:nvPicPr>
          <p:cNvPr id="8" name="תמונה 7">
            <a:extLst>
              <a:ext uri="{FF2B5EF4-FFF2-40B4-BE49-F238E27FC236}">
                <a16:creationId xmlns:a16="http://schemas.microsoft.com/office/drawing/2014/main" id="{F7863D69-F1C1-2A95-0A94-4E38F1371572}"/>
              </a:ext>
            </a:extLst>
          </p:cNvPr>
          <p:cNvPicPr>
            <a:picLocks noChangeAspect="1"/>
          </p:cNvPicPr>
          <p:nvPr/>
        </p:nvPicPr>
        <p:blipFill>
          <a:blip r:embed="rId3"/>
          <a:stretch>
            <a:fillRect/>
          </a:stretch>
        </p:blipFill>
        <p:spPr>
          <a:xfrm>
            <a:off x="191715" y="-92363"/>
            <a:ext cx="4511843" cy="6858000"/>
          </a:xfrm>
          <a:prstGeom prst="rect">
            <a:avLst/>
          </a:prstGeom>
        </p:spPr>
      </p:pic>
      <p:sp>
        <p:nvSpPr>
          <p:cNvPr id="9" name="תיבת טקסט 8">
            <a:extLst>
              <a:ext uri="{FF2B5EF4-FFF2-40B4-BE49-F238E27FC236}">
                <a16:creationId xmlns:a16="http://schemas.microsoft.com/office/drawing/2014/main" id="{30439B23-D980-0B16-99A8-4C4A32B6EBB7}"/>
              </a:ext>
            </a:extLst>
          </p:cNvPr>
          <p:cNvSpPr txBox="1"/>
          <p:nvPr/>
        </p:nvSpPr>
        <p:spPr>
          <a:xfrm>
            <a:off x="9273309" y="157019"/>
            <a:ext cx="2854036" cy="689419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בספר</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קרנות המזבח</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שיצא לאור בשנת </a:t>
            </a:r>
            <a:r>
              <a:rPr kumimoji="0" lang="he-IL" sz="1800" b="0" i="0" u="none" strike="noStrike" kern="1200" cap="none" spc="0" normalizeH="0" baseline="0" noProof="0" dirty="0" err="1">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תרפ</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ח</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נכתב ע</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י </a:t>
            </a:r>
            <a:r>
              <a:rPr kumimoji="0" lang="he-IL" sz="1800" b="0" i="0" u="none" strike="noStrike" kern="1200" cap="none" spc="0" normalizeH="0" baseline="0" noProof="0" dirty="0" err="1">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המהר</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י סבא</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אחד מגדולי הדור לפני מאה שנה שהיה מוערך ע</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י גדולי דורו</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החפץ חיים</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החזו</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א</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רבי אהרן קוטלר</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err="1">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המהרש</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ם</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ועוד</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הוא היה אחד מרבני אגודת ישראל בכנסיה הגדולה הראשונה</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סקר המחבר את הנידונים ואת הפתרונות</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endPar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היה זה לאחר רעידת האדמה בשנת</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1927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שבה נהרגו ערבים רבים ושום יהודי לא נפגע</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והוא ראה בזה התקדמות לגאולה</a:t>
            </a:r>
            <a:r>
              <a:rPr kumimoji="0" lang="ar-SA"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endPar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שינוי נוסף שמציין המחבר</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שגרם לו לכתוב את חיבורו</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היה מה שענה החתם סופר לרבי עקיבא איגר</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err="1">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שו</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ת חתם סופר יו</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ד </a:t>
            </a:r>
            <a:r>
              <a:rPr kumimoji="0" lang="he-IL" sz="1400" b="0" i="0" u="none" strike="noStrike" kern="1200" cap="none" spc="0" normalizeH="0" baseline="0" noProof="0" dirty="0" err="1">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רלו</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שאין טעם לנסות לבקש רשות מהמוסלמים</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err="1">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מכיון</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שהם מקפידים שלא יכנס כלל מי שאינו מוסלמי</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לאחר שהשתנתה המדיניות בהדרגה משנת </a:t>
            </a:r>
            <a:r>
              <a:rPr kumimoji="0" lang="he-IL" sz="1400" b="0" i="0" u="none" strike="noStrike" kern="1200" cap="none" spc="0" normalizeH="0" baseline="0" noProof="0" dirty="0" err="1">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תרט</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ו והתאפשר גם לנוצרים וליהודים לבקר</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אזי חוזרת האפשרות לבקש רשות</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זאת</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מלבד הצהרת בלפור ושינויים נוספים שהתרחשו במציאות</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 - </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עיי</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r>
              <a:rPr kumimoji="0" lang="he-IL"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ש</a:t>
            </a:r>
            <a:r>
              <a:rPr kumimoji="0" lang="ar-SA"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Narkisim" panose="020E0502050101010101" pitchFamily="34" charset="-79"/>
              </a:rPr>
              <a:t>.</a:t>
            </a:r>
            <a:endParaRPr kumimoji="0" lang="en-US" sz="1400" b="0" i="0" u="none" strike="noStrike" kern="1200" cap="none" spc="0" normalizeH="0" baseline="0" noProof="0" dirty="0">
              <a:ln>
                <a:noFill/>
              </a:ln>
              <a:solidFill>
                <a:srgbClr val="000000"/>
              </a:solidFill>
              <a:effectLst/>
              <a:uLnTx/>
              <a:uFillTx/>
              <a:latin typeface="Aptos" panose="020B0004020202020204" pitchFamily="34" charset="0"/>
              <a:ea typeface="Times New Roman" panose="02020603050405020304" pitchFamily="18" charset="0"/>
              <a:cs typeface="Aptos" panose="020B00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1492067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AA68D1-6E21-FD8A-47AD-E3535D9B573C}"/>
              </a:ext>
            </a:extLst>
          </p:cNvPr>
          <p:cNvSpPr>
            <a:spLocks noGrp="1"/>
          </p:cNvSpPr>
          <p:nvPr>
            <p:ph type="title"/>
          </p:nvPr>
        </p:nvSpPr>
        <p:spPr/>
        <p:txBody>
          <a:bodyPr/>
          <a:lstStyle/>
          <a:p>
            <a:pPr algn="ctr"/>
            <a:r>
              <a:rPr lang="he-IL" b="1" dirty="0">
                <a:latin typeface="Fb Toiren" panose="00000500000000000000" pitchFamily="50" charset="-79"/>
                <a:cs typeface="Fb Toiren" panose="00000500000000000000" pitchFamily="50" charset="-79"/>
              </a:rPr>
              <a:t>ההיבט ההלכתי – סיכום עיקרי הנידונים:</a:t>
            </a:r>
            <a:br>
              <a:rPr lang="he-IL" dirty="0">
                <a:latin typeface="Fb Toiren" panose="00000500000000000000" pitchFamily="50" charset="-79"/>
                <a:cs typeface="Fb Toiren" panose="00000500000000000000" pitchFamily="50" charset="-79"/>
              </a:rPr>
            </a:br>
            <a:endParaRPr lang="he-IL" dirty="0">
              <a:latin typeface="Fb Toiren" panose="00000500000000000000" pitchFamily="50" charset="-79"/>
              <a:cs typeface="Fb Toiren" panose="00000500000000000000" pitchFamily="50" charset="-79"/>
            </a:endParaRPr>
          </a:p>
        </p:txBody>
      </p:sp>
      <p:sp>
        <p:nvSpPr>
          <p:cNvPr id="3" name="מציין מיקום תוכן 2">
            <a:extLst>
              <a:ext uri="{FF2B5EF4-FFF2-40B4-BE49-F238E27FC236}">
                <a16:creationId xmlns:a16="http://schemas.microsoft.com/office/drawing/2014/main" id="{38F51B4D-1430-DEF6-2155-4A41B9625D57}"/>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מקום המזבח:</a:t>
            </a:r>
            <a:r>
              <a:rPr lang="he-IL" sz="3500" dirty="0">
                <a:latin typeface="AklimatMF Medium" panose="01000503000000020003" pitchFamily="50" charset="-79"/>
                <a:cs typeface="AklimatMF Medium" panose="01000503000000020003" pitchFamily="50" charset="-79"/>
              </a:rPr>
              <a:t> זיהוי מדויק, כולל אפשרות של מזבח קטן.</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טומאה:</a:t>
            </a:r>
            <a:r>
              <a:rPr lang="he-IL" sz="3500" dirty="0">
                <a:latin typeface="AklimatMF Medium" panose="01000503000000020003" pitchFamily="50" charset="-79"/>
                <a:cs typeface="AklimatMF Medium" panose="01000503000000020003" pitchFamily="50" charset="-79"/>
              </a:rPr>
              <a:t> טומאת מת הותרה בציבור; פתרונות לטומאות אחרות.</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תכלת לבגדי כהונה:</a:t>
            </a:r>
            <a:r>
              <a:rPr lang="he-IL" sz="3500" dirty="0">
                <a:latin typeface="AklimatMF Medium" panose="01000503000000020003" pitchFamily="50" charset="-79"/>
                <a:cs typeface="AklimatMF Medium" panose="01000503000000020003" pitchFamily="50" charset="-79"/>
              </a:rPr>
              <a:t> התגלתה תכלת מהודרת.</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ציץ ואבני חושן:</a:t>
            </a:r>
            <a:r>
              <a:rPr lang="he-IL" sz="3500" dirty="0">
                <a:latin typeface="AklimatMF Medium" panose="01000503000000020003" pitchFamily="50" charset="-79"/>
                <a:cs typeface="AklimatMF Medium" panose="01000503000000020003" pitchFamily="50" charset="-79"/>
              </a:rPr>
              <a:t> לא מעכב, וכבר אותרו אבני החושן.</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כהני חזקה:</a:t>
            </a:r>
            <a:r>
              <a:rPr lang="he-IL" sz="3500" dirty="0">
                <a:latin typeface="AklimatMF Medium" panose="01000503000000020003" pitchFamily="50" charset="-79"/>
                <a:cs typeface="AklimatMF Medium" panose="01000503000000020003" pitchFamily="50" charset="-79"/>
              </a:rPr>
              <a:t> ניתן לסמוך על חזקת כהונה ללא חשש משמעותי </a:t>
            </a:r>
            <a:r>
              <a:rPr lang="he-IL" sz="3500" dirty="0" err="1">
                <a:latin typeface="AklimatMF Medium" panose="01000503000000020003" pitchFamily="50" charset="-79"/>
                <a:cs typeface="AklimatMF Medium" panose="01000503000000020003" pitchFamily="50" charset="-79"/>
              </a:rPr>
              <a:t>לחללות</a:t>
            </a:r>
            <a:r>
              <a:rPr lang="he-IL" sz="3500" dirty="0">
                <a:latin typeface="AklimatMF Medium" panose="01000503000000020003" pitchFamily="50" charset="-79"/>
                <a:cs typeface="AklimatMF Medium" panose="01000503000000020003" pitchFamily="50" charset="-79"/>
              </a:rPr>
              <a:t>.</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שקלים לתמיד:</a:t>
            </a:r>
            <a:r>
              <a:rPr lang="he-IL" sz="3500" dirty="0">
                <a:latin typeface="AklimatMF Medium" panose="01000503000000020003" pitchFamily="50" charset="-79"/>
                <a:cs typeface="AklimatMF Medium" panose="01000503000000020003" pitchFamily="50" charset="-79"/>
              </a:rPr>
              <a:t> ניתן לאסוף בקלות באמצעים דיגיטליים.</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קרבן התמיד:</a:t>
            </a:r>
            <a:r>
              <a:rPr lang="he-IL" sz="3500" dirty="0">
                <a:latin typeface="AklimatMF Medium" panose="01000503000000020003" pitchFamily="50" charset="-79"/>
                <a:cs typeface="AklimatMF Medium" panose="01000503000000020003" pitchFamily="50" charset="-79"/>
              </a:rPr>
              <a:t> חינוך המזבח לא מעכב את קרבן הפסח.</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ריח ניחוח:</a:t>
            </a:r>
            <a:r>
              <a:rPr lang="he-IL" sz="3500" dirty="0">
                <a:latin typeface="AklimatMF Medium" panose="01000503000000020003" pitchFamily="50" charset="-79"/>
                <a:cs typeface="AklimatMF Medium" panose="01000503000000020003" pitchFamily="50" charset="-79"/>
              </a:rPr>
              <a:t> עם ישראל היום מוכן יותר מאי-פעם להקרבת </a:t>
            </a:r>
            <a:r>
              <a:rPr lang="he-IL" sz="3500" dirty="0" err="1">
                <a:latin typeface="AklimatMF Medium" panose="01000503000000020003" pitchFamily="50" charset="-79"/>
                <a:cs typeface="AklimatMF Medium" panose="01000503000000020003" pitchFamily="50" charset="-79"/>
              </a:rPr>
              <a:t>קרבנות</a:t>
            </a:r>
            <a:r>
              <a:rPr lang="he-IL" sz="3500" dirty="0">
                <a:latin typeface="AklimatMF Medium" panose="01000503000000020003" pitchFamily="50" charset="-79"/>
                <a:cs typeface="AklimatMF Medium" panose="01000503000000020003" pitchFamily="50" charset="-79"/>
              </a:rPr>
              <a:t>.</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האם צריך נביא?</a:t>
            </a:r>
            <a:r>
              <a:rPr lang="he-IL" sz="3500" dirty="0">
                <a:latin typeface="AklimatMF Medium" panose="01000503000000020003" pitchFamily="50" charset="-79"/>
                <a:cs typeface="AklimatMF Medium" panose="01000503000000020003" pitchFamily="50" charset="-79"/>
              </a:rPr>
              <a:t> האחרונים הכריעו שאין צורך בנביא נוסף.</a:t>
            </a:r>
          </a:p>
          <a:p>
            <a:pPr>
              <a:buFont typeface="Arial" panose="020B0604020202020204" pitchFamily="34" charset="0"/>
              <a:buChar char="•"/>
            </a:pPr>
            <a:r>
              <a:rPr lang="he-IL" sz="3500" b="1" dirty="0">
                <a:latin typeface="AklimatMF Medium" panose="01000503000000020003" pitchFamily="50" charset="-79"/>
                <a:cs typeface="AklimatMF Medium" panose="01000503000000020003" pitchFamily="50" charset="-79"/>
              </a:rPr>
              <a:t>קדושה ראשונה:</a:t>
            </a:r>
            <a:r>
              <a:rPr lang="he-IL" sz="3500" dirty="0">
                <a:latin typeface="AklimatMF Medium" panose="01000503000000020003" pitchFamily="50" charset="-79"/>
                <a:cs typeface="AklimatMF Medium" panose="01000503000000020003" pitchFamily="50" charset="-79"/>
              </a:rPr>
              <a:t> אין לחשוש לדעת </a:t>
            </a:r>
            <a:r>
              <a:rPr lang="he-IL" sz="3500" dirty="0" err="1">
                <a:latin typeface="AklimatMF Medium" panose="01000503000000020003" pitchFamily="50" charset="-79"/>
                <a:cs typeface="AklimatMF Medium" panose="01000503000000020003" pitchFamily="50" charset="-79"/>
              </a:rPr>
              <a:t>הראב"ד</a:t>
            </a:r>
            <a:r>
              <a:rPr lang="he-IL" sz="3500" dirty="0">
                <a:latin typeface="AklimatMF Medium" panose="01000503000000020003" pitchFamily="50" charset="-79"/>
                <a:cs typeface="AklimatMF Medium" panose="01000503000000020003" pitchFamily="50" charset="-79"/>
              </a:rPr>
              <a:t>.</a:t>
            </a:r>
          </a:p>
          <a:p>
            <a:endParaRPr lang="he-IL" dirty="0"/>
          </a:p>
        </p:txBody>
      </p:sp>
    </p:spTree>
    <p:extLst>
      <p:ext uri="{BB962C8B-B14F-4D97-AF65-F5344CB8AC3E}">
        <p14:creationId xmlns:p14="http://schemas.microsoft.com/office/powerpoint/2010/main" val="1961643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E0B38859-A5A7-78A5-13A6-AA5CABE4EEBB}"/>
              </a:ext>
            </a:extLst>
          </p:cNvPr>
          <p:cNvSpPr txBox="1"/>
          <p:nvPr/>
        </p:nvSpPr>
        <p:spPr>
          <a:xfrm>
            <a:off x="8268511" y="184826"/>
            <a:ext cx="3754876" cy="6463308"/>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מתי נזכה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שיר על חידוש קרבן פסח</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מָתַי כְּבָר נִזְכֶּה לְקָרְבַּן פֶּסַח</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לַעֲלוֹת בְּשִׂמְחָה אֶל הַר הַמּוֹרִיָּה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עִם שֶׂה תָמִים נָכוֹן לְהַקְרִיב</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וְקוֹל תְּרוּעָה בְּצִיּוֹן לְהָרִים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הֲלֹא אֵין לָנוּ בַּיִת, אַךְ יֵשׁ לָנוּ מָקוֹם</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הַקְּדֻשָּׁה נִשְׁאֲרָה, לֹא הָלְכָה עִם הַיּוֹם</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מִזְבֵּחַ עָלֵינוּ רַק לְהָקִים מֵחָדָשׁ</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טֻמְאָה הֻתְּרָה בְּצִבּוּר, וְאֵין לְהַחֲרִישׁ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ג.</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הָיוּ יָמִים קָשִׁים, אוֹיְבִים מִסָּבִיב</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אַךְ כָּעֵת הָאֵל סִלֵּק מֵעָלֵינוּ זְעָמוֹ</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נִפְרְצוּ הַחוֹמוֹת, נֶחְלְשׁוּ הַמּוֹנְעִים</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עֵת לְהִתְעוֹרֵר, זְמַן לְהַגְשִׁים חֲלוֹמוֹ</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גְּדוֹלֵי יִשְׂרָאֵל כְּבָר דָּנוּ וְחָקְרוּ</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מֵהַחָתָ"ם</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סוֹפֵר עַד הֶחָזוֹן אִישׁ אָמְרוּ</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אֵין מְנִיעָה הֲלָכָתִית, רַק רְצוֹן וְהִתְעוֹרְרוּת</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לִרְאוֹת בְּעֵינֵינוּ אֶת דְּבַר ה' מִתְגַּשֵּׁם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3" name="תיבת טקסט 2">
            <a:extLst>
              <a:ext uri="{FF2B5EF4-FFF2-40B4-BE49-F238E27FC236}">
                <a16:creationId xmlns:a16="http://schemas.microsoft.com/office/drawing/2014/main" id="{8038D2DA-DA3D-9ACD-6345-8F48418A2082}"/>
              </a:ext>
            </a:extLst>
          </p:cNvPr>
          <p:cNvSpPr txBox="1"/>
          <p:nvPr/>
        </p:nvSpPr>
        <p:spPr>
          <a:xfrm>
            <a:off x="3210128" y="233464"/>
            <a:ext cx="4766553" cy="59093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כְּבָר נִמְצָא חִלָּזוֹן, תְּכֵלֶת לְבִגְדֵי כְּהֻנָּה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אַבְנֵי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חֹשֶׁן</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הוּכְנוּ, לֹא חָסֵר דָּבָר</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יוֹדְעִים מְקוֹם הַמִּזְבֵּחַ, יֵשׁ כֹּהֲנִים בַּחֲזָקָה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וּמַה חָסֵר? רַק לְהִתְאַחֵד בְּקוֹל אֶחָד בָּרוּר</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אֵין לְחַכּוֹת לְנָבִיא, וְלֹא לְמָשִׁיחַ שֶׁיָּבוֹא</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עָלֵינוּ לַעֲשׂוֹת, לִדְרֹשׁ וּלְהִשְׁתַּדֵּל</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כְּמוֹ שֶׁאָמַר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הַגְּרָ"א</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"זוֹ הַדֶּרֶךְ הַנְּכוֹנָה"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לְקַדֵּשׁ שֵׁם שָׁמַיִם בְּמַעֲשֶׂה וְלֹא לְהִתְעַצֵּל</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ז.</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בִּשְׁנַת תשפ"ו, הִגִּיעָה הַשָּׁעָה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חַלּוֹן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הִזְדַּמְּנֻיּוֹת</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נִפְתַּח לִרְוָחָה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מְמָשִׁים אוֹהְדִים, עוֹלָם מִשְׁתַּנֶּה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וְכָל מַה שֶׁנִּשְׁאַר - לַעֲשׂוֹת מַעֲשֶׂה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ח.</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לֹא נִסְפֹּר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הַמְנַגְּדִים</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רַק נְאַחֵד הַתּוֹמְכִים</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נִלְמַד מֵהַחַשְׁמוֹנָאִים אֵיךְ לַעֲשׂוֹת וְלֹא לִדְחוֹת</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מְעַט אֲנָשִׁים בְּלֵב אֶחָד, אוּלַי לֹא בְּהִדּוּר רַב</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אַךְ עוֹשִׂים מִצְוַת בּוֹרֵא, גַּם כְּשֶׁהָרוּחַ נוֹשֶׁבֶת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4" name="תיבת טקסט 3">
            <a:extLst>
              <a:ext uri="{FF2B5EF4-FFF2-40B4-BE49-F238E27FC236}">
                <a16:creationId xmlns:a16="http://schemas.microsoft.com/office/drawing/2014/main" id="{9FDA9F09-BAF9-14EB-9B41-D98F00C7F812}"/>
              </a:ext>
            </a:extLst>
          </p:cNvPr>
          <p:cNvSpPr txBox="1"/>
          <p:nvPr/>
        </p:nvSpPr>
        <p:spPr>
          <a:xfrm>
            <a:off x="68094" y="272374"/>
            <a:ext cx="4088270" cy="3693319"/>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ט.</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רְאוּ, אָבִיב הִגִּיעַ וְנִיסָן בַּפֶּתַח עוֹמֵד</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"וְאָמַרְתֶּם זֶבַח פֶּסַח הוּא לַה'" - הַמִּקְרָא מְעִיד</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לֹא צָרִיךְ אָרְמוֹן, רַק אֶבֶן וְכֶבֶשׂ</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וַאֲנַחְנוּ עוֹלִים, יְצִיאַת מִצְרַיִם מַמְשִׁיכָה לְהִתְחַדֵּשׁ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י.</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מָתַי כְּבָר נִזְכֶּה לִשְׁמֹעַ קוֹל הַתְּרוּעָה</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בְּהַר הַמּוֹרִיָּה יִקְרְאוּ "קָרְבַּן פֶּסַח"</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חֲלוֹם דּוֹרוֹת, מִצְוָה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שֶׁבְּלִבֵּנו</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בּוֹעֶרֶת</a:t>
            </a:r>
            <a:b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לִשְׂמֹחַ בְּקִיּוּם "וּבָאוּ וְרִנְּנוּ בְּצִיּוֹן" בְּשָׂשׂוֹן וּבְשִׂמְחָה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pic>
        <p:nvPicPr>
          <p:cNvPr id="5" name="מָתַי כְּבָר נִזְכֶּה לְקָרְבַּן פֶּסַח">
            <a:hlinkClick r:id="" action="ppaction://media"/>
            <a:extLst>
              <a:ext uri="{FF2B5EF4-FFF2-40B4-BE49-F238E27FC236}">
                <a16:creationId xmlns:a16="http://schemas.microsoft.com/office/drawing/2014/main" id="{E44A2DB0-0966-7187-7046-F0035F9427F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316470" y="4653106"/>
            <a:ext cx="487363" cy="487363"/>
          </a:xfrm>
          <a:prstGeom prst="rect">
            <a:avLst/>
          </a:prstGeom>
        </p:spPr>
      </p:pic>
      <p:pic>
        <p:nvPicPr>
          <p:cNvPr id="6" name="מצלמה 5">
            <a:extLst>
              <a:ext uri="{FF2B5EF4-FFF2-40B4-BE49-F238E27FC236}">
                <a16:creationId xmlns:a16="http://schemas.microsoft.com/office/drawing/2014/main" id="{BDD71822-D82B-C7EB-2B72-1FFBA6D8A8B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tretch>
            <a:fillRect/>
          </a:stretch>
        </p:blipFill>
        <p:spPr>
          <a:xfrm>
            <a:off x="270995" y="4625941"/>
            <a:ext cx="2057400" cy="2057400"/>
          </a:xfrm>
          <a:prstGeom prst="ellipse">
            <a:avLst/>
          </a:prstGeom>
        </p:spPr>
      </p:pic>
    </p:spTree>
    <p:extLst>
      <p:ext uri="{BB962C8B-B14F-4D97-AF65-F5344CB8AC3E}">
        <p14:creationId xmlns:p14="http://schemas.microsoft.com/office/powerpoint/2010/main" val="170702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47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C52688AC-3D5C-7761-8FE5-B42C3DEFF995}"/>
              </a:ext>
            </a:extLst>
          </p:cNvPr>
          <p:cNvSpPr txBox="1"/>
          <p:nvPr/>
        </p:nvSpPr>
        <p:spPr>
          <a:xfrm>
            <a:off x="5938982" y="314036"/>
            <a:ext cx="6151417" cy="6186309"/>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תפילה לחידוש עבודת קרבן פסח</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ריבון העולמים, יושב בשמי מרום ושוכן בלבבות נכאים,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אליך אשא את נפשי הכמהה ורוחי המשתוקקת.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אנא, אדון הרחמים, הביטה ממעון קודשך אל עמך ישראל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הנכספים לעבודתך בטהרה, מייחלים להאיר באור פניך</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ולהתדבק</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בקדושת מצוותיך הטמירות.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זה אלפי שנים, אבינו שבשמים, עומדים אנו בצל החורבן,</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דמעותינו כנחל שוטף על הדום רגליך שנלקח,</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ועל מזבחך השומם המצפה לשוב ולחוש אש של מעלה.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הנה קרבים ימי האביב, ימי גאולה וחירות לישראל,</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ולבי נקרע בקרבי – "ובמה נעלה לרגל? ובמה נקריב פסחנו?"</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כאיל תערוג על אפיקי מים, כן נפשנו עורגת לקיים מצוות קרבן פסח,</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להחיות את הברית העתיקה, לחוש שוב את קרבתך המופלאה.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פתח לנו, אבינו, שערי רצון וחסד,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האר עינינו בתורתך להבין סודות עבודתך,</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חזק את ידיהם של חכמי ישראל לברר הלכה צרופה,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והסר כל מחיצה המפרידה בינינו לבין מצוותיך.</a:t>
            </a:r>
          </a:p>
        </p:txBody>
      </p:sp>
      <p:sp>
        <p:nvSpPr>
          <p:cNvPr id="5" name="תיבת טקסט 4">
            <a:extLst>
              <a:ext uri="{FF2B5EF4-FFF2-40B4-BE49-F238E27FC236}">
                <a16:creationId xmlns:a16="http://schemas.microsoft.com/office/drawing/2014/main" id="{4E93A880-E39C-A1D1-8BDF-FFD3A1673C5D}"/>
              </a:ext>
            </a:extLst>
          </p:cNvPr>
          <p:cNvSpPr txBox="1"/>
          <p:nvPr/>
        </p:nvSpPr>
        <p:spPr>
          <a:xfrm>
            <a:off x="184727" y="332509"/>
            <a:ext cx="5837382" cy="563231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אנא, אל חי, שמת בליבנו תשוקה עזה לחידוש העבודה,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אל תניח לנו להסתפק בזיכרון מעומעם, בעבודה שבלב מרחוק.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הבא עלינו רוח טהרה ממרום, רוח נכונה חדש בקרבנו,</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שנזכה להקים מזבח בקדושה ובטהרה, לעורר שרפי מעלה.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אתה הוא שהבטחת "וְהֵשִׁיב לֵב אָבוֹת עַל בָּנִים",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אנא, השב לב בנים הכמהים לעבודת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אבותם</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האר עינינו לראות בדרך הנכונה להשיב עטרה ליושנה,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לקיים מצוות קרבן פסח כאשר צווית בתורתך הקדושה.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ריבון כל העולמים, אנו עומדים לפניך בהכנעה ובענווה,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יודעים גודל אפסותנו אל מול רוממותך האינסופית,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אך גם בטוחים באהבתך העמוקה לעמך ישראל,</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ובחסדך הגדול שיאפשר לנו לשוב אליך בלב שלם.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 קטנו מלבקש, ומה דלונו מלהתחנן,</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אך תשוקת הנפש בוערת כאש להבה,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זכנו נא בחידוש ימינו כקדם, בעלייה להר המוריה,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בקול ששון וקול שמחה, קול אומרים "זבח פסח הוא לה'".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3398856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486CBBC9-E1D3-C28B-6542-2E69115B68E3}"/>
            </a:ext>
          </a:extLst>
        </p:cNvPr>
        <p:cNvGrpSpPr/>
        <p:nvPr/>
      </p:nvGrpSpPr>
      <p:grpSpPr>
        <a:xfrm>
          <a:off x="0" y="0"/>
          <a:ext cx="0" cy="0"/>
          <a:chOff x="0" y="0"/>
          <a:chExt cx="0" cy="0"/>
        </a:xfrm>
      </p:grpSpPr>
      <p:sp>
        <p:nvSpPr>
          <p:cNvPr id="3" name="תיבת טקסט 2">
            <a:extLst>
              <a:ext uri="{FF2B5EF4-FFF2-40B4-BE49-F238E27FC236}">
                <a16:creationId xmlns:a16="http://schemas.microsoft.com/office/drawing/2014/main" id="{D8AF22C0-7894-DCB5-622C-66B585356741}"/>
              </a:ext>
            </a:extLst>
          </p:cNvPr>
          <p:cNvSpPr txBox="1"/>
          <p:nvPr/>
        </p:nvSpPr>
        <p:spPr>
          <a:xfrm>
            <a:off x="5938982" y="314036"/>
            <a:ext cx="6151417" cy="341632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שערי שמים פתח, ואוצרך הטוב הרעף עלינו,</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תן בליבנו עוז ותעצומות להגשים חלום דורות,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להקריב לפניך קרבן פסח בטהרה ובשמחה,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ונראה עין בעין בשובך לציון ברחמים.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אנא, אבינו שבשמים, עשה למען שכינתך השרויה בגלות,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עשה למענך אם לא למעננו, הראנו אותות לטובה,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יהי רצון שנזכה עוד בימינו, במהרה בקרוב,</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להקריב קרבן פסח במועדו, ובכך לקרב גאולתנו וגאולת העולם כולו.</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אמן, כן יהי רצון.</a:t>
            </a:r>
          </a:p>
        </p:txBody>
      </p:sp>
    </p:spTree>
    <p:extLst>
      <p:ext uri="{BB962C8B-B14F-4D97-AF65-F5344CB8AC3E}">
        <p14:creationId xmlns:p14="http://schemas.microsoft.com/office/powerpoint/2010/main" val="2669429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7DCDE95-8B81-E9DD-3C8F-1DB55723DBDF}"/>
              </a:ext>
            </a:extLst>
          </p:cNvPr>
          <p:cNvSpPr>
            <a:spLocks noGrp="1"/>
          </p:cNvSpPr>
          <p:nvPr>
            <p:ph type="title"/>
          </p:nvPr>
        </p:nvSpPr>
        <p:spPr/>
        <p:txBody>
          <a:bodyPr/>
          <a:lstStyle/>
          <a:p>
            <a:pPr algn="ctr"/>
            <a:r>
              <a:rPr lang="he-IL" dirty="0">
                <a:latin typeface="Fb Toiren" panose="00000500000000000000" pitchFamily="50" charset="-79"/>
                <a:cs typeface="Fb Toiren" panose="00000500000000000000" pitchFamily="50" charset="-79"/>
              </a:rPr>
              <a:t>חידה</a:t>
            </a:r>
          </a:p>
        </p:txBody>
      </p:sp>
      <p:pic>
        <p:nvPicPr>
          <p:cNvPr id="5" name="מציין מיקום של תמונה 4">
            <a:extLst>
              <a:ext uri="{FF2B5EF4-FFF2-40B4-BE49-F238E27FC236}">
                <a16:creationId xmlns:a16="http://schemas.microsoft.com/office/drawing/2014/main" id="{8FF910A2-7E68-2FCB-6AED-1AAB79DDEC92}"/>
              </a:ext>
            </a:extLst>
          </p:cNvPr>
          <p:cNvPicPr>
            <a:picLocks noGrp="1" noChangeAspect="1"/>
          </p:cNvPicPr>
          <p:nvPr>
            <p:ph type="pic" idx="1"/>
          </p:nvPr>
        </p:nvPicPr>
        <p:blipFill>
          <a:blip r:embed="rId2"/>
          <a:srcRect t="10520" b="10520"/>
          <a:stretch>
            <a:fillRect/>
          </a:stretch>
        </p:blipFill>
        <p:spPr>
          <a:prstGeom prst="rect">
            <a:avLst/>
          </a:prstGeom>
        </p:spPr>
      </p:pic>
      <p:sp>
        <p:nvSpPr>
          <p:cNvPr id="4" name="מציין מיקום טקסט 3">
            <a:extLst>
              <a:ext uri="{FF2B5EF4-FFF2-40B4-BE49-F238E27FC236}">
                <a16:creationId xmlns:a16="http://schemas.microsoft.com/office/drawing/2014/main" id="{24713309-0DAD-74B8-3449-E3EBB72E50F7}"/>
              </a:ext>
            </a:extLst>
          </p:cNvPr>
          <p:cNvSpPr>
            <a:spLocks noGrp="1"/>
          </p:cNvSpPr>
          <p:nvPr>
            <p:ph type="body" sz="half" idx="2"/>
          </p:nvPr>
        </p:nvSpPr>
        <p:spPr/>
        <p:txBody>
          <a:bodyPr/>
          <a:lstStyle/>
          <a:p>
            <a:pPr algn="r" rtl="1"/>
            <a:r>
              <a:rPr lang="he-IL" sz="3200" dirty="0">
                <a:effectLst/>
                <a:latin typeface="Fb Toiren" panose="00000500000000000000" pitchFamily="50" charset="-79"/>
                <a:cs typeface="Fb Toiren" panose="00000500000000000000" pitchFamily="50" charset="-79"/>
              </a:rPr>
              <a:t>אני מונע את החשש מטומאה בזמן הקרבת קרבן פסח. </a:t>
            </a:r>
          </a:p>
          <a:p>
            <a:pPr algn="r" rtl="1"/>
            <a:r>
              <a:rPr lang="he-IL" sz="3200" dirty="0">
                <a:effectLst/>
                <a:latin typeface="Fb Toiren" panose="00000500000000000000" pitchFamily="50" charset="-79"/>
                <a:cs typeface="Fb Toiren" panose="00000500000000000000" pitchFamily="50" charset="-79"/>
              </a:rPr>
              <a:t>אני מושג הלכתי שמתיר הקרבה למרות טומאת מת. מה אני?</a:t>
            </a:r>
          </a:p>
          <a:p>
            <a:endParaRPr lang="he-IL" dirty="0"/>
          </a:p>
        </p:txBody>
      </p:sp>
    </p:spTree>
    <p:extLst>
      <p:ext uri="{BB962C8B-B14F-4D97-AF65-F5344CB8AC3E}">
        <p14:creationId xmlns:p14="http://schemas.microsoft.com/office/powerpoint/2010/main" val="2194150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208BD-B32E-226C-46E5-5ECF96CCE7E5}"/>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8D45F1E-36A8-D587-A1D8-30E0BD0CE5D9}"/>
              </a:ext>
            </a:extLst>
          </p:cNvPr>
          <p:cNvSpPr>
            <a:spLocks noGrp="1"/>
          </p:cNvSpPr>
          <p:nvPr>
            <p:ph type="title"/>
          </p:nvPr>
        </p:nvSpPr>
        <p:spPr/>
        <p:txBody>
          <a:bodyPr/>
          <a:lstStyle/>
          <a:p>
            <a:pPr algn="ctr"/>
            <a:r>
              <a:rPr lang="he-IL" dirty="0">
                <a:latin typeface="Fb Toiren" panose="00000500000000000000" pitchFamily="50" charset="-79"/>
                <a:cs typeface="Fb Toiren" panose="00000500000000000000" pitchFamily="50" charset="-79"/>
              </a:rPr>
              <a:t>חידה</a:t>
            </a:r>
          </a:p>
        </p:txBody>
      </p:sp>
      <p:sp>
        <p:nvSpPr>
          <p:cNvPr id="4" name="מציין מיקום טקסט 3">
            <a:extLst>
              <a:ext uri="{FF2B5EF4-FFF2-40B4-BE49-F238E27FC236}">
                <a16:creationId xmlns:a16="http://schemas.microsoft.com/office/drawing/2014/main" id="{1FB40F5B-B510-73F1-985E-E031F960CCEB}"/>
              </a:ext>
            </a:extLst>
          </p:cNvPr>
          <p:cNvSpPr>
            <a:spLocks noGrp="1"/>
          </p:cNvSpPr>
          <p:nvPr>
            <p:ph type="body" sz="half" idx="2"/>
          </p:nvPr>
        </p:nvSpPr>
        <p:spPr>
          <a:xfrm>
            <a:off x="498764" y="2057400"/>
            <a:ext cx="4273261" cy="3811588"/>
          </a:xfrm>
        </p:spPr>
        <p:txBody>
          <a:bodyPr/>
          <a:lstStyle/>
          <a:p>
            <a:pPr algn="r" rtl="1"/>
            <a:r>
              <a:rPr lang="he-IL" sz="3200" dirty="0">
                <a:effectLst/>
                <a:latin typeface="Fb Toiren" panose="00000500000000000000" pitchFamily="50" charset="-79"/>
                <a:cs typeface="Fb Toiren" panose="00000500000000000000" pitchFamily="50" charset="-79"/>
              </a:rPr>
              <a:t>אני נדרש לבגדי כהונה ולפני שנים רבות הייתי אחת המניעות העיקריות להקרבת </a:t>
            </a:r>
            <a:r>
              <a:rPr lang="he-IL" sz="3200" dirty="0" err="1">
                <a:effectLst/>
                <a:latin typeface="Fb Toiren" panose="00000500000000000000" pitchFamily="50" charset="-79"/>
                <a:cs typeface="Fb Toiren" panose="00000500000000000000" pitchFamily="50" charset="-79"/>
              </a:rPr>
              <a:t>קרבנות</a:t>
            </a:r>
            <a:r>
              <a:rPr lang="he-IL" sz="3200" dirty="0">
                <a:effectLst/>
                <a:latin typeface="Fb Toiren" panose="00000500000000000000" pitchFamily="50" charset="-79"/>
                <a:cs typeface="Fb Toiren" panose="00000500000000000000" pitchFamily="50" charset="-79"/>
              </a:rPr>
              <a:t>.</a:t>
            </a:r>
          </a:p>
          <a:p>
            <a:pPr algn="r" rtl="1"/>
            <a:endParaRPr lang="he-IL" sz="3200" dirty="0">
              <a:effectLst/>
              <a:latin typeface="Fb Toiren" panose="00000500000000000000" pitchFamily="50" charset="-79"/>
              <a:cs typeface="Fb Toiren" panose="00000500000000000000" pitchFamily="50" charset="-79"/>
            </a:endParaRPr>
          </a:p>
          <a:p>
            <a:pPr algn="r" rtl="1"/>
            <a:r>
              <a:rPr lang="he-IL" sz="3200" dirty="0">
                <a:effectLst/>
                <a:latin typeface="Fb Toiren" panose="00000500000000000000" pitchFamily="50" charset="-79"/>
                <a:cs typeface="Fb Toiren" panose="00000500000000000000" pitchFamily="50" charset="-79"/>
              </a:rPr>
              <a:t>כיום זכינו וגילו אותי מחדש. מה אני?</a:t>
            </a:r>
            <a:endParaRPr lang="he-IL" dirty="0"/>
          </a:p>
        </p:txBody>
      </p:sp>
      <p:pic>
        <p:nvPicPr>
          <p:cNvPr id="7" name="מציין מיקום של תמונה 6">
            <a:extLst>
              <a:ext uri="{FF2B5EF4-FFF2-40B4-BE49-F238E27FC236}">
                <a16:creationId xmlns:a16="http://schemas.microsoft.com/office/drawing/2014/main" id="{206EAC16-F6D3-A053-469E-DB12DDAF2879}"/>
              </a:ext>
            </a:extLst>
          </p:cNvPr>
          <p:cNvPicPr>
            <a:picLocks noGrp="1" noChangeAspect="1"/>
          </p:cNvPicPr>
          <p:nvPr>
            <p:ph type="pic" idx="1"/>
          </p:nvPr>
        </p:nvPicPr>
        <p:blipFill>
          <a:blip r:embed="rId3"/>
          <a:srcRect t="10520" b="10520"/>
          <a:stretch>
            <a:fillRect/>
          </a:stretch>
        </p:blipFill>
        <p:spPr>
          <a:prstGeom prst="rect">
            <a:avLst/>
          </a:prstGeom>
        </p:spPr>
      </p:pic>
    </p:spTree>
    <p:custDataLst>
      <p:tags r:id="rId1"/>
    </p:custDataLst>
    <p:extLst>
      <p:ext uri="{BB962C8B-B14F-4D97-AF65-F5344CB8AC3E}">
        <p14:creationId xmlns:p14="http://schemas.microsoft.com/office/powerpoint/2010/main" val="339997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861C5-EB79-BD8C-CAFC-3FE80EDC658C}"/>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00CE099-07A1-892A-942B-F335DA1F847B}"/>
              </a:ext>
            </a:extLst>
          </p:cNvPr>
          <p:cNvSpPr>
            <a:spLocks noGrp="1"/>
          </p:cNvSpPr>
          <p:nvPr>
            <p:ph type="title"/>
          </p:nvPr>
        </p:nvSpPr>
        <p:spPr/>
        <p:txBody>
          <a:bodyPr/>
          <a:lstStyle/>
          <a:p>
            <a:pPr algn="ctr"/>
            <a:r>
              <a:rPr lang="he-IL" dirty="0">
                <a:latin typeface="Fb Toiren" panose="00000500000000000000" pitchFamily="50" charset="-79"/>
                <a:cs typeface="Fb Toiren" panose="00000500000000000000" pitchFamily="50" charset="-79"/>
              </a:rPr>
              <a:t>חידה</a:t>
            </a:r>
          </a:p>
        </p:txBody>
      </p:sp>
      <p:sp>
        <p:nvSpPr>
          <p:cNvPr id="4" name="מציין מיקום טקסט 3">
            <a:extLst>
              <a:ext uri="{FF2B5EF4-FFF2-40B4-BE49-F238E27FC236}">
                <a16:creationId xmlns:a16="http://schemas.microsoft.com/office/drawing/2014/main" id="{8A5C46A2-25DC-B465-B09A-86AECF51D87A}"/>
              </a:ext>
            </a:extLst>
          </p:cNvPr>
          <p:cNvSpPr>
            <a:spLocks noGrp="1"/>
          </p:cNvSpPr>
          <p:nvPr>
            <p:ph type="body" sz="half" idx="2"/>
          </p:nvPr>
        </p:nvSpPr>
        <p:spPr>
          <a:xfrm>
            <a:off x="498764" y="2057400"/>
            <a:ext cx="4273261" cy="3811588"/>
          </a:xfrm>
        </p:spPr>
        <p:txBody>
          <a:bodyPr/>
          <a:lstStyle/>
          <a:p>
            <a:pPr algn="r" rtl="1"/>
            <a:r>
              <a:rPr lang="he-IL" sz="3200" dirty="0">
                <a:effectLst/>
                <a:latin typeface="Fb Toiren" panose="00000500000000000000" pitchFamily="50" charset="-79"/>
                <a:cs typeface="Fb Toiren" panose="00000500000000000000" pitchFamily="50" charset="-79"/>
              </a:rPr>
              <a:t>אני מקום מרכזי בהקרבת </a:t>
            </a:r>
            <a:r>
              <a:rPr lang="he-IL" sz="3200" dirty="0" err="1">
                <a:effectLst/>
                <a:latin typeface="Fb Toiren" panose="00000500000000000000" pitchFamily="50" charset="-79"/>
                <a:cs typeface="Fb Toiren" panose="00000500000000000000" pitchFamily="50" charset="-79"/>
              </a:rPr>
              <a:t>קרבנות</a:t>
            </a:r>
            <a:r>
              <a:rPr lang="he-IL" sz="3200" dirty="0">
                <a:effectLst/>
                <a:latin typeface="Fb Toiren" panose="00000500000000000000" pitchFamily="50" charset="-79"/>
                <a:cs typeface="Fb Toiren" panose="00000500000000000000" pitchFamily="50" charset="-79"/>
              </a:rPr>
              <a:t>, ואפשר להקים אותי בגודל חמש על חמש אמות.</a:t>
            </a:r>
          </a:p>
          <a:p>
            <a:pPr algn="r" rtl="1"/>
            <a:r>
              <a:rPr lang="he-IL" sz="3200" dirty="0">
                <a:effectLst/>
                <a:latin typeface="Fb Toiren" panose="00000500000000000000" pitchFamily="50" charset="-79"/>
                <a:cs typeface="Fb Toiren" panose="00000500000000000000" pitchFamily="50" charset="-79"/>
              </a:rPr>
              <a:t>לא צריך נביא כדי למצוא אותי, רק לדרוש ולמצוא.</a:t>
            </a:r>
          </a:p>
          <a:p>
            <a:pPr algn="r" rtl="1"/>
            <a:r>
              <a:rPr lang="he-IL" sz="3200" dirty="0">
                <a:effectLst/>
                <a:latin typeface="Fb Toiren" panose="00000500000000000000" pitchFamily="50" charset="-79"/>
                <a:cs typeface="Fb Toiren" panose="00000500000000000000" pitchFamily="50" charset="-79"/>
              </a:rPr>
              <a:t>מה אני?</a:t>
            </a:r>
            <a:endParaRPr lang="he-IL" dirty="0"/>
          </a:p>
        </p:txBody>
      </p:sp>
      <p:pic>
        <p:nvPicPr>
          <p:cNvPr id="6" name="מציין מיקום של תמונה 5">
            <a:extLst>
              <a:ext uri="{FF2B5EF4-FFF2-40B4-BE49-F238E27FC236}">
                <a16:creationId xmlns:a16="http://schemas.microsoft.com/office/drawing/2014/main" id="{CFF2E06E-88E6-88EE-F3D9-646DFFC6A476}"/>
              </a:ext>
            </a:extLst>
          </p:cNvPr>
          <p:cNvPicPr>
            <a:picLocks noGrp="1" noChangeAspect="1"/>
          </p:cNvPicPr>
          <p:nvPr>
            <p:ph type="pic" idx="1"/>
          </p:nvPr>
        </p:nvPicPr>
        <p:blipFill>
          <a:blip r:embed="rId3"/>
          <a:srcRect t="10520" b="10520"/>
          <a:stretch>
            <a:fillRect/>
          </a:stretch>
        </p:blipFill>
        <p:spPr>
          <a:prstGeom prst="rect">
            <a:avLst/>
          </a:prstGeom>
        </p:spPr>
      </p:pic>
    </p:spTree>
    <p:custDataLst>
      <p:tags r:id="rId1"/>
    </p:custDataLst>
    <p:extLst>
      <p:ext uri="{BB962C8B-B14F-4D97-AF65-F5344CB8AC3E}">
        <p14:creationId xmlns:p14="http://schemas.microsoft.com/office/powerpoint/2010/main" val="253749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90C9F-BB60-9DF9-8E91-A6F7A72F65B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43AB25D-5217-2A02-75BF-97BCFB3BE447}"/>
              </a:ext>
            </a:extLst>
          </p:cNvPr>
          <p:cNvSpPr>
            <a:spLocks noGrp="1"/>
          </p:cNvSpPr>
          <p:nvPr>
            <p:ph type="title"/>
          </p:nvPr>
        </p:nvSpPr>
        <p:spPr/>
        <p:txBody>
          <a:bodyPr/>
          <a:lstStyle/>
          <a:p>
            <a:pPr algn="ctr"/>
            <a:r>
              <a:rPr lang="he-IL" dirty="0">
                <a:latin typeface="Fb Toiren" panose="00000500000000000000" pitchFamily="50" charset="-79"/>
                <a:cs typeface="Fb Toiren" panose="00000500000000000000" pitchFamily="50" charset="-79"/>
              </a:rPr>
              <a:t>חידה</a:t>
            </a:r>
          </a:p>
        </p:txBody>
      </p:sp>
      <p:sp>
        <p:nvSpPr>
          <p:cNvPr id="4" name="מציין מיקום טקסט 3">
            <a:extLst>
              <a:ext uri="{FF2B5EF4-FFF2-40B4-BE49-F238E27FC236}">
                <a16:creationId xmlns:a16="http://schemas.microsoft.com/office/drawing/2014/main" id="{ECA22F78-9F0C-4218-A3D6-F6E299EB1758}"/>
              </a:ext>
            </a:extLst>
          </p:cNvPr>
          <p:cNvSpPr>
            <a:spLocks noGrp="1"/>
          </p:cNvSpPr>
          <p:nvPr>
            <p:ph type="body" sz="half" idx="2"/>
          </p:nvPr>
        </p:nvSpPr>
        <p:spPr>
          <a:xfrm>
            <a:off x="498764" y="2057400"/>
            <a:ext cx="4273261" cy="3811588"/>
          </a:xfrm>
        </p:spPr>
        <p:txBody>
          <a:bodyPr/>
          <a:lstStyle/>
          <a:p>
            <a:pPr algn="r" rtl="1"/>
            <a:r>
              <a:rPr lang="he-IL" sz="3200" dirty="0">
                <a:effectLst/>
                <a:latin typeface="Fb Toiren" panose="00000500000000000000" pitchFamily="50" charset="-79"/>
                <a:cs typeface="Fb Toiren" panose="00000500000000000000" pitchFamily="50" charset="-79"/>
              </a:rPr>
              <a:t>אני אדם מיוחס שיכול לעבוד בעבודת המקדש.</a:t>
            </a:r>
          </a:p>
          <a:p>
            <a:pPr algn="r" rtl="1"/>
            <a:r>
              <a:rPr lang="he-IL" sz="3200" dirty="0">
                <a:effectLst/>
                <a:latin typeface="Fb Toiren" panose="00000500000000000000" pitchFamily="50" charset="-79"/>
                <a:cs typeface="Fb Toiren" panose="00000500000000000000" pitchFamily="50" charset="-79"/>
              </a:rPr>
              <a:t>החתם סופר פסק שאפשר לסמוך עלי מבלי יחוס מדוקדק.</a:t>
            </a:r>
          </a:p>
          <a:p>
            <a:pPr algn="r" rtl="1"/>
            <a:r>
              <a:rPr lang="he-IL" sz="3200" dirty="0">
                <a:effectLst/>
                <a:latin typeface="Fb Toiren" panose="00000500000000000000" pitchFamily="50" charset="-79"/>
                <a:cs typeface="Fb Toiren" panose="00000500000000000000" pitchFamily="50" charset="-79"/>
              </a:rPr>
              <a:t>מה אני?</a:t>
            </a:r>
            <a:endParaRPr lang="he-IL" dirty="0"/>
          </a:p>
        </p:txBody>
      </p:sp>
      <p:pic>
        <p:nvPicPr>
          <p:cNvPr id="7" name="מציין מיקום של תמונה 6">
            <a:extLst>
              <a:ext uri="{FF2B5EF4-FFF2-40B4-BE49-F238E27FC236}">
                <a16:creationId xmlns:a16="http://schemas.microsoft.com/office/drawing/2014/main" id="{92367EB6-F3AF-0DD2-5D19-E81F95ECA4CE}"/>
              </a:ext>
            </a:extLst>
          </p:cNvPr>
          <p:cNvPicPr>
            <a:picLocks noGrp="1" noChangeAspect="1"/>
          </p:cNvPicPr>
          <p:nvPr>
            <p:ph type="pic" idx="1"/>
          </p:nvPr>
        </p:nvPicPr>
        <p:blipFill>
          <a:blip r:embed="rId3"/>
          <a:srcRect t="10520" b="10520"/>
          <a:stretch>
            <a:fillRect/>
          </a:stretch>
        </p:blipFill>
        <p:spPr>
          <a:prstGeom prst="rect">
            <a:avLst/>
          </a:prstGeom>
        </p:spPr>
      </p:pic>
    </p:spTree>
    <p:custDataLst>
      <p:tags r:id="rId1"/>
    </p:custDataLst>
    <p:extLst>
      <p:ext uri="{BB962C8B-B14F-4D97-AF65-F5344CB8AC3E}">
        <p14:creationId xmlns:p14="http://schemas.microsoft.com/office/powerpoint/2010/main" val="4178283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FE67-FABD-F523-E38E-233FFD9C025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EC3B435-9A5E-4EC2-9228-5EDED1E375D6}"/>
              </a:ext>
            </a:extLst>
          </p:cNvPr>
          <p:cNvSpPr>
            <a:spLocks noGrp="1"/>
          </p:cNvSpPr>
          <p:nvPr>
            <p:ph type="title"/>
          </p:nvPr>
        </p:nvSpPr>
        <p:spPr/>
        <p:txBody>
          <a:bodyPr/>
          <a:lstStyle/>
          <a:p>
            <a:pPr algn="ctr"/>
            <a:r>
              <a:rPr lang="he-IL" dirty="0">
                <a:latin typeface="Fb Toiren" panose="00000500000000000000" pitchFamily="50" charset="-79"/>
                <a:cs typeface="Fb Toiren" panose="00000500000000000000" pitchFamily="50" charset="-79"/>
              </a:rPr>
              <a:t>חידה</a:t>
            </a:r>
          </a:p>
        </p:txBody>
      </p:sp>
      <p:sp>
        <p:nvSpPr>
          <p:cNvPr id="4" name="מציין מיקום טקסט 3">
            <a:extLst>
              <a:ext uri="{FF2B5EF4-FFF2-40B4-BE49-F238E27FC236}">
                <a16:creationId xmlns:a16="http://schemas.microsoft.com/office/drawing/2014/main" id="{F323010B-3872-80D0-350C-1095CA9B91A8}"/>
              </a:ext>
            </a:extLst>
          </p:cNvPr>
          <p:cNvSpPr>
            <a:spLocks noGrp="1"/>
          </p:cNvSpPr>
          <p:nvPr>
            <p:ph type="body" sz="half" idx="2"/>
          </p:nvPr>
        </p:nvSpPr>
        <p:spPr>
          <a:xfrm>
            <a:off x="498764" y="2057400"/>
            <a:ext cx="4273261" cy="3811588"/>
          </a:xfrm>
        </p:spPr>
        <p:txBody>
          <a:bodyPr/>
          <a:lstStyle/>
          <a:p>
            <a:pPr algn="r" rtl="1"/>
            <a:r>
              <a:rPr lang="he-IL" sz="3200" dirty="0">
                <a:effectLst/>
                <a:latin typeface="Fb Toiren" panose="00000500000000000000" pitchFamily="50" charset="-79"/>
                <a:cs typeface="Fb Toiren" panose="00000500000000000000" pitchFamily="50" charset="-79"/>
              </a:rPr>
              <a:t>מרן </a:t>
            </a:r>
            <a:r>
              <a:rPr lang="he-IL" sz="3200" dirty="0" err="1">
                <a:effectLst/>
                <a:latin typeface="Fb Toiren" panose="00000500000000000000" pitchFamily="50" charset="-79"/>
                <a:cs typeface="Fb Toiren" panose="00000500000000000000" pitchFamily="50" charset="-79"/>
              </a:rPr>
              <a:t>הגר"ח</a:t>
            </a:r>
            <a:r>
              <a:rPr lang="he-IL" sz="3200" dirty="0">
                <a:effectLst/>
                <a:latin typeface="Fb Toiren" panose="00000500000000000000" pitchFamily="50" charset="-79"/>
                <a:cs typeface="Fb Toiren" panose="00000500000000000000" pitchFamily="50" charset="-79"/>
              </a:rPr>
              <a:t> </a:t>
            </a:r>
            <a:r>
              <a:rPr lang="he-IL" sz="3200" dirty="0" err="1">
                <a:effectLst/>
                <a:latin typeface="Fb Toiren" panose="00000500000000000000" pitchFamily="50" charset="-79"/>
                <a:cs typeface="Fb Toiren" panose="00000500000000000000" pitchFamily="50" charset="-79"/>
              </a:rPr>
              <a:t>קניבסקי</a:t>
            </a:r>
            <a:r>
              <a:rPr lang="he-IL" sz="3200" dirty="0">
                <a:effectLst/>
                <a:latin typeface="Fb Toiren" panose="00000500000000000000" pitchFamily="50" charset="-79"/>
                <a:cs typeface="Fb Toiren" panose="00000500000000000000" pitchFamily="50" charset="-79"/>
              </a:rPr>
              <a:t> זצוק"ל היה עושה אותי מדי שנה.</a:t>
            </a:r>
          </a:p>
          <a:p>
            <a:pPr algn="r" rtl="1"/>
            <a:r>
              <a:rPr lang="he-IL" sz="3200" dirty="0">
                <a:effectLst/>
                <a:latin typeface="Fb Toiren" panose="00000500000000000000" pitchFamily="50" charset="-79"/>
                <a:cs typeface="Fb Toiren" panose="00000500000000000000" pitchFamily="50" charset="-79"/>
              </a:rPr>
              <a:t>אני קשור לכבש מחוות מיוחדת.</a:t>
            </a:r>
          </a:p>
          <a:p>
            <a:pPr algn="r" rtl="1"/>
            <a:r>
              <a:rPr lang="he-IL" sz="3200" dirty="0">
                <a:effectLst/>
                <a:latin typeface="Fb Toiren" panose="00000500000000000000" pitchFamily="50" charset="-79"/>
                <a:cs typeface="Fb Toiren" panose="00000500000000000000" pitchFamily="50" charset="-79"/>
              </a:rPr>
              <a:t>מה אני?</a:t>
            </a:r>
            <a:endParaRPr lang="he-IL" dirty="0"/>
          </a:p>
        </p:txBody>
      </p:sp>
      <p:pic>
        <p:nvPicPr>
          <p:cNvPr id="6" name="מציין מיקום של תמונה 5">
            <a:extLst>
              <a:ext uri="{FF2B5EF4-FFF2-40B4-BE49-F238E27FC236}">
                <a16:creationId xmlns:a16="http://schemas.microsoft.com/office/drawing/2014/main" id="{75EEF449-36CD-C289-CB55-2A21EC19AA5B}"/>
              </a:ext>
            </a:extLst>
          </p:cNvPr>
          <p:cNvPicPr>
            <a:picLocks noGrp="1" noChangeAspect="1"/>
          </p:cNvPicPr>
          <p:nvPr>
            <p:ph type="pic" idx="1"/>
          </p:nvPr>
        </p:nvPicPr>
        <p:blipFill>
          <a:blip r:embed="rId3"/>
          <a:srcRect t="10520" b="10520"/>
          <a:stretch>
            <a:fillRect/>
          </a:stretch>
        </p:blipFill>
        <p:spPr>
          <a:prstGeom prst="rect">
            <a:avLst/>
          </a:prstGeom>
        </p:spPr>
      </p:pic>
    </p:spTree>
    <p:custDataLst>
      <p:tags r:id="rId1"/>
    </p:custDataLst>
    <p:extLst>
      <p:ext uri="{BB962C8B-B14F-4D97-AF65-F5344CB8AC3E}">
        <p14:creationId xmlns:p14="http://schemas.microsoft.com/office/powerpoint/2010/main" val="372205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DD03C8E3-66C4-C60C-CD98-84CD84BA59A8}"/>
              </a:ext>
            </a:extLst>
          </p:cNvPr>
          <p:cNvPicPr>
            <a:picLocks noChangeAspect="1"/>
          </p:cNvPicPr>
          <p:nvPr/>
        </p:nvPicPr>
        <p:blipFill>
          <a:blip r:embed="rId2"/>
          <a:stretch>
            <a:fillRect/>
          </a:stretch>
        </p:blipFill>
        <p:spPr>
          <a:xfrm>
            <a:off x="1348161" y="0"/>
            <a:ext cx="9126224" cy="943107"/>
          </a:xfrm>
          <a:prstGeom prst="rect">
            <a:avLst/>
          </a:prstGeom>
        </p:spPr>
      </p:pic>
      <p:sp>
        <p:nvSpPr>
          <p:cNvPr id="7" name="תיבת טקסט 6">
            <a:extLst>
              <a:ext uri="{FF2B5EF4-FFF2-40B4-BE49-F238E27FC236}">
                <a16:creationId xmlns:a16="http://schemas.microsoft.com/office/drawing/2014/main" id="{D3F9D30E-72C6-6F6B-581A-AA238CD2EEC9}"/>
              </a:ext>
            </a:extLst>
          </p:cNvPr>
          <p:cNvSpPr txBox="1"/>
          <p:nvPr/>
        </p:nvSpPr>
        <p:spPr>
          <a:xfrm>
            <a:off x="7010400" y="1348509"/>
            <a:ext cx="4996873" cy="3378682"/>
          </a:xfrm>
          <a:prstGeom prst="rect">
            <a:avLst/>
          </a:prstGeom>
          <a:noFill/>
        </p:spPr>
        <p:txBody>
          <a:bodyPr wrap="square" rtlCol="1">
            <a:spAutoFit/>
          </a:bodyPr>
          <a:lstStyle/>
          <a:p>
            <a:pPr marL="0" marR="0" lvl="0" indent="0" algn="just"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רָאשֵׁי חֳדָשִׁים לְעַמְּךָ נָתָתָּ זְמַן כַּפָּרָה לְכָל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תּוֹלְדוֹתָם</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 בִּהְיוֹתָם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מַקְרִיבִין</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 לְפָנֶיךָ זִבְחֵי רָצוֹן וּשְׂעִירֵי חַטָּאת לְכַפֵּר בַּעֲדָם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זִכָּרוֹן</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 לְכוּלָּם יִהְיוּ תְּשׁוּעַת נַפְשָׁם מִיַּד שׂוֹנֵא </a:t>
            </a:r>
          </a:p>
          <a:p>
            <a:pPr marL="0" marR="0" lvl="0" indent="0" algn="just"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מִזְבֵּחַ חָדָשׁ בְּצִיּון תָּכִין </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וְעוֹלַת רֹאשׁ הַחֹדֶשׁ וּשְׂעִירֵי עִַּיזִים נַעֲשֶׂה בְרָצוֹן וּבַעֲבוֹדַת בֵּית הַמִּקְדָּשׁ נִשְׂמַח כּוּלָנוּ וְשִׁירֵי דָּוִד עַבְדָּךְ נִשְׁמַע בְּעִירָךְ הָאֲמוּרִים לִפְנֵי מִזְבָּחָךְ אַהֲבַת עוֹלָם תָּבִיא לָהֶם וּבְרִית אָבוֹת לְבָּנִים תִּזְכּוֹר. וַהֲבִיאֵנוּ לְצִיּוֹן עִירְךָ בַּרִינָה וְלִירוּשָׁלַֽםִ בֵּית מִקְדָּשְׁךָ בְּשִׂמְחַת עוֹלָם.</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pic>
        <p:nvPicPr>
          <p:cNvPr id="9" name="תמונה 8">
            <a:extLst>
              <a:ext uri="{FF2B5EF4-FFF2-40B4-BE49-F238E27FC236}">
                <a16:creationId xmlns:a16="http://schemas.microsoft.com/office/drawing/2014/main" id="{81718D02-1A84-AFAE-232D-BB2577BD8296}"/>
              </a:ext>
            </a:extLst>
          </p:cNvPr>
          <p:cNvPicPr>
            <a:picLocks noChangeAspect="1"/>
          </p:cNvPicPr>
          <p:nvPr/>
        </p:nvPicPr>
        <p:blipFill>
          <a:blip r:embed="rId3"/>
          <a:stretch>
            <a:fillRect/>
          </a:stretch>
        </p:blipFill>
        <p:spPr>
          <a:xfrm>
            <a:off x="720792" y="4931542"/>
            <a:ext cx="9383434" cy="1409897"/>
          </a:xfrm>
          <a:prstGeom prst="rect">
            <a:avLst/>
          </a:prstGeom>
        </p:spPr>
      </p:pic>
      <p:sp>
        <p:nvSpPr>
          <p:cNvPr id="10" name="תיבת טקסט 9">
            <a:extLst>
              <a:ext uri="{FF2B5EF4-FFF2-40B4-BE49-F238E27FC236}">
                <a16:creationId xmlns:a16="http://schemas.microsoft.com/office/drawing/2014/main" id="{968C7AB8-F1B9-7FA3-0637-071DD1E8CFDC}"/>
              </a:ext>
            </a:extLst>
          </p:cNvPr>
          <p:cNvSpPr txBox="1"/>
          <p:nvPr/>
        </p:nvSpPr>
        <p:spPr>
          <a:xfrm>
            <a:off x="831273" y="1477818"/>
            <a:ext cx="5153891" cy="2550698"/>
          </a:xfrm>
          <a:prstGeom prst="rect">
            <a:avLst/>
          </a:prstGeom>
          <a:noFill/>
        </p:spPr>
        <p:txBody>
          <a:bodyPr wrap="square" rtlCol="1">
            <a:spAutoFit/>
          </a:bodyPr>
          <a:lstStyle/>
          <a:p>
            <a:pPr marL="0" marR="0" lvl="0" indent="0" algn="just"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אָבִינוּ מַלְכֵּנוּ. גַּלֵּה כְּבוֹד מַלְכוּתְךָ עָלֵינוּ מְהֵרָה. וְהוֹפַע וְהִנָּשֵֹא עָלֵינוּ לְעֵינֵי כָּל חָי. וְקָרֵב פְּזוּרֵינוּ מִבֵּין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David" panose="020E0502060401010101" pitchFamily="34" charset="-79"/>
              </a:rPr>
              <a:t>הַגּוֹיִם</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David" panose="020E0502060401010101" pitchFamily="34" charset="-79"/>
              </a:rPr>
              <a:t>וּנְפוּצוֹתֵינו</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 כַּנֵּס מִיַּרְכְּתֵי אָרֶץ. </a:t>
            </a:r>
          </a:p>
          <a:p>
            <a:pPr marL="0" marR="0" lvl="0" indent="0" algn="just"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וַהֲבִיאֵנוּ לְצִיּוֹן עִירְךָ בְּרִנָּה. וְלִירוּשָׁלַיִם בֵּית מִקְדָּשְׁךָ בְּשִֹמְחַת עוֹלָם. וְשָׁם נַעֲשֶֹה לְפָנֶיךָ אֶת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David" panose="020E0502060401010101" pitchFamily="34" charset="-79"/>
              </a:rPr>
              <a:t>קָרְבְּנוֹת</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 חוֹבוֹתֵינוּ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David" panose="020E0502060401010101" pitchFamily="34" charset="-79"/>
              </a:rPr>
              <a:t>תְּמִידִים</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 כְּסִדְרָם וּמוּסָפִים כְּהִלְכָתָם:</a:t>
            </a:r>
          </a:p>
        </p:txBody>
      </p:sp>
    </p:spTree>
    <p:extLst>
      <p:ext uri="{BB962C8B-B14F-4D97-AF65-F5344CB8AC3E}">
        <p14:creationId xmlns:p14="http://schemas.microsoft.com/office/powerpoint/2010/main" val="3918922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descr="תמונה שמכילה בחוץ, שמיים, קרקע, דיונות&#10;&#10;תוכן שנוצר על-ידי בינה מלאכותית עשוי להיות שגוי.">
            <a:extLst>
              <a:ext uri="{FF2B5EF4-FFF2-40B4-BE49-F238E27FC236}">
                <a16:creationId xmlns:a16="http://schemas.microsoft.com/office/drawing/2014/main" id="{9729091F-AEBF-8FD5-7781-79522E189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תמונה 2">
            <a:extLst>
              <a:ext uri="{FF2B5EF4-FFF2-40B4-BE49-F238E27FC236}">
                <a16:creationId xmlns:a16="http://schemas.microsoft.com/office/drawing/2014/main" id="{23994B4F-878D-188D-EDFC-83B3A209A761}"/>
              </a:ext>
            </a:extLst>
          </p:cNvPr>
          <p:cNvPicPr>
            <a:picLocks noChangeAspect="1"/>
          </p:cNvPicPr>
          <p:nvPr/>
        </p:nvPicPr>
        <p:blipFill>
          <a:blip r:embed="rId3"/>
          <a:stretch>
            <a:fillRect/>
          </a:stretch>
        </p:blipFill>
        <p:spPr>
          <a:xfrm>
            <a:off x="1029774" y="4380755"/>
            <a:ext cx="9412013" cy="2400635"/>
          </a:xfrm>
          <a:prstGeom prst="rect">
            <a:avLst/>
          </a:prstGeom>
        </p:spPr>
      </p:pic>
      <p:pic>
        <p:nvPicPr>
          <p:cNvPr id="5" name="תמונה 4">
            <a:extLst>
              <a:ext uri="{FF2B5EF4-FFF2-40B4-BE49-F238E27FC236}">
                <a16:creationId xmlns:a16="http://schemas.microsoft.com/office/drawing/2014/main" id="{8EF88402-9D45-F1D4-1AF5-12A21602D5BC}"/>
              </a:ext>
            </a:extLst>
          </p:cNvPr>
          <p:cNvPicPr>
            <a:picLocks noChangeAspect="1"/>
          </p:cNvPicPr>
          <p:nvPr/>
        </p:nvPicPr>
        <p:blipFill>
          <a:blip r:embed="rId4"/>
          <a:stretch>
            <a:fillRect/>
          </a:stretch>
        </p:blipFill>
        <p:spPr>
          <a:xfrm>
            <a:off x="1274907" y="140421"/>
            <a:ext cx="9124950" cy="942975"/>
          </a:xfrm>
          <a:prstGeom prst="rect">
            <a:avLst/>
          </a:prstGeom>
        </p:spPr>
      </p:pic>
    </p:spTree>
    <p:extLst>
      <p:ext uri="{BB962C8B-B14F-4D97-AF65-F5344CB8AC3E}">
        <p14:creationId xmlns:p14="http://schemas.microsoft.com/office/powerpoint/2010/main" val="2673290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62F76-9C23-2199-1FC0-C0E643EB3B3E}"/>
            </a:ext>
          </a:extLst>
        </p:cNvPr>
        <p:cNvGrpSpPr/>
        <p:nvPr/>
      </p:nvGrpSpPr>
      <p:grpSpPr>
        <a:xfrm>
          <a:off x="0" y="0"/>
          <a:ext cx="0" cy="0"/>
          <a:chOff x="0" y="0"/>
          <a:chExt cx="0" cy="0"/>
        </a:xfrm>
      </p:grpSpPr>
      <p:pic>
        <p:nvPicPr>
          <p:cNvPr id="5" name="תמונה 4">
            <a:extLst>
              <a:ext uri="{FF2B5EF4-FFF2-40B4-BE49-F238E27FC236}">
                <a16:creationId xmlns:a16="http://schemas.microsoft.com/office/drawing/2014/main" id="{8A99C260-A653-FA66-98C8-71A0AF612714}"/>
              </a:ext>
            </a:extLst>
          </p:cNvPr>
          <p:cNvPicPr>
            <a:picLocks noChangeAspect="1"/>
          </p:cNvPicPr>
          <p:nvPr/>
        </p:nvPicPr>
        <p:blipFill>
          <a:blip r:embed="rId2"/>
          <a:stretch>
            <a:fillRect/>
          </a:stretch>
        </p:blipFill>
        <p:spPr>
          <a:xfrm>
            <a:off x="1274907" y="140421"/>
            <a:ext cx="9124950" cy="942975"/>
          </a:xfrm>
          <a:prstGeom prst="rect">
            <a:avLst/>
          </a:prstGeom>
        </p:spPr>
      </p:pic>
      <p:pic>
        <p:nvPicPr>
          <p:cNvPr id="4" name="תמונה 3">
            <a:extLst>
              <a:ext uri="{FF2B5EF4-FFF2-40B4-BE49-F238E27FC236}">
                <a16:creationId xmlns:a16="http://schemas.microsoft.com/office/drawing/2014/main" id="{3FE5597A-0CA1-120F-0F0C-802FF199F997}"/>
              </a:ext>
            </a:extLst>
          </p:cNvPr>
          <p:cNvPicPr>
            <a:picLocks noChangeAspect="1"/>
          </p:cNvPicPr>
          <p:nvPr/>
        </p:nvPicPr>
        <p:blipFill>
          <a:blip r:embed="rId3"/>
          <a:stretch>
            <a:fillRect/>
          </a:stretch>
        </p:blipFill>
        <p:spPr>
          <a:xfrm>
            <a:off x="1100642" y="1184892"/>
            <a:ext cx="9307224" cy="1495634"/>
          </a:xfrm>
          <a:prstGeom prst="rect">
            <a:avLst/>
          </a:prstGeom>
        </p:spPr>
      </p:pic>
      <p:pic>
        <p:nvPicPr>
          <p:cNvPr id="7" name="תמונה 6">
            <a:extLst>
              <a:ext uri="{FF2B5EF4-FFF2-40B4-BE49-F238E27FC236}">
                <a16:creationId xmlns:a16="http://schemas.microsoft.com/office/drawing/2014/main" id="{853CB8A0-EEB2-2443-7C57-D70FEFC478A0}"/>
              </a:ext>
            </a:extLst>
          </p:cNvPr>
          <p:cNvPicPr>
            <a:picLocks noChangeAspect="1"/>
          </p:cNvPicPr>
          <p:nvPr/>
        </p:nvPicPr>
        <p:blipFill>
          <a:blip r:embed="rId4"/>
          <a:stretch>
            <a:fillRect/>
          </a:stretch>
        </p:blipFill>
        <p:spPr>
          <a:xfrm>
            <a:off x="937122" y="2689831"/>
            <a:ext cx="9431066" cy="5782482"/>
          </a:xfrm>
          <a:prstGeom prst="rect">
            <a:avLst/>
          </a:prstGeom>
        </p:spPr>
      </p:pic>
    </p:spTree>
    <p:extLst>
      <p:ext uri="{BB962C8B-B14F-4D97-AF65-F5344CB8AC3E}">
        <p14:creationId xmlns:p14="http://schemas.microsoft.com/office/powerpoint/2010/main" val="860539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40E95FC7-BF1F-5A53-43B6-976A7BDE59E1}"/>
              </a:ext>
            </a:extLst>
          </p:cNvPr>
          <p:cNvPicPr>
            <a:picLocks noChangeAspect="1"/>
          </p:cNvPicPr>
          <p:nvPr/>
        </p:nvPicPr>
        <p:blipFill>
          <a:blip r:embed="rId2"/>
          <a:stretch>
            <a:fillRect/>
          </a:stretch>
        </p:blipFill>
        <p:spPr>
          <a:xfrm>
            <a:off x="1399229" y="1060919"/>
            <a:ext cx="9412013" cy="5696745"/>
          </a:xfrm>
          <a:prstGeom prst="rect">
            <a:avLst/>
          </a:prstGeom>
        </p:spPr>
      </p:pic>
      <p:pic>
        <p:nvPicPr>
          <p:cNvPr id="4" name="תמונה 3">
            <a:extLst>
              <a:ext uri="{FF2B5EF4-FFF2-40B4-BE49-F238E27FC236}">
                <a16:creationId xmlns:a16="http://schemas.microsoft.com/office/drawing/2014/main" id="{400A9F01-9A1B-E79B-FF6E-71FA0FEB7390}"/>
              </a:ext>
            </a:extLst>
          </p:cNvPr>
          <p:cNvPicPr>
            <a:picLocks noChangeAspect="1"/>
          </p:cNvPicPr>
          <p:nvPr/>
        </p:nvPicPr>
        <p:blipFill>
          <a:blip r:embed="rId3"/>
          <a:stretch>
            <a:fillRect/>
          </a:stretch>
        </p:blipFill>
        <p:spPr>
          <a:xfrm>
            <a:off x="1477330" y="0"/>
            <a:ext cx="9126503" cy="944962"/>
          </a:xfrm>
          <a:prstGeom prst="rect">
            <a:avLst/>
          </a:prstGeom>
        </p:spPr>
      </p:pic>
    </p:spTree>
    <p:extLst>
      <p:ext uri="{BB962C8B-B14F-4D97-AF65-F5344CB8AC3E}">
        <p14:creationId xmlns:p14="http://schemas.microsoft.com/office/powerpoint/2010/main" val="2214960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35251-BC54-DA05-CB33-B948FB516B26}"/>
            </a:ext>
          </a:extLst>
        </p:cNvPr>
        <p:cNvGrpSpPr/>
        <p:nvPr/>
      </p:nvGrpSpPr>
      <p:grpSpPr>
        <a:xfrm>
          <a:off x="0" y="0"/>
          <a:ext cx="0" cy="0"/>
          <a:chOff x="0" y="0"/>
          <a:chExt cx="0" cy="0"/>
        </a:xfrm>
      </p:grpSpPr>
      <p:pic>
        <p:nvPicPr>
          <p:cNvPr id="7" name="תמונה 6" descr="תמונה שמכילה בחוץ, שמיים, קרקע, דיונות&#10;&#10;תוכן שנוצר על-ידי בינה מלאכותית עשוי להיות שגוי.">
            <a:extLst>
              <a:ext uri="{FF2B5EF4-FFF2-40B4-BE49-F238E27FC236}">
                <a16:creationId xmlns:a16="http://schemas.microsoft.com/office/drawing/2014/main" id="{4146421A-B047-4650-41B8-227F9122A7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תמונה 4">
            <a:extLst>
              <a:ext uri="{FF2B5EF4-FFF2-40B4-BE49-F238E27FC236}">
                <a16:creationId xmlns:a16="http://schemas.microsoft.com/office/drawing/2014/main" id="{DEB48936-AEFB-BA2C-760D-5D4E50015F4B}"/>
              </a:ext>
            </a:extLst>
          </p:cNvPr>
          <p:cNvPicPr>
            <a:picLocks noChangeAspect="1"/>
          </p:cNvPicPr>
          <p:nvPr/>
        </p:nvPicPr>
        <p:blipFill>
          <a:blip r:embed="rId6"/>
          <a:stretch>
            <a:fillRect/>
          </a:stretch>
        </p:blipFill>
        <p:spPr>
          <a:xfrm>
            <a:off x="1274907" y="140421"/>
            <a:ext cx="9124950" cy="942975"/>
          </a:xfrm>
          <a:prstGeom prst="rect">
            <a:avLst/>
          </a:prstGeom>
        </p:spPr>
      </p:pic>
      <p:pic>
        <p:nvPicPr>
          <p:cNvPr id="2" name="Mizbe'ach Chadash - Rabbi Shlomo Carlebach - מזבח חדש - רבי שלמה קרליבך">
            <a:hlinkClick r:id="" action="ppaction://media"/>
            <a:extLst>
              <a:ext uri="{FF2B5EF4-FFF2-40B4-BE49-F238E27FC236}">
                <a16:creationId xmlns:a16="http://schemas.microsoft.com/office/drawing/2014/main" id="{102C415A-4F15-890D-5C0D-F7C73C5E29EA}"/>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35063" y="5670550"/>
            <a:ext cx="487362" cy="487363"/>
          </a:xfrm>
          <a:prstGeom prst="rect">
            <a:avLst/>
          </a:prstGeom>
        </p:spPr>
      </p:pic>
    </p:spTree>
    <p:custDataLst>
      <p:tags r:id="rId1"/>
    </p:custDataLst>
    <p:extLst>
      <p:ext uri="{BB962C8B-B14F-4D97-AF65-F5344CB8AC3E}">
        <p14:creationId xmlns:p14="http://schemas.microsoft.com/office/powerpoint/2010/main" val="117892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228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36162B38-F957-235F-1B76-5FE18332D176}"/>
              </a:ext>
            </a:extLst>
          </p:cNvPr>
          <p:cNvPicPr>
            <a:picLocks noChangeAspect="1"/>
          </p:cNvPicPr>
          <p:nvPr/>
        </p:nvPicPr>
        <p:blipFill>
          <a:blip r:embed="rId2"/>
          <a:stretch>
            <a:fillRect/>
          </a:stretch>
        </p:blipFill>
        <p:spPr>
          <a:xfrm>
            <a:off x="0" y="1140445"/>
            <a:ext cx="12192000" cy="3967509"/>
          </a:xfrm>
          <a:prstGeom prst="rect">
            <a:avLst/>
          </a:prstGeom>
        </p:spPr>
      </p:pic>
    </p:spTree>
    <p:extLst>
      <p:ext uri="{BB962C8B-B14F-4D97-AF65-F5344CB8AC3E}">
        <p14:creationId xmlns:p14="http://schemas.microsoft.com/office/powerpoint/2010/main" val="1956690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C78EE8CC-548D-905F-B057-3044C87CC090}"/>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352B4D82-5C92-24B6-14F4-9267B1CFC89B}"/>
              </a:ext>
            </a:extLst>
          </p:cNvPr>
          <p:cNvPicPr>
            <a:picLocks noChangeAspect="1"/>
          </p:cNvPicPr>
          <p:nvPr/>
        </p:nvPicPr>
        <p:blipFill>
          <a:blip r:embed="rId2"/>
          <a:stretch>
            <a:fillRect/>
          </a:stretch>
        </p:blipFill>
        <p:spPr>
          <a:xfrm>
            <a:off x="0" y="1914625"/>
            <a:ext cx="12192000" cy="3028750"/>
          </a:xfrm>
          <a:prstGeom prst="rect">
            <a:avLst/>
          </a:prstGeom>
        </p:spPr>
      </p:pic>
    </p:spTree>
    <p:extLst>
      <p:ext uri="{BB962C8B-B14F-4D97-AF65-F5344CB8AC3E}">
        <p14:creationId xmlns:p14="http://schemas.microsoft.com/office/powerpoint/2010/main" val="2945458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BD913F40-8FAE-921D-6954-338273E98467}"/>
            </a:ext>
          </a:extLst>
        </p:cNvPr>
        <p:cNvGrpSpPr/>
        <p:nvPr/>
      </p:nvGrpSpPr>
      <p:grpSpPr>
        <a:xfrm>
          <a:off x="0" y="0"/>
          <a:ext cx="0" cy="0"/>
          <a:chOff x="0" y="0"/>
          <a:chExt cx="0" cy="0"/>
        </a:xfrm>
      </p:grpSpPr>
      <p:pic>
        <p:nvPicPr>
          <p:cNvPr id="3" name="תמונה 2">
            <a:extLst>
              <a:ext uri="{FF2B5EF4-FFF2-40B4-BE49-F238E27FC236}">
                <a16:creationId xmlns:a16="http://schemas.microsoft.com/office/drawing/2014/main" id="{86C71BBA-2D2C-02DA-AB9B-4BBC3C02DEF6}"/>
              </a:ext>
            </a:extLst>
          </p:cNvPr>
          <p:cNvPicPr>
            <a:picLocks noChangeAspect="1"/>
          </p:cNvPicPr>
          <p:nvPr/>
        </p:nvPicPr>
        <p:blipFill>
          <a:blip r:embed="rId2"/>
          <a:stretch>
            <a:fillRect/>
          </a:stretch>
        </p:blipFill>
        <p:spPr>
          <a:xfrm>
            <a:off x="0" y="1871374"/>
            <a:ext cx="12192000" cy="3115251"/>
          </a:xfrm>
          <a:prstGeom prst="rect">
            <a:avLst/>
          </a:prstGeom>
        </p:spPr>
      </p:pic>
    </p:spTree>
    <p:extLst>
      <p:ext uri="{BB962C8B-B14F-4D97-AF65-F5344CB8AC3E}">
        <p14:creationId xmlns:p14="http://schemas.microsoft.com/office/powerpoint/2010/main" val="17632944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F4D9EF58-20DB-E161-3F96-63AFF7A5636B}"/>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CEBD2E90-0133-A595-C828-29FC2B4186E8}"/>
              </a:ext>
            </a:extLst>
          </p:cNvPr>
          <p:cNvPicPr>
            <a:picLocks noChangeAspect="1"/>
          </p:cNvPicPr>
          <p:nvPr/>
        </p:nvPicPr>
        <p:blipFill>
          <a:blip r:embed="rId2"/>
          <a:stretch>
            <a:fillRect/>
          </a:stretch>
        </p:blipFill>
        <p:spPr>
          <a:xfrm>
            <a:off x="0" y="1100879"/>
            <a:ext cx="12192000" cy="4656241"/>
          </a:xfrm>
          <a:prstGeom prst="rect">
            <a:avLst/>
          </a:prstGeom>
        </p:spPr>
      </p:pic>
      <p:pic>
        <p:nvPicPr>
          <p:cNvPr id="5" name="תמונה 4">
            <a:extLst>
              <a:ext uri="{FF2B5EF4-FFF2-40B4-BE49-F238E27FC236}">
                <a16:creationId xmlns:a16="http://schemas.microsoft.com/office/drawing/2014/main" id="{58806E70-694A-1E5A-E4C4-06E0A30A1C2B}"/>
              </a:ext>
            </a:extLst>
          </p:cNvPr>
          <p:cNvPicPr>
            <a:picLocks noChangeAspect="1"/>
          </p:cNvPicPr>
          <p:nvPr/>
        </p:nvPicPr>
        <p:blipFill>
          <a:blip r:embed="rId3"/>
          <a:stretch>
            <a:fillRect/>
          </a:stretch>
        </p:blipFill>
        <p:spPr>
          <a:xfrm>
            <a:off x="947630" y="247975"/>
            <a:ext cx="487722" cy="487722"/>
          </a:xfrm>
          <a:prstGeom prst="rect">
            <a:avLst/>
          </a:prstGeom>
        </p:spPr>
      </p:pic>
      <p:sp>
        <p:nvSpPr>
          <p:cNvPr id="6" name="כותרת 5">
            <a:extLst>
              <a:ext uri="{FF2B5EF4-FFF2-40B4-BE49-F238E27FC236}">
                <a16:creationId xmlns:a16="http://schemas.microsoft.com/office/drawing/2014/main" id="{C34DC85B-6A7A-2632-878C-F2E819A774B2}"/>
              </a:ext>
            </a:extLst>
          </p:cNvPr>
          <p:cNvSpPr>
            <a:spLocks noGrp="1"/>
          </p:cNvSpPr>
          <p:nvPr>
            <p:ph type="title"/>
          </p:nvPr>
        </p:nvSpPr>
        <p:spPr>
          <a:xfrm>
            <a:off x="838200" y="221673"/>
            <a:ext cx="10515600" cy="711201"/>
          </a:xfrm>
        </p:spPr>
        <p:txBody>
          <a:bodyPr>
            <a:normAutofit/>
          </a:bodyPr>
          <a:lstStyle/>
          <a:p>
            <a:pPr algn="ctr"/>
            <a:r>
              <a:rPr lang="he-IL" dirty="0">
                <a:highlight>
                  <a:srgbClr val="FFFF00"/>
                </a:highlight>
                <a:latin typeface="Fb Toiren" panose="00000500000000000000" pitchFamily="50" charset="-79"/>
                <a:cs typeface="Fb Toiren" panose="00000500000000000000" pitchFamily="50" charset="-79"/>
              </a:rPr>
              <a:t>זכו – יבנו מעצמם</a:t>
            </a:r>
          </a:p>
        </p:txBody>
      </p:sp>
      <p:sp>
        <p:nvSpPr>
          <p:cNvPr id="7" name="מציין מיקום תוכן 6">
            <a:extLst>
              <a:ext uri="{FF2B5EF4-FFF2-40B4-BE49-F238E27FC236}">
                <a16:creationId xmlns:a16="http://schemas.microsoft.com/office/drawing/2014/main" id="{BD18B415-1C1E-8E43-D293-BD53816F8715}"/>
              </a:ext>
            </a:extLst>
          </p:cNvPr>
          <p:cNvSpPr>
            <a:spLocks noGrp="1"/>
          </p:cNvSpPr>
          <p:nvPr>
            <p:ph idx="1"/>
          </p:nvPr>
        </p:nvSpPr>
        <p:spPr/>
        <p:txBody>
          <a:bodyPr/>
          <a:lstStyle/>
          <a:p>
            <a:endParaRPr lang="he-IL" dirty="0"/>
          </a:p>
        </p:txBody>
      </p:sp>
    </p:spTree>
    <p:extLst>
      <p:ext uri="{BB962C8B-B14F-4D97-AF65-F5344CB8AC3E}">
        <p14:creationId xmlns:p14="http://schemas.microsoft.com/office/powerpoint/2010/main" val="3266634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8A1EF9C-9204-3F01-4922-F529D9AD03FD}"/>
              </a:ext>
            </a:extLst>
          </p:cNvPr>
          <p:cNvSpPr>
            <a:spLocks noGrp="1"/>
          </p:cNvSpPr>
          <p:nvPr>
            <p:ph type="title"/>
          </p:nvPr>
        </p:nvSpPr>
        <p:spPr/>
        <p:txBody>
          <a:bodyPr/>
          <a:lstStyle/>
          <a:p>
            <a:r>
              <a:rPr lang="he-IL" dirty="0"/>
              <a:t>תוספות עם קישורים</a:t>
            </a:r>
          </a:p>
        </p:txBody>
      </p:sp>
      <p:sp>
        <p:nvSpPr>
          <p:cNvPr id="3" name="מציין מיקום תוכן 2">
            <a:extLst>
              <a:ext uri="{FF2B5EF4-FFF2-40B4-BE49-F238E27FC236}">
                <a16:creationId xmlns:a16="http://schemas.microsoft.com/office/drawing/2014/main" id="{71483DEF-4832-C851-BD56-58EEC2C90329}"/>
              </a:ext>
            </a:extLst>
          </p:cNvPr>
          <p:cNvSpPr>
            <a:spLocks noGrp="1"/>
          </p:cNvSpPr>
          <p:nvPr>
            <p:ph idx="1"/>
          </p:nvPr>
        </p:nvSpPr>
        <p:spPr/>
        <p:txBody>
          <a:bodyPr/>
          <a:lstStyle/>
          <a:p>
            <a:r>
              <a:rPr lang="he-IL" dirty="0"/>
              <a:t>סיכום קרבן פסח בימינו – בלשון מליצית </a:t>
            </a:r>
          </a:p>
          <a:p>
            <a:r>
              <a:rPr lang="en-US" dirty="0">
                <a:hlinkClick r:id="rId2"/>
              </a:rPr>
              <a:t>https://claude.site/artifacts/b698b3e4-f1bd-46e9-98aa-ea139aa88086?fullscreen=true</a:t>
            </a:r>
            <a:endParaRPr lang="he-IL" dirty="0"/>
          </a:p>
          <a:p>
            <a:r>
              <a:rPr lang="he-IL" dirty="0"/>
              <a:t>מבחן בנושא קרבן פסח –יש בתיקיה של קרבן פסח. </a:t>
            </a:r>
          </a:p>
          <a:p>
            <a:r>
              <a:rPr lang="he-IL" dirty="0"/>
              <a:t>פירוש על התשובה של החתם סופר יש כאן</a:t>
            </a:r>
            <a:br>
              <a:rPr lang="en-US"/>
            </a:br>
            <a:r>
              <a:rPr lang="en-US"/>
              <a:t>https://grok.com/share/bGVnYWN5_64236a69-d3c1-4732-b090-59086a13ce51  </a:t>
            </a:r>
            <a:br>
              <a:rPr lang="en-US" dirty="0"/>
            </a:br>
            <a:endParaRPr lang="he-IL" dirty="0"/>
          </a:p>
        </p:txBody>
      </p:sp>
    </p:spTree>
    <p:extLst>
      <p:ext uri="{BB962C8B-B14F-4D97-AF65-F5344CB8AC3E}">
        <p14:creationId xmlns:p14="http://schemas.microsoft.com/office/powerpoint/2010/main" val="36314684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3"/>
</p:tagLst>
</file>

<file path=ppt/tags/tag2.xml><?xml version="1.0" encoding="utf-8"?>
<p:tagLst xmlns:a="http://schemas.openxmlformats.org/drawingml/2006/main" xmlns:r="http://schemas.openxmlformats.org/officeDocument/2006/relationships" xmlns:p="http://schemas.openxmlformats.org/presentationml/2006/main">
  <p:tag name="TIMING" val="|31.7"/>
</p:tagLst>
</file>

<file path=ppt/tags/tag3.xml><?xml version="1.0" encoding="utf-8"?>
<p:tagLst xmlns:a="http://schemas.openxmlformats.org/drawingml/2006/main" xmlns:r="http://schemas.openxmlformats.org/officeDocument/2006/relationships" xmlns:p="http://schemas.openxmlformats.org/presentationml/2006/main">
  <p:tag name="TIMING" val="|16.1"/>
</p:tagLst>
</file>

<file path=ppt/tags/tag4.xml><?xml version="1.0" encoding="utf-8"?>
<p:tagLst xmlns:a="http://schemas.openxmlformats.org/drawingml/2006/main" xmlns:r="http://schemas.openxmlformats.org/officeDocument/2006/relationships" xmlns:p="http://schemas.openxmlformats.org/presentationml/2006/main">
  <p:tag name="TIMING" val="|17.1"/>
</p:tagLst>
</file>

<file path=ppt/tags/tag5.xml><?xml version="1.0" encoding="utf-8"?>
<p:tagLst xmlns:a="http://schemas.openxmlformats.org/drawingml/2006/main" xmlns:r="http://schemas.openxmlformats.org/officeDocument/2006/relationships" xmlns:p="http://schemas.openxmlformats.org/presentationml/2006/main">
  <p:tag name="TIMING" val="|38.3"/>
</p:tagLst>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2401</Words>
  <Application>Microsoft Office PowerPoint</Application>
  <PresentationFormat>מסך רחב</PresentationFormat>
  <Paragraphs>184</Paragraphs>
  <Slides>33</Slides>
  <Notes>0</Notes>
  <HiddenSlides>0</HiddenSlides>
  <MMClips>3</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33</vt:i4>
      </vt:variant>
    </vt:vector>
  </HeadingPairs>
  <TitlesOfParts>
    <vt:vector size="41" baseType="lpstr">
      <vt:lpstr>AklimatMF Medium</vt:lpstr>
      <vt:lpstr>Aptos</vt:lpstr>
      <vt:lpstr>Aptos Display</vt:lpstr>
      <vt:lpstr>Arial</vt:lpstr>
      <vt:lpstr>Fb Toiren</vt:lpstr>
      <vt:lpstr>Secular One</vt:lpstr>
      <vt:lpstr>Times New Roman</vt:lpstr>
      <vt:lpstr>1_ערכת נושא Office</vt:lpstr>
      <vt:lpstr>כיצד ניתן להקריב היום קרבן פסח?   סקירה מקיפה של בעיות, פתרונות ורעיונות </vt:lpstr>
      <vt:lpstr>למה נקרא שמו פסח?</vt:lpstr>
      <vt:lpstr>יחודו של הקרבן</vt:lpstr>
      <vt:lpstr>התנאים לקרבן</vt:lpstr>
      <vt:lpstr>התנאים לקרבן</vt:lpstr>
      <vt:lpstr>הפסקת הקרבן</vt:lpstr>
      <vt:lpstr>הרב קלישר</vt:lpstr>
      <vt:lpstr>מצגת של PowerPoint‏</vt:lpstr>
      <vt:lpstr>רמבם -  קרבן פסח</vt:lpstr>
      <vt:lpstr>מצגת של PowerPoint‏</vt:lpstr>
      <vt:lpstr>ארבעה מי יודע?</vt:lpstr>
      <vt:lpstr>ארבעה מי יודע?</vt:lpstr>
      <vt:lpstr>                                                   והיא שעמדה</vt:lpstr>
      <vt:lpstr>מצגת של PowerPoint‏</vt:lpstr>
      <vt:lpstr>ההיבט ההלכתי – סיכום עיקרי הנידונים: </vt:lpstr>
      <vt:lpstr>מצגת של PowerPoint‏</vt:lpstr>
      <vt:lpstr>מצגת של PowerPoint‏</vt:lpstr>
      <vt:lpstr>מצגת של PowerPoint‏</vt:lpstr>
      <vt:lpstr>חידה</vt:lpstr>
      <vt:lpstr>חידה</vt:lpstr>
      <vt:lpstr>חידה</vt:lpstr>
      <vt:lpstr>חידה</vt:lpstr>
      <vt:lpstr>חידה</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זכו – יבנו מעצמם</vt:lpstr>
      <vt:lpstr>תוספות עם קישורים</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2</cp:revision>
  <dcterms:created xsi:type="dcterms:W3CDTF">2025-03-19T15:02:57Z</dcterms:created>
  <dcterms:modified xsi:type="dcterms:W3CDTF">2026-10-15T18:05:26Z</dcterms:modified>
</cp:coreProperties>
</file>