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77" r:id="rId4"/>
    <p:sldId id="258" r:id="rId5"/>
    <p:sldId id="259" r:id="rId6"/>
    <p:sldId id="278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4D953D-737C-ECC8-3612-24158C590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F214363-3D0D-665B-37A3-82DEFA11A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2F33C1A-98C7-879B-E8B6-95CE8590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649C9E4-C097-E8F3-AB7E-9C1B1DF48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5A31818-A4EB-A49C-8952-423D8778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54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864E26-5AA4-2794-258F-21C96DFA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E52354F-401E-6265-D00E-920CAE4E8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CD74F88-B3CB-DE6F-9561-E65D2FCE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DCEE48B-15FB-C995-4922-5CA5FD22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8381D40-91BE-D90E-B507-AF9096C2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710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98B520-5E96-9AAB-B5D7-6BAE4FA4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5888C96-483C-FF42-379E-4E070DC6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2FCE793-451E-8B89-B59C-DF570E69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28440DE-3477-F8C4-53AF-7DDE301D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ADCC4A0-5818-9F65-6CAD-AB13830F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919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176510-87F7-266D-3440-ED8AD895F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B26706-E2BB-E983-ADCA-6C50B98A8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AE59109-1913-CB0C-EB0E-B31EB2108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F985912-87B1-ED45-BEE0-0F7FB73B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2AF42B2-63E6-FA98-3C3D-1A39EB3E3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9DF6C5F-A1FC-332D-7588-9D5928FE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085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8BB05D-E41C-CF36-10E2-EE7E5342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B868D02-01A8-08EE-C183-01E54B0D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7E6FC3E-9F43-68D7-C38D-174458E3B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4B3AD8ED-FDBA-F79F-0BA4-2F6877C22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80D69B8-31C1-8AA2-2386-1C7685A36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C90F82C-86C7-9A21-322B-ADE26A2F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DF86C31-2FD8-6B8F-7683-42F72100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F6DC714-E027-9BCB-FBBC-0098F6A5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693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22FCCE-1008-8E7E-EDB0-A33104ED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75A1995-2919-7A55-E6F7-0E904061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D707E37-4B93-8D19-2A11-F23033D6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1229B1D-8AB2-AB67-DFAE-C0522412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263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0B69A2D-1F94-1C4D-1F31-B72985E4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2312357-34B1-8976-5BF8-69EDA7E4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495D56F-2288-BF43-3403-BDE0E7B4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801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54CA13-3327-FC6A-60AA-15A7321AD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792888B-E26B-5005-5BB6-B0C14580E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52EA29F-5EBF-428B-0A37-42978E4CF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04570D9-A063-A871-5C6D-B709E00C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A94BE8F-FB39-8CEA-8A60-5F7E4F4C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66D5DB0-D7DC-E497-5CB2-A433862C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8620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C5B0EC-AD3C-2F76-2C27-153AD8A03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B5AC751-DA28-7D68-C0AF-481E1ED6B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47B4374-A556-6CBD-E306-4CD1B1C3B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283B38D-D445-B490-33F1-0949062AD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3A864E2-AA83-6786-0F3E-00BE262E3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A755FE1-41E5-F810-5B38-E3639258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621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0C080B-4630-126E-D5F4-FFB4C324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6061801-09E6-080E-4883-E570151F3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97E123-E22E-31ED-8D72-99FF40C5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6BF519C-E90E-F728-694F-35B7A8ED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30D8B70-7B9E-EB7D-5980-19F0ABAF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324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4056306-1D26-9278-27A4-8E74123D13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B998CA4-6082-1F17-4EE0-D01D1A6CF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50D6E38-79DF-A0CD-949D-B775A1F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BAAA90A-882D-0F6B-1314-993831A7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0C710B-F7CA-2766-86CE-4641C8BB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9989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57CDFF-890F-DE98-EC6A-C46956A8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8650F6E-E4BA-2BCF-CD17-AB92BA630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9AEE901-369D-BAED-90B2-7C4DCF490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5522343-3C06-3C33-8ACD-E9EE8F6F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9A29D2E-5BE1-15EE-99DF-5145E15B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78153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כותרת וטבל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0363B3-94EC-5BD4-BABD-6DA95026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בלה 2">
            <a:extLst>
              <a:ext uri="{FF2B5EF4-FFF2-40B4-BE49-F238E27FC236}">
                <a16:creationId xmlns:a16="http://schemas.microsoft.com/office/drawing/2014/main" id="{F7032EDE-BA9F-A570-E826-520B9B68F7FA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A333323-6C6E-3E65-DE4B-F50EC11C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7642ADD-84A9-DE23-8CC9-286D76CB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8166B4-A1A4-854D-10C0-5A89C073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759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C3B8D33-AAD6-4E0C-A311-B73D917A6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6D53E51-D907-5D55-E488-9F6C48EDE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F69D35E-38DB-A082-08DB-EDE397952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5FF81-A0E9-488F-9E4E-713FFB983A22}" type="datetimeFigureOut">
              <a:rPr lang="he-IL" smtClean="0"/>
              <a:t>ד'/חשון/תשפ"ז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CF372BA-8207-BDCF-7137-CFF979DCF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3F1633B-522B-E585-441F-16676670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AB3D6-1969-4917-9D0F-A4DDEDE8F9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463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EC73B29-DDF3-1DA1-83E9-6B2D762EC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e-IL" sz="4400">
                <a:latin typeface="David" panose="020E0502060401010101" pitchFamily="34" charset="-79"/>
              </a:rPr>
              <a:t>דברי הרא"ש בסוגיית דברים שבלב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14CBDAB-055F-89BD-1736-F1B53FB249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latin typeface="David" panose="020E0502060401010101" pitchFamily="34" charset="-79"/>
              </a:rPr>
              <a:t>הבחנה יסודית בדין דברים שבלב</a:t>
            </a:r>
          </a:p>
        </p:txBody>
      </p:sp>
    </p:spTree>
    <p:extLst>
      <p:ext uri="{BB962C8B-B14F-4D97-AF65-F5344CB8AC3E}">
        <p14:creationId xmlns:p14="http://schemas.microsoft.com/office/powerpoint/2010/main" val="400009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67338A-EC86-FFC2-30C5-635C38E6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רקע - שאלת הגמרא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A90B74A-4851-2413-2ED2-83FAE43FB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>
                <a:latin typeface="David" panose="020E0502060401010101" pitchFamily="34" charset="-79"/>
              </a:rPr>
              <a:t>• הגמרא מביאה ראיה מדין קרבן</a:t>
            </a:r>
          </a:p>
          <a:p>
            <a:r>
              <a:rPr lang="he-IL" dirty="0">
                <a:latin typeface="David" panose="020E0502060401010101" pitchFamily="34" charset="-79"/>
              </a:rPr>
              <a:t>• הגמרא דוחה: שם יש "אנן סהדי" שרוצה כפרה</a:t>
            </a:r>
          </a:p>
          <a:p>
            <a:r>
              <a:rPr lang="he-IL" dirty="0">
                <a:latin typeface="David" panose="020E0502060401010101" pitchFamily="34" charset="-79"/>
              </a:rPr>
              <a:t>אבל ללא זה היה ראיה שדברים שבלב אינם דברים. </a:t>
            </a:r>
          </a:p>
          <a:p>
            <a:r>
              <a:rPr lang="he-IL" dirty="0">
                <a:latin typeface="David" panose="020E0502060401010101" pitchFamily="34" charset="-79"/>
              </a:rPr>
              <a:t>• מתעוררת שאלה על היחס בין דיבור </a:t>
            </a:r>
            <a:r>
              <a:rPr lang="he-IL" dirty="0" err="1">
                <a:latin typeface="David" panose="020E0502060401010101" pitchFamily="34" charset="-79"/>
              </a:rPr>
              <a:t>לאומדן</a:t>
            </a:r>
            <a:r>
              <a:rPr lang="he-IL" dirty="0">
                <a:latin typeface="David" panose="020E0502060401010101" pitchFamily="34" charset="-79"/>
              </a:rPr>
              <a:t> דעת</a:t>
            </a:r>
          </a:p>
        </p:txBody>
      </p:sp>
    </p:spTree>
    <p:extLst>
      <p:ext uri="{BB962C8B-B14F-4D97-AF65-F5344CB8AC3E}">
        <p14:creationId xmlns:p14="http://schemas.microsoft.com/office/powerpoint/2010/main" val="3599459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2375E0-AAAB-A9B1-5522-20DD5364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דברים שבלב כל אדם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247BD82-3D1F-C270-D7AB-F6F595FD5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1800" dirty="0"/>
              <a:t>תלמוד בבלי מסכת בבא </a:t>
            </a:r>
            <a:r>
              <a:rPr lang="he-IL" sz="1800" dirty="0" err="1"/>
              <a:t>בתרא</a:t>
            </a:r>
            <a:r>
              <a:rPr lang="he-IL" sz="1800" dirty="0"/>
              <a:t> דף </a:t>
            </a:r>
            <a:r>
              <a:rPr lang="he-IL" sz="1800" dirty="0" err="1"/>
              <a:t>קלב</a:t>
            </a:r>
            <a:r>
              <a:rPr lang="he-IL" sz="1800" dirty="0"/>
              <a:t> עמוד א</a:t>
            </a:r>
          </a:p>
          <a:p>
            <a:r>
              <a:rPr lang="he-IL" dirty="0"/>
              <a:t>תניא: הרי שהלך בנו למדינת הים, ושמע שמת בנו ועמד וכתב כל נכסיו לאחרים, </a:t>
            </a:r>
          </a:p>
          <a:p>
            <a:r>
              <a:rPr lang="he-IL" dirty="0"/>
              <a:t>ואחר כך בא בנו - מתנתו מתנה;</a:t>
            </a:r>
          </a:p>
          <a:p>
            <a:r>
              <a:rPr lang="he-IL" dirty="0"/>
              <a:t>ר' שמעון בן </a:t>
            </a:r>
            <a:r>
              <a:rPr lang="he-IL" dirty="0" err="1"/>
              <a:t>מנסיא</a:t>
            </a:r>
            <a:r>
              <a:rPr lang="he-IL" dirty="0"/>
              <a:t> אומר: אין מתנתו מתנה, שאילו היה יודע שבנו קיים לא כתבן; </a:t>
            </a:r>
          </a:p>
          <a:p>
            <a:r>
              <a:rPr lang="he-IL" dirty="0"/>
              <a:t>ואמר רב נחמן: הלכה כרבי שמעון בן </a:t>
            </a:r>
            <a:r>
              <a:rPr lang="he-IL" dirty="0" err="1"/>
              <a:t>מנסיא</a:t>
            </a:r>
            <a:r>
              <a:rPr lang="he-IL" dirty="0"/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838633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857989-1A53-A29E-0936-25A1BE0D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השאלה המתבקשת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D1BAE90-AE18-56DE-70DE-1DBF1E9B0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David" panose="020E0502060401010101" pitchFamily="34" charset="-79"/>
              </a:rPr>
              <a:t>הקושי:</a:t>
            </a:r>
          </a:p>
          <a:p>
            <a:r>
              <a:rPr lang="he-IL">
                <a:latin typeface="David" panose="020E0502060401010101" pitchFamily="34" charset="-79"/>
              </a:rPr>
              <a:t>• בדרך כלל הולכים אחר אומדן דעת</a:t>
            </a:r>
          </a:p>
          <a:p>
            <a:r>
              <a:rPr lang="he-IL">
                <a:latin typeface="David" panose="020E0502060401010101" pitchFamily="34" charset="-79"/>
              </a:rPr>
              <a:t>• למה כאן לא הולכים אחר האומדן?</a:t>
            </a:r>
          </a:p>
          <a:p>
            <a:r>
              <a:rPr lang="he-IL">
                <a:latin typeface="David" panose="020E0502060401010101" pitchFamily="34" charset="-79"/>
              </a:rPr>
              <a:t>• מה ההבדל בין המקרים?</a:t>
            </a:r>
          </a:p>
          <a:p>
            <a:endParaRPr lang="he-IL">
              <a:latin typeface="David" panose="020E0502060401010101" pitchFamily="34" charset="-79"/>
            </a:endParaRPr>
          </a:p>
          <a:p>
            <a:r>
              <a:rPr lang="he-IL">
                <a:latin typeface="David" panose="020E0502060401010101" pitchFamily="34" charset="-79"/>
              </a:rPr>
              <a:t>נקודה למחשבה:</a:t>
            </a:r>
          </a:p>
          <a:p>
            <a:r>
              <a:rPr lang="he-IL">
                <a:latin typeface="David" panose="020E0502060401010101" pitchFamily="34" charset="-79"/>
              </a:rPr>
              <a:t>איך מיישבים את הסתירה?</a:t>
            </a:r>
          </a:p>
        </p:txBody>
      </p:sp>
    </p:spTree>
    <p:extLst>
      <p:ext uri="{BB962C8B-B14F-4D97-AF65-F5344CB8AC3E}">
        <p14:creationId xmlns:p14="http://schemas.microsoft.com/office/powerpoint/2010/main" val="371262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F0A19D-5A4F-6EE6-0D8C-CA7CC270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חידוש הרא"ש: הבחנה יסודית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70DDECB-3970-6EAE-9D82-DAE2294ABD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David" panose="020E0502060401010101" pitchFamily="34" charset="-79"/>
              </a:rPr>
              <a:t>שני מקרים שונים:</a:t>
            </a:r>
          </a:p>
          <a:p>
            <a:r>
              <a:rPr lang="he-IL">
                <a:latin typeface="David" panose="020E0502060401010101" pitchFamily="34" charset="-79"/>
              </a:rPr>
              <a:t>1. כשהאדם שותק:</a:t>
            </a:r>
          </a:p>
          <a:p>
            <a:r>
              <a:rPr lang="he-IL">
                <a:latin typeface="David" panose="020E0502060401010101" pitchFamily="34" charset="-79"/>
              </a:rPr>
              <a:t>   • הולכים אחר אומדן דעת</a:t>
            </a:r>
          </a:p>
          <a:p>
            <a:r>
              <a:rPr lang="he-IL">
                <a:latin typeface="David" panose="020E0502060401010101" pitchFamily="34" charset="-79"/>
              </a:rPr>
              <a:t>2. כשהאדם מדבר:</a:t>
            </a:r>
          </a:p>
          <a:p>
            <a:r>
              <a:rPr lang="he-IL">
                <a:latin typeface="David" panose="020E0502060401010101" pitchFamily="34" charset="-79"/>
              </a:rPr>
              <a:t>   • הדיבור גובר על האומדן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3C72EC3-DE3C-A37D-03C7-CE4DF1100C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552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7BEDD1-2C28-520E-F61B-FDD2AD8D3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שמכחיש בפיו מה </a:t>
            </a:r>
            <a:r>
              <a:rPr lang="he-IL" dirty="0" err="1"/>
              <a:t>שבלבו</a:t>
            </a:r>
            <a:r>
              <a:rPr lang="he-IL" dirty="0"/>
              <a:t> 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7465EB-EF92-54D8-3091-F8EF73588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אף על גב </a:t>
            </a:r>
            <a:r>
              <a:rPr lang="he-IL" dirty="0" err="1"/>
              <a:t>דבעלמא</a:t>
            </a:r>
            <a:r>
              <a:rPr lang="he-IL" dirty="0"/>
              <a:t> </a:t>
            </a:r>
            <a:r>
              <a:rPr lang="he-IL" dirty="0" err="1"/>
              <a:t>היכא</a:t>
            </a:r>
            <a:r>
              <a:rPr lang="he-IL" dirty="0"/>
              <a:t> </a:t>
            </a:r>
            <a:r>
              <a:rPr lang="he-IL" dirty="0" err="1"/>
              <a:t>דאנן</a:t>
            </a:r>
            <a:r>
              <a:rPr lang="he-IL" dirty="0"/>
              <a:t> סהדי </a:t>
            </a:r>
            <a:r>
              <a:rPr lang="he-IL" dirty="0" err="1"/>
              <a:t>אזלינן</a:t>
            </a:r>
            <a:r>
              <a:rPr lang="he-IL" dirty="0"/>
              <a:t> בתר אומדן </a:t>
            </a:r>
            <a:r>
              <a:rPr lang="he-IL" dirty="0" err="1"/>
              <a:t>דעתיה</a:t>
            </a:r>
            <a:r>
              <a:rPr lang="he-IL" dirty="0"/>
              <a:t>,</a:t>
            </a:r>
          </a:p>
          <a:p>
            <a:r>
              <a:rPr lang="he-IL" dirty="0"/>
              <a:t>היינו משום דהוי כאילו התנה בפירוש שע"מ כן הוא עושה,</a:t>
            </a:r>
          </a:p>
          <a:p>
            <a:r>
              <a:rPr lang="he-IL" dirty="0"/>
              <a:t>אבל הכא שמכחיש בפיו מה </a:t>
            </a:r>
            <a:r>
              <a:rPr lang="he-IL" dirty="0" err="1"/>
              <a:t>שבלבו</a:t>
            </a:r>
            <a:r>
              <a:rPr lang="he-IL" dirty="0"/>
              <a:t> </a:t>
            </a:r>
          </a:p>
          <a:p>
            <a:r>
              <a:rPr lang="he-IL" dirty="0" err="1"/>
              <a:t>דבפיו</a:t>
            </a:r>
            <a:r>
              <a:rPr lang="he-IL" dirty="0"/>
              <a:t> אומר רוצה אני, </a:t>
            </a:r>
          </a:p>
          <a:p>
            <a:r>
              <a:rPr lang="he-IL" dirty="0"/>
              <a:t>ואף על גב </a:t>
            </a:r>
            <a:r>
              <a:rPr lang="he-IL" dirty="0" err="1"/>
              <a:t>דאנן</a:t>
            </a:r>
            <a:r>
              <a:rPr lang="he-IL" dirty="0"/>
              <a:t> סהדי דאינו רוצה </a:t>
            </a:r>
            <a:r>
              <a:rPr lang="he-IL" dirty="0" err="1"/>
              <a:t>אזלינן</a:t>
            </a:r>
            <a:r>
              <a:rPr lang="he-IL" dirty="0"/>
              <a:t> בתר פיו </a:t>
            </a:r>
          </a:p>
          <a:p>
            <a:r>
              <a:rPr lang="he-IL" dirty="0"/>
              <a:t>כיון </a:t>
            </a:r>
            <a:r>
              <a:rPr lang="he-IL" dirty="0" err="1"/>
              <a:t>דבעלמא</a:t>
            </a:r>
            <a:r>
              <a:rPr lang="he-IL" dirty="0"/>
              <a:t> דברים שבלב אינן דברים.</a:t>
            </a:r>
          </a:p>
        </p:txBody>
      </p:sp>
    </p:spTree>
    <p:extLst>
      <p:ext uri="{BB962C8B-B14F-4D97-AF65-F5344CB8AC3E}">
        <p14:creationId xmlns:p14="http://schemas.microsoft.com/office/powerpoint/2010/main" val="3865070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DB57D1-9869-5389-F5F5-9640F36C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הסבר מפורט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13A5E77-DCB5-C029-968C-4C8D6D14A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David" panose="020E0502060401010101" pitchFamily="34" charset="-79"/>
              </a:rPr>
              <a:t>במקרה של שתיקה:</a:t>
            </a:r>
          </a:p>
          <a:p>
            <a:r>
              <a:rPr lang="he-IL">
                <a:latin typeface="David" panose="020E0502060401010101" pitchFamily="34" charset="-79"/>
              </a:rPr>
              <a:t>• אומדן דעת יכול לפעול</a:t>
            </a:r>
          </a:p>
          <a:p>
            <a:r>
              <a:rPr lang="he-IL">
                <a:latin typeface="David" panose="020E0502060401010101" pitchFamily="34" charset="-79"/>
              </a:rPr>
              <a:t>• כאילו התנה בפירוש</a:t>
            </a:r>
          </a:p>
          <a:p>
            <a:endParaRPr lang="he-IL">
              <a:latin typeface="David" panose="020E0502060401010101" pitchFamily="34" charset="-79"/>
            </a:endParaRPr>
          </a:p>
          <a:p>
            <a:r>
              <a:rPr lang="he-IL">
                <a:latin typeface="David" panose="020E0502060401010101" pitchFamily="34" charset="-79"/>
              </a:rPr>
              <a:t>במקרה של דיבור:</a:t>
            </a:r>
          </a:p>
          <a:p>
            <a:r>
              <a:rPr lang="he-IL">
                <a:latin typeface="David" panose="020E0502060401010101" pitchFamily="34" charset="-79"/>
              </a:rPr>
              <a:t>• הדיבור גובר על המחשבה</a:t>
            </a:r>
          </a:p>
          <a:p>
            <a:r>
              <a:rPr lang="he-IL">
                <a:latin typeface="David" panose="020E0502060401010101" pitchFamily="34" charset="-79"/>
              </a:rPr>
              <a:t>• "דברים שבלב אינם דברים"</a:t>
            </a:r>
          </a:p>
        </p:txBody>
      </p:sp>
    </p:spTree>
    <p:extLst>
      <p:ext uri="{BB962C8B-B14F-4D97-AF65-F5344CB8AC3E}">
        <p14:creationId xmlns:p14="http://schemas.microsoft.com/office/powerpoint/2010/main" val="151184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70E55F-7025-C2A4-92C3-0025B8E9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דוגמאות מעשיות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D426AA2-CEBE-8ACC-ADDD-A6AFE1657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David" panose="020E0502060401010101" pitchFamily="34" charset="-79"/>
              </a:rPr>
              <a:t>1. בקרבן:</a:t>
            </a:r>
          </a:p>
          <a:p>
            <a:r>
              <a:rPr lang="he-IL">
                <a:latin typeface="David" panose="020E0502060401010101" pitchFamily="34" charset="-79"/>
              </a:rPr>
              <a:t>   • אומר "רוצה אני" אך ליבו אנוס</a:t>
            </a:r>
          </a:p>
          <a:p>
            <a:r>
              <a:rPr lang="he-IL">
                <a:latin typeface="David" panose="020E0502060401010101" pitchFamily="34" charset="-79"/>
              </a:rPr>
              <a:t>2. במכר:</a:t>
            </a:r>
          </a:p>
          <a:p>
            <a:r>
              <a:rPr lang="he-IL">
                <a:latin typeface="David" panose="020E0502060401010101" pitchFamily="34" charset="-79"/>
              </a:rPr>
              <a:t>   • מוכר בפירוש אך ליבו אנוס</a:t>
            </a:r>
          </a:p>
          <a:p>
            <a:r>
              <a:rPr lang="he-IL">
                <a:latin typeface="David" panose="020E0502060401010101" pitchFamily="34" charset="-79"/>
              </a:rPr>
              <a:t>3. במתנה:</a:t>
            </a:r>
          </a:p>
          <a:p>
            <a:r>
              <a:rPr lang="he-IL">
                <a:latin typeface="David" panose="020E0502060401010101" pitchFamily="34" charset="-79"/>
              </a:rPr>
              <a:t>   • נותן בשתיקה ויש אומדן דעת</a:t>
            </a:r>
          </a:p>
        </p:txBody>
      </p:sp>
    </p:spTree>
    <p:extLst>
      <p:ext uri="{BB962C8B-B14F-4D97-AF65-F5344CB8AC3E}">
        <p14:creationId xmlns:p14="http://schemas.microsoft.com/office/powerpoint/2010/main" val="359400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DAD9EA-97F0-A72C-65F2-5B59ED10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נפקא מינה להלכה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F277B67-B897-7B7B-FCC6-8ECFE15AD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David" panose="020E0502060401010101" pitchFamily="34" charset="-79"/>
              </a:rPr>
              <a:t>1. שתיקה + אומדן ברור = תקף</a:t>
            </a:r>
          </a:p>
          <a:p>
            <a:r>
              <a:rPr lang="he-IL">
                <a:latin typeface="David" panose="020E0502060401010101" pitchFamily="34" charset="-79"/>
              </a:rPr>
              <a:t>2. דיבור + מחשבה הפוכה = הדיבור קובע</a:t>
            </a:r>
          </a:p>
          <a:p>
            <a:r>
              <a:rPr lang="he-IL">
                <a:latin typeface="David" panose="020E0502060401010101" pitchFamily="34" charset="-79"/>
              </a:rPr>
              <a:t>3. חשיבות הביטוי המפורש בעסקאות</a:t>
            </a:r>
          </a:p>
          <a:p>
            <a:r>
              <a:rPr lang="he-IL">
                <a:latin typeface="David" panose="020E0502060401010101" pitchFamily="34" charset="-79"/>
              </a:rPr>
              <a:t>4. מתי אפשר להסתמך על אומדן דעת</a:t>
            </a:r>
          </a:p>
        </p:txBody>
      </p:sp>
    </p:spTree>
    <p:extLst>
      <p:ext uri="{BB962C8B-B14F-4D97-AF65-F5344CB8AC3E}">
        <p14:creationId xmlns:p14="http://schemas.microsoft.com/office/powerpoint/2010/main" val="2325891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1C2E32-F828-9065-B619-C0F6D7DC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>
                <a:latin typeface="David" panose="020E0502060401010101" pitchFamily="34" charset="-79"/>
              </a:rPr>
              <a:t>סיכום העקרונות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D0C7CE5-D781-BA81-9318-A69572000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sz="3200">
                <a:latin typeface="David" panose="020E0502060401010101" pitchFamily="34" charset="-79"/>
              </a:rPr>
              <a:t>• דיבור מפורש גובר על אומדן דעת</a:t>
            </a:r>
          </a:p>
          <a:p>
            <a:r>
              <a:rPr lang="he-IL" sz="3200">
                <a:latin typeface="David" panose="020E0502060401010101" pitchFamily="34" charset="-79"/>
              </a:rPr>
              <a:t>• שתיקה מאפשרת שימוש באומדן דעת</a:t>
            </a:r>
          </a:p>
          <a:p>
            <a:r>
              <a:rPr lang="he-IL" sz="3200">
                <a:latin typeface="David" panose="020E0502060401010101" pitchFamily="34" charset="-79"/>
              </a:rPr>
              <a:t>• חשיבות הביטוי המפורש בשעת מעשה</a:t>
            </a:r>
          </a:p>
          <a:p>
            <a:r>
              <a:rPr lang="he-IL" sz="3200">
                <a:latin typeface="David" panose="020E0502060401010101" pitchFamily="34" charset="-79"/>
              </a:rPr>
              <a:t>• איזון בין יציבות משפטית להגינות</a:t>
            </a:r>
          </a:p>
        </p:txBody>
      </p:sp>
    </p:spTree>
    <p:extLst>
      <p:ext uri="{BB962C8B-B14F-4D97-AF65-F5344CB8AC3E}">
        <p14:creationId xmlns:p14="http://schemas.microsoft.com/office/powerpoint/2010/main" val="285613116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367</Words>
  <Application>Microsoft Office PowerPoint</Application>
  <PresentationFormat>מסך רחב</PresentationFormat>
  <Paragraphs>59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David</vt:lpstr>
      <vt:lpstr>ערכת נושא Office</vt:lpstr>
      <vt:lpstr>דברי הרא"ש בסוגיית דברים שבלב</vt:lpstr>
      <vt:lpstr>רקע - שאלת הגמרא</vt:lpstr>
      <vt:lpstr>דברים שבלב כל אדם</vt:lpstr>
      <vt:lpstr>השאלה המתבקשת</vt:lpstr>
      <vt:lpstr>חידוש הרא"ש: הבחנה יסודית</vt:lpstr>
      <vt:lpstr>שמכחיש בפיו מה שבלבו </vt:lpstr>
      <vt:lpstr>הסבר מפורט</vt:lpstr>
      <vt:lpstr>דוגמאות מעשיות</vt:lpstr>
      <vt:lpstr>נפקא מינה להלכה</vt:lpstr>
      <vt:lpstr>סיכום העקרונות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יהודה טאוב</dc:creator>
  <cp:lastModifiedBy>יהודה טאוב</cp:lastModifiedBy>
  <cp:revision>2</cp:revision>
  <dcterms:created xsi:type="dcterms:W3CDTF">2025-01-15T02:02:04Z</dcterms:created>
  <dcterms:modified xsi:type="dcterms:W3CDTF">2026-10-15T18:05:30Z</dcterms:modified>
</cp:coreProperties>
</file>