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1"/>
  </p:notesMasterIdLst>
  <p:sldIdLst>
    <p:sldId id="256" r:id="rId2"/>
    <p:sldId id="257" r:id="rId3"/>
    <p:sldId id="258" r:id="rId4"/>
    <p:sldId id="264" r:id="rId5"/>
    <p:sldId id="259" r:id="rId6"/>
    <p:sldId id="260" r:id="rId7"/>
    <p:sldId id="261" r:id="rId8"/>
    <p:sldId id="262" r:id="rId9"/>
    <p:sldId id="263" r:id="rId1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066" autoAdjust="0"/>
    <p:restoredTop sz="89876" autoAdjust="0"/>
  </p:normalViewPr>
  <p:slideViewPr>
    <p:cSldViewPr snapToGrid="0">
      <p:cViewPr varScale="1">
        <p:scale>
          <a:sx n="78" d="100"/>
          <a:sy n="78" d="100"/>
        </p:scale>
        <p:origin x="1157"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יהודה טאוב" userId="80c2dbd02819b45c" providerId="LiveId" clId="{DA896E04-18BA-4C47-9985-042134DD8666}"/>
    <pc:docChg chg="undo custSel addSld delSld modSld">
      <pc:chgData name="יהודה טאוב" userId="80c2dbd02819b45c" providerId="LiveId" clId="{DA896E04-18BA-4C47-9985-042134DD8666}" dt="2025-01-22T01:01:00.866" v="103" actId="27636"/>
      <pc:docMkLst>
        <pc:docMk/>
      </pc:docMkLst>
      <pc:sldChg chg="addSp modSp mod modNotesTx">
        <pc:chgData name="יהודה טאוב" userId="80c2dbd02819b45c" providerId="LiveId" clId="{DA896E04-18BA-4C47-9985-042134DD8666}" dt="2025-01-21T14:40:29.502" v="61" actId="1076"/>
        <pc:sldMkLst>
          <pc:docMk/>
          <pc:sldMk cId="1944032403" sldId="256"/>
        </pc:sldMkLst>
        <pc:picChg chg="add mod">
          <ac:chgData name="יהודה טאוב" userId="80c2dbd02819b45c" providerId="LiveId" clId="{DA896E04-18BA-4C47-9985-042134DD8666}" dt="2025-01-21T14:40:29.502" v="61" actId="1076"/>
          <ac:picMkLst>
            <pc:docMk/>
            <pc:sldMk cId="1944032403" sldId="256"/>
            <ac:picMk id="4" creationId="{441F2E6C-49D1-D619-B727-FD8068DBFA6D}"/>
          </ac:picMkLst>
        </pc:picChg>
      </pc:sldChg>
      <pc:sldChg chg="addSp modSp mod modNotesTx">
        <pc:chgData name="יהודה טאוב" userId="80c2dbd02819b45c" providerId="LiveId" clId="{DA896E04-18BA-4C47-9985-042134DD8666}" dt="2025-01-21T14:41:30.458" v="63" actId="1076"/>
        <pc:sldMkLst>
          <pc:docMk/>
          <pc:sldMk cId="338102417" sldId="257"/>
        </pc:sldMkLst>
        <pc:picChg chg="add mod">
          <ac:chgData name="יהודה טאוב" userId="80c2dbd02819b45c" providerId="LiveId" clId="{DA896E04-18BA-4C47-9985-042134DD8666}" dt="2025-01-21T14:41:30.458" v="63" actId="1076"/>
          <ac:picMkLst>
            <pc:docMk/>
            <pc:sldMk cId="338102417" sldId="257"/>
            <ac:picMk id="4" creationId="{6794EE24-918F-8E90-6C33-3F5233AB2F6A}"/>
          </ac:picMkLst>
        </pc:picChg>
      </pc:sldChg>
      <pc:sldChg chg="addSp modSp mod modNotesTx">
        <pc:chgData name="יהודה טאוב" userId="80c2dbd02819b45c" providerId="LiveId" clId="{DA896E04-18BA-4C47-9985-042134DD8666}" dt="2025-01-21T14:42:09.229" v="65" actId="1076"/>
        <pc:sldMkLst>
          <pc:docMk/>
          <pc:sldMk cId="3934901973" sldId="258"/>
        </pc:sldMkLst>
        <pc:picChg chg="add mod">
          <ac:chgData name="יהודה טאוב" userId="80c2dbd02819b45c" providerId="LiveId" clId="{DA896E04-18BA-4C47-9985-042134DD8666}" dt="2025-01-21T14:42:09.229" v="65" actId="1076"/>
          <ac:picMkLst>
            <pc:docMk/>
            <pc:sldMk cId="3934901973" sldId="258"/>
            <ac:picMk id="4" creationId="{6CD14CB7-73C0-6544-DAE0-D4227C6567F1}"/>
          </ac:picMkLst>
        </pc:picChg>
      </pc:sldChg>
      <pc:sldChg chg="addSp modSp mod modNotesTx">
        <pc:chgData name="יהודה טאוב" userId="80c2dbd02819b45c" providerId="LiveId" clId="{DA896E04-18BA-4C47-9985-042134DD8666}" dt="2025-01-21T14:42:57.477" v="70"/>
        <pc:sldMkLst>
          <pc:docMk/>
          <pc:sldMk cId="1868082509" sldId="259"/>
        </pc:sldMkLst>
        <pc:picChg chg="add mod">
          <ac:chgData name="יהודה טאוב" userId="80c2dbd02819b45c" providerId="LiveId" clId="{DA896E04-18BA-4C47-9985-042134DD8666}" dt="2025-01-21T14:42:25.665" v="67" actId="1076"/>
          <ac:picMkLst>
            <pc:docMk/>
            <pc:sldMk cId="1868082509" sldId="259"/>
            <ac:picMk id="4" creationId="{C0C8DC29-6A05-35CA-0DA1-C79AC50CF148}"/>
          </ac:picMkLst>
        </pc:picChg>
      </pc:sldChg>
      <pc:sldChg chg="addSp modSp mod modNotesTx">
        <pc:chgData name="יהודה טאוב" userId="80c2dbd02819b45c" providerId="LiveId" clId="{DA896E04-18BA-4C47-9985-042134DD8666}" dt="2025-01-21T14:43:12.321" v="71"/>
        <pc:sldMkLst>
          <pc:docMk/>
          <pc:sldMk cId="1092635354" sldId="260"/>
        </pc:sldMkLst>
        <pc:picChg chg="add mod">
          <ac:chgData name="יהודה טאוב" userId="80c2dbd02819b45c" providerId="LiveId" clId="{DA896E04-18BA-4C47-9985-042134DD8666}" dt="2025-01-21T14:42:36.646" v="69" actId="1076"/>
          <ac:picMkLst>
            <pc:docMk/>
            <pc:sldMk cId="1092635354" sldId="260"/>
            <ac:picMk id="4" creationId="{1AE6C042-EE4C-C87C-A894-E8901ADB15C6}"/>
          </ac:picMkLst>
        </pc:picChg>
      </pc:sldChg>
      <pc:sldChg chg="modNotesTx">
        <pc:chgData name="יהודה טאוב" userId="80c2dbd02819b45c" providerId="LiveId" clId="{DA896E04-18BA-4C47-9985-042134DD8666}" dt="2025-01-21T14:43:34.512" v="72"/>
        <pc:sldMkLst>
          <pc:docMk/>
          <pc:sldMk cId="1768186676" sldId="261"/>
        </pc:sldMkLst>
      </pc:sldChg>
      <pc:sldChg chg="modNotesTx">
        <pc:chgData name="יהודה טאוב" userId="80c2dbd02819b45c" providerId="LiveId" clId="{DA896E04-18BA-4C47-9985-042134DD8666}" dt="2025-01-21T14:43:55.196" v="73"/>
        <pc:sldMkLst>
          <pc:docMk/>
          <pc:sldMk cId="1497798223" sldId="262"/>
        </pc:sldMkLst>
      </pc:sldChg>
      <pc:sldChg chg="modNotesTx">
        <pc:chgData name="יהודה טאוב" userId="80c2dbd02819b45c" providerId="LiveId" clId="{DA896E04-18BA-4C47-9985-042134DD8666}" dt="2025-01-21T14:44:12.991" v="74"/>
        <pc:sldMkLst>
          <pc:docMk/>
          <pc:sldMk cId="551719628" sldId="263"/>
        </pc:sldMkLst>
      </pc:sldChg>
      <pc:sldChg chg="delSp modSp add mod">
        <pc:chgData name="יהודה טאוב" userId="80c2dbd02819b45c" providerId="LiveId" clId="{DA896E04-18BA-4C47-9985-042134DD8666}" dt="2025-01-22T01:01:00.866" v="103" actId="27636"/>
        <pc:sldMkLst>
          <pc:docMk/>
          <pc:sldMk cId="2613970312" sldId="264"/>
        </pc:sldMkLst>
        <pc:spChg chg="mod">
          <ac:chgData name="יהודה טאוב" userId="80c2dbd02819b45c" providerId="LiveId" clId="{DA896E04-18BA-4C47-9985-042134DD8666}" dt="2025-01-22T00:58:25.221" v="92" actId="20577"/>
          <ac:spMkLst>
            <pc:docMk/>
            <pc:sldMk cId="2613970312" sldId="264"/>
            <ac:spMk id="2" creationId="{6FBC7BA0-E2E1-23E4-52A3-D818C7D4D357}"/>
          </ac:spMkLst>
        </pc:spChg>
        <pc:spChg chg="mod">
          <ac:chgData name="יהודה טאוב" userId="80c2dbd02819b45c" providerId="LiveId" clId="{DA896E04-18BA-4C47-9985-042134DD8666}" dt="2025-01-22T01:01:00.866" v="103" actId="27636"/>
          <ac:spMkLst>
            <pc:docMk/>
            <pc:sldMk cId="2613970312" sldId="264"/>
            <ac:spMk id="3" creationId="{BA71AE60-EAE2-4D14-3C18-A5F81BD5DA55}"/>
          </ac:spMkLst>
        </pc:spChg>
        <pc:picChg chg="del">
          <ac:chgData name="יהודה טאוב" userId="80c2dbd02819b45c" providerId="LiveId" clId="{DA896E04-18BA-4C47-9985-042134DD8666}" dt="2025-01-22T00:59:11.470" v="94" actId="478"/>
          <ac:picMkLst>
            <pc:docMk/>
            <pc:sldMk cId="2613970312" sldId="264"/>
            <ac:picMk id="4" creationId="{9502A566-DDB7-9621-80DA-588C409B9882}"/>
          </ac:picMkLst>
        </pc:picChg>
      </pc:sldChg>
      <pc:sldChg chg="new del">
        <pc:chgData name="יהודה טאוב" userId="80c2dbd02819b45c" providerId="LiveId" clId="{DA896E04-18BA-4C47-9985-042134DD8666}" dt="2025-01-22T00:58:15.367" v="76" actId="680"/>
        <pc:sldMkLst>
          <pc:docMk/>
          <pc:sldMk cId="3846850811"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36F5D97-123C-4FCB-ACD4-8693D84E237C}" type="datetimeFigureOut">
              <a:rPr lang="he-IL" smtClean="0"/>
              <a:t>ד'/חשון/תשפ"ז</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BB2629D8-59F6-4323-8E5A-496FEAC794A3}" type="slidenum">
              <a:rPr lang="he-IL" smtClean="0"/>
              <a:t>‹#›</a:t>
            </a:fld>
            <a:endParaRPr lang="he-IL"/>
          </a:p>
        </p:txBody>
      </p:sp>
    </p:spTree>
    <p:extLst>
      <p:ext uri="{BB962C8B-B14F-4D97-AF65-F5344CB8AC3E}">
        <p14:creationId xmlns:p14="http://schemas.microsoft.com/office/powerpoint/2010/main" val="18563728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a:t>מדריך למרצה: בינה מלאכותית בעולם החרדי</a:t>
            </a:r>
          </a:p>
          <a:p>
            <a:r>
              <a:rPr lang="he-IL" b="1" dirty="0"/>
              <a:t>שקופית 1: פתיחה - "בינה מלאכותית בעולם החרדי"</a:t>
            </a:r>
          </a:p>
          <a:p>
            <a:pPr algn="r" rtl="1"/>
            <a:r>
              <a:rPr lang="he-IL" dirty="0">
                <a:effectLst/>
              </a:rPr>
              <a:t>פתח את ההרצאה בסיפור אישי או אנקדוטה מעניינת. למשל: "לפני מספר שבועות, ראיתי אברך יושב בבית המדרש ומשתמש בטלפון החכם כדי לחפש מקורות בש"ס. זה גרם לי לחשוב - האם זהו חילול הקודש או דווקא קידוש השם?" השתמש בסיפור זה כדי להדגים את המתח המובנה בין טכנולוגיה למסורת, ואת הצורך למצוא את האיזון הנכון.</a:t>
            </a:r>
          </a:p>
          <a:p>
            <a:r>
              <a:rPr lang="he-IL" b="1" dirty="0"/>
              <a:t>טיפים כלליים למרצה:</a:t>
            </a:r>
          </a:p>
          <a:p>
            <a:pPr rtl="1">
              <a:buFont typeface="+mj-lt"/>
              <a:buAutoNum type="arabicPeriod"/>
            </a:pPr>
            <a:r>
              <a:rPr lang="he-IL" b="1" dirty="0">
                <a:effectLst/>
              </a:rPr>
              <a:t>שילוב סיפורים</a:t>
            </a:r>
            <a:r>
              <a:rPr lang="he-IL" dirty="0">
                <a:effectLst/>
              </a:rPr>
              <a:t>: בכל נושא, נסה לשלב סיפור אישי או אנקדוטה מעניינת.</a:t>
            </a:r>
          </a:p>
          <a:p>
            <a:pPr rtl="1">
              <a:buFont typeface="+mj-lt"/>
              <a:buAutoNum type="arabicPeriod"/>
            </a:pPr>
            <a:r>
              <a:rPr lang="he-IL" b="1" dirty="0">
                <a:effectLst/>
              </a:rPr>
              <a:t>דיון פעיל</a:t>
            </a:r>
            <a:r>
              <a:rPr lang="he-IL" dirty="0">
                <a:effectLst/>
              </a:rPr>
              <a:t>: עודד שאלות ודיון. זה נושא שמעורר מחשבה והתלבטות.</a:t>
            </a:r>
          </a:p>
          <a:p>
            <a:pPr rtl="1">
              <a:buFont typeface="+mj-lt"/>
              <a:buAutoNum type="arabicPeriod"/>
            </a:pPr>
            <a:r>
              <a:rPr lang="he-IL" b="1" dirty="0">
                <a:effectLst/>
              </a:rPr>
              <a:t>רגישות</a:t>
            </a:r>
            <a:r>
              <a:rPr lang="he-IL" dirty="0">
                <a:effectLst/>
              </a:rPr>
              <a:t>: זכור שיש דעות שונות בציבור. התייחס בכבוד לכל הגישות.</a:t>
            </a:r>
          </a:p>
          <a:p>
            <a:pPr rtl="1">
              <a:buFont typeface="+mj-lt"/>
              <a:buAutoNum type="arabicPeriod"/>
            </a:pPr>
            <a:r>
              <a:rPr lang="he-IL" b="1" dirty="0">
                <a:effectLst/>
              </a:rPr>
              <a:t>הומור</a:t>
            </a:r>
            <a:r>
              <a:rPr lang="he-IL" dirty="0">
                <a:effectLst/>
              </a:rPr>
              <a:t>: שלב מעט הומור עדין כשמתאים, זה עוזר להעביר מסרים מורכבים.</a:t>
            </a:r>
          </a:p>
          <a:p>
            <a:pPr rtl="1">
              <a:buFont typeface="+mj-lt"/>
              <a:buAutoNum type="arabicPeriod"/>
            </a:pPr>
            <a:r>
              <a:rPr lang="he-IL" b="1" dirty="0">
                <a:effectLst/>
              </a:rPr>
              <a:t>מקורות</a:t>
            </a:r>
            <a:r>
              <a:rPr lang="he-IL" dirty="0">
                <a:effectLst/>
              </a:rPr>
              <a:t>: הבא מקורות מדברי חז"ל וגדולי הדורות שתומכים ברעיונות שלך.</a:t>
            </a:r>
          </a:p>
          <a:p>
            <a:r>
              <a:rPr lang="he-IL" b="1" dirty="0"/>
              <a:t>נקודות להדגשה בכל שקופית:</a:t>
            </a:r>
          </a:p>
          <a:p>
            <a:pPr rtl="1">
              <a:buFont typeface="+mj-lt"/>
              <a:buAutoNum type="arabicPeriod"/>
            </a:pPr>
            <a:r>
              <a:rPr lang="he-IL" b="1" dirty="0">
                <a:effectLst/>
              </a:rPr>
              <a:t>פתיחה</a:t>
            </a:r>
            <a:r>
              <a:rPr lang="he-IL" dirty="0">
                <a:effectLst/>
              </a:rPr>
              <a:t>: יצירת עניין וחיבור אישי</a:t>
            </a:r>
          </a:p>
          <a:p>
            <a:pPr rtl="1">
              <a:buFont typeface="+mj-lt"/>
              <a:buAutoNum type="arabicPeriod"/>
            </a:pPr>
            <a:r>
              <a:rPr lang="he-IL" b="1" dirty="0">
                <a:effectLst/>
              </a:rPr>
              <a:t>סוגיות</a:t>
            </a:r>
            <a:r>
              <a:rPr lang="he-IL" dirty="0">
                <a:effectLst/>
              </a:rPr>
              <a:t>: בניית המסגרת ההלכתית</a:t>
            </a:r>
          </a:p>
          <a:p>
            <a:pPr rtl="1">
              <a:buFont typeface="+mj-lt"/>
              <a:buAutoNum type="arabicPeriod"/>
            </a:pPr>
            <a:r>
              <a:rPr lang="he-IL" b="1" dirty="0">
                <a:effectLst/>
              </a:rPr>
              <a:t>עקרונות</a:t>
            </a:r>
            <a:r>
              <a:rPr lang="he-IL" dirty="0">
                <a:effectLst/>
              </a:rPr>
              <a:t>: הצגת הבסיס התורני</a:t>
            </a:r>
          </a:p>
          <a:p>
            <a:pPr rtl="1">
              <a:buFont typeface="+mj-lt"/>
              <a:buAutoNum type="arabicPeriod"/>
            </a:pPr>
            <a:r>
              <a:rPr lang="he-IL" b="1" dirty="0">
                <a:effectLst/>
              </a:rPr>
              <a:t>מערכות</a:t>
            </a:r>
            <a:r>
              <a:rPr lang="he-IL" dirty="0">
                <a:effectLst/>
              </a:rPr>
              <a:t>: חיבור לעולם המעשה</a:t>
            </a:r>
          </a:p>
          <a:p>
            <a:pPr rtl="1">
              <a:buFont typeface="+mj-lt"/>
              <a:buAutoNum type="arabicPeriod"/>
            </a:pPr>
            <a:r>
              <a:rPr lang="he-IL" b="1" dirty="0">
                <a:effectLst/>
              </a:rPr>
              <a:t>פתרונות</a:t>
            </a:r>
            <a:r>
              <a:rPr lang="he-IL" dirty="0">
                <a:effectLst/>
              </a:rPr>
              <a:t>: הצגת דרכי ההתמודדות</a:t>
            </a:r>
          </a:p>
          <a:p>
            <a:pPr rtl="1">
              <a:buFont typeface="+mj-lt"/>
              <a:buAutoNum type="arabicPeriod"/>
            </a:pPr>
            <a:r>
              <a:rPr lang="he-IL" b="1" dirty="0">
                <a:effectLst/>
              </a:rPr>
              <a:t>שימושים</a:t>
            </a:r>
            <a:r>
              <a:rPr lang="he-IL" dirty="0">
                <a:effectLst/>
              </a:rPr>
              <a:t>: הדגמת היתרונות</a:t>
            </a:r>
          </a:p>
          <a:p>
            <a:pPr rtl="1">
              <a:buFont typeface="+mj-lt"/>
              <a:buAutoNum type="arabicPeriod"/>
            </a:pPr>
            <a:r>
              <a:rPr lang="he-IL" b="1" dirty="0">
                <a:effectLst/>
              </a:rPr>
              <a:t>המלצות</a:t>
            </a:r>
            <a:r>
              <a:rPr lang="he-IL" dirty="0">
                <a:effectLst/>
              </a:rPr>
              <a:t>: מתן כלים מעשיים</a:t>
            </a:r>
          </a:p>
          <a:p>
            <a:pPr rtl="1">
              <a:buFont typeface="+mj-lt"/>
              <a:buAutoNum type="arabicPeriod"/>
            </a:pPr>
            <a:r>
              <a:rPr lang="he-IL" b="1" dirty="0">
                <a:effectLst/>
              </a:rPr>
              <a:t>סיכום</a:t>
            </a:r>
            <a:r>
              <a:rPr lang="he-IL" dirty="0">
                <a:effectLst/>
              </a:rPr>
              <a:t>: חיזוק המסר המרכזי</a:t>
            </a:r>
          </a:p>
          <a:p>
            <a:r>
              <a:rPr lang="he-IL" b="1" dirty="0"/>
              <a:t>חומרי העשרה למרצה:</a:t>
            </a:r>
          </a:p>
          <a:p>
            <a:pPr rtl="1">
              <a:buFont typeface="Arial" panose="020B0604020202020204" pitchFamily="34" charset="0"/>
              <a:buChar char="•"/>
            </a:pPr>
            <a:r>
              <a:rPr lang="he-IL" dirty="0">
                <a:effectLst/>
              </a:rPr>
              <a:t>תשובות הלכתיות עדכניות בנושא</a:t>
            </a:r>
          </a:p>
          <a:p>
            <a:pPr rtl="1">
              <a:buFont typeface="Arial" panose="020B0604020202020204" pitchFamily="34" charset="0"/>
              <a:buChar char="•"/>
            </a:pPr>
            <a:r>
              <a:rPr lang="he-IL" dirty="0">
                <a:effectLst/>
              </a:rPr>
              <a:t>מאמרים מקצועיים על התפתחות הטכנולוגיה</a:t>
            </a:r>
          </a:p>
          <a:p>
            <a:pPr rtl="1">
              <a:buFont typeface="Arial" panose="020B0604020202020204" pitchFamily="34" charset="0"/>
              <a:buChar char="•"/>
            </a:pPr>
            <a:r>
              <a:rPr lang="he-IL" dirty="0">
                <a:effectLst/>
              </a:rPr>
              <a:t>סיפורים אישיים מהשטח</a:t>
            </a:r>
          </a:p>
          <a:p>
            <a:pPr rtl="1">
              <a:buFont typeface="Arial" panose="020B0604020202020204" pitchFamily="34" charset="0"/>
              <a:buChar char="•"/>
            </a:pPr>
            <a:r>
              <a:rPr lang="he-IL" dirty="0">
                <a:effectLst/>
              </a:rPr>
              <a:t>דוגמאות מעשיות לשילוב מוצלח</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1</a:t>
            </a:fld>
            <a:endParaRPr lang="he-IL"/>
          </a:p>
        </p:txBody>
      </p:sp>
    </p:spTree>
    <p:extLst>
      <p:ext uri="{BB962C8B-B14F-4D97-AF65-F5344CB8AC3E}">
        <p14:creationId xmlns:p14="http://schemas.microsoft.com/office/powerpoint/2010/main" val="1556939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a:t>שקופית 2: סוגיות הלכתיות מרכזיות</a:t>
            </a:r>
          </a:p>
          <a:p>
            <a:pPr algn="r" rtl="1"/>
            <a:r>
              <a:rPr lang="he-IL" dirty="0">
                <a:effectLst/>
              </a:rPr>
              <a:t>הזכר את המקבילה ההיסטורית - כשם שחז"ל התמודדו עם שאלת כתיבת התורה שבעל פה, כך אנחנו מתמודדים היום עם שאלות דומות לגבי שימוש בטכנולוגיה. הדגש שכל דור מתמודד עם אתגרים חדשים, והחכמה היא למצוא את הדרך הנכונה להתמודד איתם תוך שמירה על מסורת אבותינו.</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2</a:t>
            </a:fld>
            <a:endParaRPr lang="he-IL"/>
          </a:p>
        </p:txBody>
      </p:sp>
    </p:spTree>
    <p:extLst>
      <p:ext uri="{BB962C8B-B14F-4D97-AF65-F5344CB8AC3E}">
        <p14:creationId xmlns:p14="http://schemas.microsoft.com/office/powerpoint/2010/main" val="1600500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a:t>שקופית 3: עקרונות הלכתיים בסיסיים</a:t>
            </a:r>
          </a:p>
          <a:p>
            <a:pPr algn="r" rtl="1"/>
            <a:r>
              <a:rPr lang="he-IL" dirty="0">
                <a:effectLst/>
              </a:rPr>
              <a:t>כאן כדאי להביא דוגמה מעשית </a:t>
            </a:r>
            <a:r>
              <a:rPr lang="he-IL" dirty="0" err="1">
                <a:effectLst/>
              </a:rPr>
              <a:t>מחיי</a:t>
            </a:r>
            <a:r>
              <a:rPr lang="he-IL" dirty="0">
                <a:effectLst/>
              </a:rPr>
              <a:t> היומיום. למשל: "חשבו על מקרה שבו אדם מבקש </a:t>
            </a:r>
            <a:r>
              <a:rPr lang="he-IL" dirty="0" err="1">
                <a:effectLst/>
              </a:rPr>
              <a:t>מאלקסה</a:t>
            </a:r>
            <a:r>
              <a:rPr lang="he-IL" dirty="0">
                <a:effectLst/>
              </a:rPr>
              <a:t> להדליק אור בשבת. האם זה דומה לאמירה לגוי? או אולי חמור יותר כי זה </a:t>
            </a:r>
            <a:r>
              <a:rPr lang="he-IL" dirty="0" err="1">
                <a:effectLst/>
              </a:rPr>
              <a:t>מיידי</a:t>
            </a:r>
            <a:r>
              <a:rPr lang="he-IL" dirty="0">
                <a:effectLst/>
              </a:rPr>
              <a:t>? ואולי דווקא קל יותר כי זה רק מכונה?" הצג את השאלות באופן שיעורר חשיבה ודיון.</a:t>
            </a:r>
          </a:p>
          <a:p>
            <a:pPr algn="r" rtl="1"/>
            <a:r>
              <a:rPr lang="he-IL" dirty="0">
                <a:effectLst/>
              </a:rPr>
              <a:t>האם מותר לומר לקוף מאולף לעשות מלאכה ראה כאן</a:t>
            </a:r>
          </a:p>
          <a:p>
            <a:pPr algn="r" rtl="1"/>
            <a:r>
              <a:rPr lang="en-US" dirty="0">
                <a:effectLst/>
              </a:rPr>
              <a:t>https://tablet.otzar.org/#/book/626493/p/674/t/0.095273996329982241234/fs/2b03EdzZTNxEg7HIpJvp6eIO9z5pUDrD89PlvcNgEiqE/start/916/end/930/c</a:t>
            </a:r>
            <a:endParaRPr lang="he-IL" dirty="0">
              <a:effectLst/>
            </a:endParaRP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3</a:t>
            </a:fld>
            <a:endParaRPr lang="he-IL"/>
          </a:p>
        </p:txBody>
      </p:sp>
    </p:spTree>
    <p:extLst>
      <p:ext uri="{BB962C8B-B14F-4D97-AF65-F5344CB8AC3E}">
        <p14:creationId xmlns:p14="http://schemas.microsoft.com/office/powerpoint/2010/main" val="2490888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B2CE-D207-2CB9-823C-FF87EECFE7F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D81806E2-D175-7D18-062C-7C931DAF6E7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60109EA-9C06-7616-38A9-68F158356031}"/>
              </a:ext>
            </a:extLst>
          </p:cNvPr>
          <p:cNvSpPr>
            <a:spLocks noGrp="1"/>
          </p:cNvSpPr>
          <p:nvPr>
            <p:ph type="body" idx="1"/>
          </p:nvPr>
        </p:nvSpPr>
        <p:spPr/>
        <p:txBody>
          <a:bodyPr/>
          <a:lstStyle/>
          <a:p>
            <a:r>
              <a:rPr lang="he-IL" b="1" dirty="0"/>
              <a:t>שקופית 3: עקרונות הלכתיים בסיסיים</a:t>
            </a:r>
          </a:p>
          <a:p>
            <a:pPr algn="r" rtl="1"/>
            <a:r>
              <a:rPr lang="he-IL" dirty="0">
                <a:effectLst/>
              </a:rPr>
              <a:t>כאן כדאי להביא דוגמה מעשית </a:t>
            </a:r>
            <a:r>
              <a:rPr lang="he-IL" dirty="0" err="1">
                <a:effectLst/>
              </a:rPr>
              <a:t>מחיי</a:t>
            </a:r>
            <a:r>
              <a:rPr lang="he-IL" dirty="0">
                <a:effectLst/>
              </a:rPr>
              <a:t> היומיום. למשל: "חשבו על מקרה שבו אדם מבקש </a:t>
            </a:r>
            <a:r>
              <a:rPr lang="he-IL" dirty="0" err="1">
                <a:effectLst/>
              </a:rPr>
              <a:t>מאלקסה</a:t>
            </a:r>
            <a:r>
              <a:rPr lang="he-IL" dirty="0">
                <a:effectLst/>
              </a:rPr>
              <a:t> להדליק אור בשבת. האם זה דומה לאמירה לגוי? או אולי חמור יותר כי זה </a:t>
            </a:r>
            <a:r>
              <a:rPr lang="he-IL" dirty="0" err="1">
                <a:effectLst/>
              </a:rPr>
              <a:t>מיידי</a:t>
            </a:r>
            <a:r>
              <a:rPr lang="he-IL" dirty="0">
                <a:effectLst/>
              </a:rPr>
              <a:t>? ואולי דווקא קל יותר כי זה רק מכונה?" הצג את השאלות באופן שיעורר חשיבה ודיון.</a:t>
            </a:r>
          </a:p>
          <a:p>
            <a:pPr algn="r" rtl="1"/>
            <a:r>
              <a:rPr lang="he-IL" dirty="0">
                <a:effectLst/>
              </a:rPr>
              <a:t>האם מותר לומר לקוף מאולף לעשות מלאכה ראה כאן</a:t>
            </a:r>
          </a:p>
          <a:p>
            <a:pPr algn="r" rtl="1"/>
            <a:r>
              <a:rPr lang="en-US" dirty="0">
                <a:effectLst/>
              </a:rPr>
              <a:t>https://tablet.otzar.org/#/book/626493/p/674/t/0.095273996329982241234/fs/2b03EdzZTNxEg7HIpJvp6eIO9z5pUDrD89PlvcNgEiqE/start/916/end/930/c</a:t>
            </a:r>
            <a:endParaRPr lang="he-IL" dirty="0">
              <a:effectLst/>
            </a:endParaRPr>
          </a:p>
          <a:p>
            <a:endParaRPr lang="he-IL" dirty="0"/>
          </a:p>
        </p:txBody>
      </p:sp>
      <p:sp>
        <p:nvSpPr>
          <p:cNvPr id="4" name="מציין מיקום של מספר שקופית 3">
            <a:extLst>
              <a:ext uri="{FF2B5EF4-FFF2-40B4-BE49-F238E27FC236}">
                <a16:creationId xmlns:a16="http://schemas.microsoft.com/office/drawing/2014/main" id="{2E2362EE-25AF-21D2-2C6B-B01AE93B4D86}"/>
              </a:ext>
            </a:extLst>
          </p:cNvPr>
          <p:cNvSpPr>
            <a:spLocks noGrp="1"/>
          </p:cNvSpPr>
          <p:nvPr>
            <p:ph type="sldNum" sz="quarter" idx="5"/>
          </p:nvPr>
        </p:nvSpPr>
        <p:spPr/>
        <p:txBody>
          <a:bodyPr/>
          <a:lstStyle/>
          <a:p>
            <a:fld id="{BB2629D8-59F6-4323-8E5A-496FEAC794A3}" type="slidenum">
              <a:rPr lang="he-IL" smtClean="0"/>
              <a:t>4</a:t>
            </a:fld>
            <a:endParaRPr lang="he-IL"/>
          </a:p>
        </p:txBody>
      </p:sp>
    </p:spTree>
    <p:extLst>
      <p:ext uri="{BB962C8B-B14F-4D97-AF65-F5344CB8AC3E}">
        <p14:creationId xmlns:p14="http://schemas.microsoft.com/office/powerpoint/2010/main" val="2343686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שקופית 4: שימוש במערכות חכמות</a:t>
            </a:r>
          </a:p>
          <a:p>
            <a:r>
              <a:rPr lang="he-IL" dirty="0"/>
              <a:t>הבא דוגמאות מוחשיות של מערכות שכבר קיימות בבתים חרדיים רבים. הסבר כיצד כל מערכת מציבה אתגרים הלכתיים ייחודיים. למשל: "רובוט שואב אבק שמתוכנת מראש - האם זה דומה לשעון שבת? מה ההבדל בין פעולה מתוכננת מראש לבין פעולה שמתרחשת בזמן אמת?"</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5</a:t>
            </a:fld>
            <a:endParaRPr lang="he-IL"/>
          </a:p>
        </p:txBody>
      </p:sp>
    </p:spTree>
    <p:extLst>
      <p:ext uri="{BB962C8B-B14F-4D97-AF65-F5344CB8AC3E}">
        <p14:creationId xmlns:p14="http://schemas.microsoft.com/office/powerpoint/2010/main" val="1361734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שקופית 5: פתרונות הלכתיים אפשריים</a:t>
            </a:r>
          </a:p>
          <a:p>
            <a:r>
              <a:rPr lang="he-IL" dirty="0"/>
              <a:t>הדגש את החשיבה היצירתית של פוסקי ההלכה. ספר על פתרונות מעניינים שכבר קיימים, כמו "</a:t>
            </a:r>
            <a:r>
              <a:rPr lang="he-IL" dirty="0" err="1"/>
              <a:t>גרמא</a:t>
            </a:r>
            <a:r>
              <a:rPr lang="he-IL" dirty="0"/>
              <a:t>" בשבת. הסבר כיצד עקרונות אלו יכולים להיות מיושמים גם בטכנולוגיות חדשות. זה המקום להראות שההלכה היא חכמה ודינמית.</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6</a:t>
            </a:fld>
            <a:endParaRPr lang="he-IL"/>
          </a:p>
        </p:txBody>
      </p:sp>
    </p:spTree>
    <p:extLst>
      <p:ext uri="{BB962C8B-B14F-4D97-AF65-F5344CB8AC3E}">
        <p14:creationId xmlns:p14="http://schemas.microsoft.com/office/powerpoint/2010/main" val="1617939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שקופית 6: שימושים מעשיים מותרים</a:t>
            </a:r>
          </a:p>
          <a:p>
            <a:r>
              <a:rPr lang="he-IL" dirty="0"/>
              <a:t>כאן המקום להתלהב! הראה כיצד הטכנולוגיה יכולה לשרת את עולם התורה. תן דוגמאות מרגשות: "תארו לעצמכם מערכת שיכולה לעזור לילד עם קשיי למידה להבין סוגיה בגמרא, או אפליקציה שמסייעת למצוא חברותא מתאימה." הדגש את הפוטנציאל החיובי.</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7</a:t>
            </a:fld>
            <a:endParaRPr lang="he-IL"/>
          </a:p>
        </p:txBody>
      </p:sp>
    </p:spTree>
    <p:extLst>
      <p:ext uri="{BB962C8B-B14F-4D97-AF65-F5344CB8AC3E}">
        <p14:creationId xmlns:p14="http://schemas.microsoft.com/office/powerpoint/2010/main" val="2561965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שקופית 7: המלצות ליישום</a:t>
            </a:r>
          </a:p>
          <a:p>
            <a:r>
              <a:rPr lang="he-IL" dirty="0"/>
              <a:t>הפוך את זה למעשי. תן טיפים ספציפיים: "לפני שאתם מכניסים טכנולוגיה חדשה לבית, שאלו את עצמכם שלוש שאלות..." הדגש את החשיבות של התייעצות עם רב והבנת ההשלכות של כל החלטה.</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8</a:t>
            </a:fld>
            <a:endParaRPr lang="he-IL"/>
          </a:p>
        </p:txBody>
      </p:sp>
    </p:spTree>
    <p:extLst>
      <p:ext uri="{BB962C8B-B14F-4D97-AF65-F5344CB8AC3E}">
        <p14:creationId xmlns:p14="http://schemas.microsoft.com/office/powerpoint/2010/main" val="2954326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שקופית 8: סיכום</a:t>
            </a:r>
          </a:p>
          <a:p>
            <a:r>
              <a:rPr lang="he-IL" dirty="0"/>
              <a:t>סיים עם מסר מעורר השראה. הזכר את דברי החזון איש על שילוב "חכמת העולם" עם תורה. הדגש שהאתגר שלנו הוא למצוא את הדרך להשתמש בטכנולוגיה לקידוש השם ולהגדלת התורה.</a:t>
            </a:r>
          </a:p>
          <a:p>
            <a:endParaRPr lang="he-IL" dirty="0"/>
          </a:p>
        </p:txBody>
      </p:sp>
      <p:sp>
        <p:nvSpPr>
          <p:cNvPr id="4" name="מציין מיקום של מספר שקופית 3"/>
          <p:cNvSpPr>
            <a:spLocks noGrp="1"/>
          </p:cNvSpPr>
          <p:nvPr>
            <p:ph type="sldNum" sz="quarter" idx="5"/>
          </p:nvPr>
        </p:nvSpPr>
        <p:spPr/>
        <p:txBody>
          <a:bodyPr/>
          <a:lstStyle/>
          <a:p>
            <a:fld id="{BB2629D8-59F6-4323-8E5A-496FEAC794A3}" type="slidenum">
              <a:rPr lang="he-IL" smtClean="0"/>
              <a:t>9</a:t>
            </a:fld>
            <a:endParaRPr lang="he-IL"/>
          </a:p>
        </p:txBody>
      </p:sp>
    </p:spTree>
    <p:extLst>
      <p:ext uri="{BB962C8B-B14F-4D97-AF65-F5344CB8AC3E}">
        <p14:creationId xmlns:p14="http://schemas.microsoft.com/office/powerpoint/2010/main" val="2171446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51CD20-C1ED-DDDD-94F0-0CEEB6AFDC4F}"/>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D659BB1-FDA1-79D6-1474-8597E2A09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490350EA-A7AF-76F0-A705-4C1494E3324E}"/>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E86F3793-A8F2-5C43-C7B8-116BF1AC4A6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74ECF8A-EF67-79F4-0BD8-3EAF3C598BA4}"/>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3475330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ED4CF81-0E1F-D0B4-437E-F231D819AF1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938A2D9-13D3-5B33-E387-9131F35D1161}"/>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8363C7F-5CAC-E85F-184F-A281A8521F5A}"/>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19766C26-0546-CA79-224C-32130B69628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3C78098-F299-1C19-B546-3523B2DC3905}"/>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404321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CF06CD-C704-DB09-CAF3-D25877A7CABF}"/>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B263311-8FB0-6B9D-9F68-ABB49F56B1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F9BBA858-AFB7-5558-1FBD-B891CCA373CA}"/>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131FDC00-76EE-D5DD-FCD3-A2997E3F2E2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731C287-639C-9406-2D0D-4C7E468724ED}"/>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2996602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E8A4B5-9C9E-7309-456E-6516414FFEF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5F9CA6F-A68C-78A4-897D-D07D4E453EF8}"/>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A5609048-CD16-55DD-C94B-AA7BA64341CC}"/>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5892C0C6-6E6D-0BDD-C236-D2E44D017E12}"/>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8770A1C7-CA0E-86A6-D9AE-1E9B6417B625}"/>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91FEF7D-0B83-2AB2-8485-895CBA7BD9A8}"/>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3882708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A2E6E0D-BEA6-21DA-FFCD-F89A28A6AB6E}"/>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AF62926-1E6D-DD79-670E-2051615554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852F02C-8484-1F51-73BF-93D417751AF5}"/>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80B58985-2FB1-270A-15DF-28A61E6EF6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550A9E54-794B-8650-C03A-E25C2D2E3614}"/>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528B96A1-1D88-97C2-E610-1EBB18AC70B1}"/>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A4AA4F0F-1375-1844-FF15-C4C4526F5D10}"/>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798172B-38C2-98E4-D805-4EA4FF1F9324}"/>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1627470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8252BFC-1480-4F31-150F-5E518F56C69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12D25E2A-AD06-8B96-FEBA-F7B16BAAC200}"/>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B3EC400B-D5DF-389C-3BD9-05F51DD3CAE0}"/>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A02EF755-60D5-1808-4A3E-B0C417EF5D20}"/>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1944827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CFEF131F-AD9A-AB89-5860-9CF86BA014A7}"/>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9A27C02D-2EBC-B17E-6CCC-01AF3F55C61C}"/>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BA582E4E-146A-E30C-817B-2EBBA03508A9}"/>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930238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B3BD665-23D1-216C-3FB8-27A3169F0F91}"/>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95268EE2-BC2B-0F00-201D-A67A03EC5D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BC19D8D6-2B98-162E-0C16-5EB2DCD9BC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91FFF63-6214-82D4-B688-8122C9F13CD6}"/>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193765FE-C0D0-5DA9-6374-1A640DAC8557}"/>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ECD8896-AB7E-2893-7907-25F766AA0C63}"/>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200556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326FC2-436C-48E4-8AD2-2A31AF8F6ADF}"/>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9A215FE-CD23-3413-ED18-E648741AA5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DC4FA2BB-4379-C956-7528-4E20CDD6C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74758B39-474C-7853-2F6A-718D22AB692A}"/>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C21EB8E3-23C5-9FAC-3665-EAF477C08837}"/>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8BE7454D-8A90-6F19-0A94-90CE29DDCDD9}"/>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2878543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2EF6AB-9E38-C36E-59D1-0662B7ADFBC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AA41E65-C11F-A128-F9C0-E290FC6CFC9B}"/>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2723609-8C6C-B8D8-231F-E2F7A6EB340D}"/>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9175D93-38B8-0ADF-67D0-EBB9B2E163E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C8A5BAC-629F-FF8E-CD73-2E0033B14B4C}"/>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1792563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E7B433B6-D41C-6AEA-1C40-6C2FC3606B8E}"/>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676CDA2-E4E5-ABF4-CFE9-966D6CACDA12}"/>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C51EEBE-D776-ADFD-4BCB-E28945B0E701}"/>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96E36022-08DE-D963-1AEE-2E8B6FA71DA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5906CD3-9CAB-CF25-74ED-7BBE14B6940E}"/>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1400568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כותרת וטקסט">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82ECDA-8D60-88EA-224F-D9125DC2549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7450EF0-9A65-405D-7F4F-AFFC7C648C5F}"/>
              </a:ext>
            </a:extLst>
          </p:cNvPr>
          <p:cNvSpPr>
            <a:spLocks noGrp="1"/>
          </p:cNvSpPr>
          <p:nvPr>
            <p:ph type="body"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1FCA97B-8635-6EBA-BD14-D63F7D007DD0}"/>
              </a:ext>
            </a:extLst>
          </p:cNvPr>
          <p:cNvSpPr>
            <a:spLocks noGrp="1"/>
          </p:cNvSpPr>
          <p:nvPr>
            <p:ph type="dt" sz="half" idx="10"/>
          </p:nvPr>
        </p:nvSpPr>
        <p:spPr/>
        <p:txBody>
          <a:body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97358E82-C971-F370-1932-56EA027BDE6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9925D91-AB33-2B65-9B55-56F7E26E3D36}"/>
              </a:ext>
            </a:extLst>
          </p:cNvPr>
          <p:cNvSpPr>
            <a:spLocks noGrp="1"/>
          </p:cNvSpPr>
          <p:nvPr>
            <p:ph type="sldNum" sz="quarter" idx="12"/>
          </p:nvPr>
        </p:nvSpPr>
        <p:spPr/>
        <p:txBody>
          <a:bodyPr/>
          <a:lstStyle/>
          <a:p>
            <a:fld id="{50BF8A91-E8F4-4396-8CE2-89AD3DA8C4D3}" type="slidenum">
              <a:rPr lang="he-IL" smtClean="0"/>
              <a:t>‹#›</a:t>
            </a:fld>
            <a:endParaRPr lang="he-IL"/>
          </a:p>
        </p:txBody>
      </p:sp>
    </p:spTree>
    <p:extLst>
      <p:ext uri="{BB962C8B-B14F-4D97-AF65-F5344CB8AC3E}">
        <p14:creationId xmlns:p14="http://schemas.microsoft.com/office/powerpoint/2010/main" val="805989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E586528-4764-C5C0-22FD-E57AD476BFD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AB897C4-AB11-2C11-6920-77CA73A6C74B}"/>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40092D2-70EC-D325-314C-EC4AEEA81F7E}"/>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FC2526A0-F9F9-450A-BD7F-49ACCC83AD8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5454698-ED40-5B55-CDD9-043FFEF2D8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BCA91DED-BDDE-9757-32D3-FD1D924F46B4}"/>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50BF8A91-E8F4-4396-8CE2-89AD3DA8C4D3}" type="slidenum">
              <a:rPr lang="he-IL" smtClean="0"/>
              <a:t>‹#›</a:t>
            </a:fld>
            <a:endParaRPr lang="he-IL"/>
          </a:p>
        </p:txBody>
      </p:sp>
    </p:spTree>
    <p:extLst>
      <p:ext uri="{BB962C8B-B14F-4D97-AF65-F5344CB8AC3E}">
        <p14:creationId xmlns:p14="http://schemas.microsoft.com/office/powerpoint/2010/main" val="3203416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www.toraland.org.il/%D7%9E%D7%90%D7%9E%D7%A8%D7%99%D7%9D/%D7%98%D7%9B%D7%A0%D7%95%D7%9C%D7%95%D7%92%D7%99%D7%94-%D7%95%D7%A8%D7%A4%D7%95%D7%90%D7%94/%D7%98%D7%9B%D7%A0%D7%95%D7%9C%D7%95%D7%92%D7%99%D7%94-%D7%95%D7%94%D7%9C%D7%9B%D7%94/%D7%93%D7%99%D7%91%D7%95%D7%A8-%D7%9B%D7%9E%D7%A2%D7%A9%D7%94-%D7%94%D7%91%D7%A2%D7%99%D7%95%D7%AA-%D7%94%D7%94%D7%9C%D7%9B%D7%AA%D7%99%D7%95%D7%AA-%D7%94%D7%9B%D7%A8%D7%95%D7%9B%D7%95%D7%AA-%D7%91%D7%94%D7%A4%D7%A2%D7%9C%D7%AA-%D7%A2%D7%95%D7%96%D7%A8-%D7%90%D7%99%D7%A9%D7%99-%D7%91%D7%A9%D7%91%D7%AA/?utm_source=chatgpt.com#_ftn6"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F0FF"/>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5662C39-ED7F-26FC-5A54-FF5FBEAE1D46}"/>
              </a:ext>
            </a:extLst>
          </p:cNvPr>
          <p:cNvSpPr>
            <a:spLocks noGrp="1"/>
          </p:cNvSpPr>
          <p:nvPr>
            <p:ph type="title"/>
          </p:nvPr>
        </p:nvSpPr>
        <p:spPr>
          <a:ln w="9525">
            <a:solidFill>
              <a:srgbClr val="C8C8C8"/>
            </a:solidFill>
          </a:ln>
        </p:spPr>
        <p:txBody>
          <a:bodyPr>
            <a:normAutofit/>
          </a:bodyPr>
          <a:lstStyle/>
          <a:p>
            <a:r>
              <a:rPr lang="he-IL" sz="4000">
                <a:solidFill>
                  <a:srgbClr val="003399"/>
                </a:solidFill>
                <a:latin typeface="David" panose="020E0502060401010101" pitchFamily="34" charset="-79"/>
              </a:rPr>
              <a:t>בינה מלאכותית בעולם החרדי</a:t>
            </a:r>
          </a:p>
        </p:txBody>
      </p:sp>
      <p:sp>
        <p:nvSpPr>
          <p:cNvPr id="3" name="מציין מיקום טקסט 2">
            <a:extLst>
              <a:ext uri="{FF2B5EF4-FFF2-40B4-BE49-F238E27FC236}">
                <a16:creationId xmlns:a16="http://schemas.microsoft.com/office/drawing/2014/main" id="{8F6DF9AB-68D3-1761-486F-BBB13B36D42B}"/>
              </a:ext>
            </a:extLst>
          </p:cNvPr>
          <p:cNvSpPr>
            <a:spLocks noGrp="1"/>
          </p:cNvSpPr>
          <p:nvPr>
            <p:ph type="body" idx="1"/>
          </p:nvPr>
        </p:nvSpPr>
        <p:spPr>
          <a:ln w="9525">
            <a:solidFill>
              <a:srgbClr val="C8C8C8"/>
            </a:solidFill>
          </a:ln>
        </p:spPr>
        <p:txBody>
          <a:bodyPr>
            <a:normAutofit/>
          </a:bodyPr>
          <a:lstStyle/>
          <a:p>
            <a:r>
              <a:rPr lang="he-IL" dirty="0">
                <a:solidFill>
                  <a:srgbClr val="333399"/>
                </a:solidFill>
                <a:latin typeface="David" panose="020E0502060401010101" pitchFamily="34" charset="-79"/>
              </a:rPr>
              <a:t>אתגרים והזדמנויות</a:t>
            </a:r>
          </a:p>
          <a:p>
            <a:r>
              <a:rPr lang="he-IL" dirty="0">
                <a:solidFill>
                  <a:srgbClr val="333399"/>
                </a:solidFill>
                <a:latin typeface="David" panose="020E0502060401010101" pitchFamily="34" charset="-79"/>
              </a:rPr>
              <a:t>שילוב בין חדשנות למסורת</a:t>
            </a:r>
          </a:p>
          <a:p>
            <a:r>
              <a:rPr lang="he-IL" dirty="0">
                <a:solidFill>
                  <a:srgbClr val="333399"/>
                </a:solidFill>
                <a:latin typeface="David" panose="020E0502060401010101" pitchFamily="34" charset="-79"/>
              </a:rPr>
              <a:t>היבטים הלכתיים ומעשיים</a:t>
            </a:r>
          </a:p>
        </p:txBody>
      </p:sp>
      <p:pic>
        <p:nvPicPr>
          <p:cNvPr id="4" name="תמונה 3">
            <a:extLst>
              <a:ext uri="{FF2B5EF4-FFF2-40B4-BE49-F238E27FC236}">
                <a16:creationId xmlns:a16="http://schemas.microsoft.com/office/drawing/2014/main" id="{441F2E6C-49D1-D619-B727-FD8068DBFA6D}"/>
              </a:ext>
            </a:extLst>
          </p:cNvPr>
          <p:cNvPicPr>
            <a:picLocks noChangeAspect="1"/>
          </p:cNvPicPr>
          <p:nvPr/>
        </p:nvPicPr>
        <p:blipFill>
          <a:blip r:embed="rId3"/>
          <a:stretch>
            <a:fillRect/>
          </a:stretch>
        </p:blipFill>
        <p:spPr>
          <a:xfrm>
            <a:off x="0" y="2095500"/>
            <a:ext cx="4762500" cy="4762500"/>
          </a:xfrm>
          <a:prstGeom prst="rect">
            <a:avLst/>
          </a:prstGeom>
        </p:spPr>
      </p:pic>
    </p:spTree>
    <p:extLst>
      <p:ext uri="{BB962C8B-B14F-4D97-AF65-F5344CB8AC3E}">
        <p14:creationId xmlns:p14="http://schemas.microsoft.com/office/powerpoint/2010/main" val="1944032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0E6"/>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E44C0B-0D69-E0DA-F03E-DEAA208FC6E6}"/>
              </a:ext>
            </a:extLst>
          </p:cNvPr>
          <p:cNvSpPr>
            <a:spLocks noGrp="1"/>
          </p:cNvSpPr>
          <p:nvPr>
            <p:ph type="title"/>
          </p:nvPr>
        </p:nvSpPr>
        <p:spPr>
          <a:ln w="9525">
            <a:solidFill>
              <a:srgbClr val="C8C8C8"/>
            </a:solidFill>
          </a:ln>
        </p:spPr>
        <p:txBody>
          <a:bodyPr>
            <a:normAutofit/>
          </a:bodyPr>
          <a:lstStyle/>
          <a:p>
            <a:r>
              <a:rPr lang="he-IL" sz="4000" dirty="0">
                <a:solidFill>
                  <a:srgbClr val="993300"/>
                </a:solidFill>
                <a:latin typeface="David" panose="020E0502060401010101" pitchFamily="34" charset="-79"/>
              </a:rPr>
              <a:t>סוגיות הלכתיות מרכזיות</a:t>
            </a:r>
          </a:p>
        </p:txBody>
      </p:sp>
      <p:sp>
        <p:nvSpPr>
          <p:cNvPr id="3" name="מציין מיקום טקסט 2">
            <a:extLst>
              <a:ext uri="{FF2B5EF4-FFF2-40B4-BE49-F238E27FC236}">
                <a16:creationId xmlns:a16="http://schemas.microsoft.com/office/drawing/2014/main" id="{C479D12B-FD8E-D9BD-856F-741B4271BDE3}"/>
              </a:ext>
            </a:extLst>
          </p:cNvPr>
          <p:cNvSpPr>
            <a:spLocks noGrp="1"/>
          </p:cNvSpPr>
          <p:nvPr>
            <p:ph type="body" idx="1"/>
          </p:nvPr>
        </p:nvSpPr>
        <p:spPr>
          <a:ln w="9525">
            <a:solidFill>
              <a:srgbClr val="C8C8C8"/>
            </a:solidFill>
          </a:ln>
        </p:spPr>
        <p:txBody>
          <a:bodyPr>
            <a:normAutofit/>
          </a:bodyPr>
          <a:lstStyle/>
          <a:p>
            <a:r>
              <a:rPr lang="he-IL">
                <a:solidFill>
                  <a:srgbClr val="006633"/>
                </a:solidFill>
                <a:latin typeface="David" panose="020E0502060401010101" pitchFamily="34" charset="-79"/>
              </a:rPr>
              <a:t>• שימוש בבינה מלאכותית בשבת</a:t>
            </a:r>
          </a:p>
          <a:p>
            <a:r>
              <a:rPr lang="he-IL">
                <a:solidFill>
                  <a:srgbClr val="006633"/>
                </a:solidFill>
                <a:latin typeface="David" panose="020E0502060401010101" pitchFamily="34" charset="-79"/>
              </a:rPr>
              <a:t>• הבדל בין שימוש ישיר לעקיף</a:t>
            </a:r>
          </a:p>
          <a:p>
            <a:r>
              <a:rPr lang="he-IL">
                <a:solidFill>
                  <a:srgbClr val="006633"/>
                </a:solidFill>
                <a:latin typeface="David" panose="020E0502060401010101" pitchFamily="34" charset="-79"/>
              </a:rPr>
              <a:t>• גדרי מלאכה בפעולות אוטומטיות</a:t>
            </a:r>
          </a:p>
          <a:p>
            <a:r>
              <a:rPr lang="he-IL">
                <a:solidFill>
                  <a:srgbClr val="006633"/>
                </a:solidFill>
                <a:latin typeface="David" panose="020E0502060401010101" pitchFamily="34" charset="-79"/>
              </a:rPr>
              <a:t>• השוואה לדיני אמירה לנכרי</a:t>
            </a:r>
          </a:p>
        </p:txBody>
      </p:sp>
      <p:pic>
        <p:nvPicPr>
          <p:cNvPr id="4" name="תמונה 3">
            <a:extLst>
              <a:ext uri="{FF2B5EF4-FFF2-40B4-BE49-F238E27FC236}">
                <a16:creationId xmlns:a16="http://schemas.microsoft.com/office/drawing/2014/main" id="{6794EE24-918F-8E90-6C33-3F5233AB2F6A}"/>
              </a:ext>
            </a:extLst>
          </p:cNvPr>
          <p:cNvPicPr>
            <a:picLocks noChangeAspect="1"/>
          </p:cNvPicPr>
          <p:nvPr/>
        </p:nvPicPr>
        <p:blipFill>
          <a:blip r:embed="rId3"/>
          <a:stretch>
            <a:fillRect/>
          </a:stretch>
        </p:blipFill>
        <p:spPr>
          <a:xfrm>
            <a:off x="0" y="2095500"/>
            <a:ext cx="4762500" cy="4762500"/>
          </a:xfrm>
          <a:prstGeom prst="rect">
            <a:avLst/>
          </a:prstGeom>
        </p:spPr>
      </p:pic>
    </p:spTree>
    <p:extLst>
      <p:ext uri="{BB962C8B-B14F-4D97-AF65-F5344CB8AC3E}">
        <p14:creationId xmlns:p14="http://schemas.microsoft.com/office/powerpoint/2010/main" val="33810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FFE6"/>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6DB270F-9873-886C-E9DC-1AF71453B965}"/>
              </a:ext>
            </a:extLst>
          </p:cNvPr>
          <p:cNvSpPr>
            <a:spLocks noGrp="1"/>
          </p:cNvSpPr>
          <p:nvPr>
            <p:ph type="title"/>
          </p:nvPr>
        </p:nvSpPr>
        <p:spPr>
          <a:ln w="9525">
            <a:solidFill>
              <a:srgbClr val="C8C8C8"/>
            </a:solidFill>
          </a:ln>
        </p:spPr>
        <p:txBody>
          <a:bodyPr>
            <a:normAutofit/>
          </a:bodyPr>
          <a:lstStyle/>
          <a:p>
            <a:r>
              <a:rPr lang="he-IL" sz="4000">
                <a:solidFill>
                  <a:srgbClr val="006600"/>
                </a:solidFill>
                <a:latin typeface="David" panose="020E0502060401010101" pitchFamily="34" charset="-79"/>
              </a:rPr>
              <a:t>עקרונות הלכתיים בסיסיים</a:t>
            </a:r>
          </a:p>
        </p:txBody>
      </p:sp>
      <p:sp>
        <p:nvSpPr>
          <p:cNvPr id="3" name="מציין מיקום טקסט 2">
            <a:extLst>
              <a:ext uri="{FF2B5EF4-FFF2-40B4-BE49-F238E27FC236}">
                <a16:creationId xmlns:a16="http://schemas.microsoft.com/office/drawing/2014/main" id="{8CA63B2B-8A56-18CD-3A73-7C3CBD3B0D74}"/>
              </a:ext>
            </a:extLst>
          </p:cNvPr>
          <p:cNvSpPr>
            <a:spLocks noGrp="1"/>
          </p:cNvSpPr>
          <p:nvPr>
            <p:ph type="body" idx="1"/>
          </p:nvPr>
        </p:nvSpPr>
        <p:spPr>
          <a:ln w="9525">
            <a:solidFill>
              <a:srgbClr val="C8C8C8"/>
            </a:solidFill>
          </a:ln>
        </p:spPr>
        <p:txBody>
          <a:bodyPr>
            <a:normAutofit/>
          </a:bodyPr>
          <a:lstStyle/>
          <a:p>
            <a:r>
              <a:rPr lang="he-IL" dirty="0">
                <a:solidFill>
                  <a:srgbClr val="333399"/>
                </a:solidFill>
                <a:latin typeface="David" panose="020E0502060401010101" pitchFamily="34" charset="-79"/>
              </a:rPr>
              <a:t>• מלאכות האסורות בשבת</a:t>
            </a:r>
          </a:p>
          <a:p>
            <a:r>
              <a:rPr lang="he-IL" dirty="0">
                <a:solidFill>
                  <a:srgbClr val="333399"/>
                </a:solidFill>
                <a:latin typeface="David" panose="020E0502060401010101" pitchFamily="34" charset="-79"/>
              </a:rPr>
              <a:t>• גדרי </a:t>
            </a:r>
            <a:r>
              <a:rPr lang="he-IL" dirty="0" err="1">
                <a:solidFill>
                  <a:srgbClr val="333399"/>
                </a:solidFill>
                <a:latin typeface="David" panose="020E0502060401010101" pitchFamily="34" charset="-79"/>
              </a:rPr>
              <a:t>גרמא</a:t>
            </a:r>
            <a:r>
              <a:rPr lang="he-IL" dirty="0">
                <a:solidFill>
                  <a:srgbClr val="333399"/>
                </a:solidFill>
                <a:latin typeface="David" panose="020E0502060401010101" pitchFamily="34" charset="-79"/>
              </a:rPr>
              <a:t> בשבת</a:t>
            </a:r>
          </a:p>
          <a:p>
            <a:r>
              <a:rPr lang="he-IL" dirty="0">
                <a:solidFill>
                  <a:srgbClr val="333399"/>
                </a:solidFill>
                <a:latin typeface="David" panose="020E0502060401010101" pitchFamily="34" charset="-79"/>
              </a:rPr>
              <a:t>• דיני אמירה והפעלה</a:t>
            </a:r>
          </a:p>
          <a:p>
            <a:r>
              <a:rPr lang="he-IL" dirty="0">
                <a:solidFill>
                  <a:srgbClr val="333399"/>
                </a:solidFill>
                <a:latin typeface="David" panose="020E0502060401010101" pitchFamily="34" charset="-79"/>
              </a:rPr>
              <a:t>• השפעת הכוונה על המעשה</a:t>
            </a:r>
          </a:p>
        </p:txBody>
      </p:sp>
      <p:pic>
        <p:nvPicPr>
          <p:cNvPr id="4" name="תמונה 3">
            <a:extLst>
              <a:ext uri="{FF2B5EF4-FFF2-40B4-BE49-F238E27FC236}">
                <a16:creationId xmlns:a16="http://schemas.microsoft.com/office/drawing/2014/main" id="{6CD14CB7-73C0-6544-DAE0-D4227C6567F1}"/>
              </a:ext>
            </a:extLst>
          </p:cNvPr>
          <p:cNvPicPr>
            <a:picLocks noChangeAspect="1"/>
          </p:cNvPicPr>
          <p:nvPr/>
        </p:nvPicPr>
        <p:blipFill>
          <a:blip r:embed="rId3"/>
          <a:stretch>
            <a:fillRect/>
          </a:stretch>
        </p:blipFill>
        <p:spPr>
          <a:xfrm>
            <a:off x="0" y="2243504"/>
            <a:ext cx="4762500" cy="4762500"/>
          </a:xfrm>
          <a:prstGeom prst="rect">
            <a:avLst/>
          </a:prstGeom>
        </p:spPr>
      </p:pic>
    </p:spTree>
    <p:extLst>
      <p:ext uri="{BB962C8B-B14F-4D97-AF65-F5344CB8AC3E}">
        <p14:creationId xmlns:p14="http://schemas.microsoft.com/office/powerpoint/2010/main" val="3934901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FE6"/>
        </a:solidFill>
        <a:effectLst/>
      </p:bgPr>
    </p:bg>
    <p:spTree>
      <p:nvGrpSpPr>
        <p:cNvPr id="1" name="">
          <a:extLst>
            <a:ext uri="{FF2B5EF4-FFF2-40B4-BE49-F238E27FC236}">
              <a16:creationId xmlns:a16="http://schemas.microsoft.com/office/drawing/2014/main" id="{FA2B3038-4DE1-4458-577A-EA5BFC37E35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FBC7BA0-E2E1-23E4-52A3-D818C7D4D357}"/>
              </a:ext>
            </a:extLst>
          </p:cNvPr>
          <p:cNvSpPr>
            <a:spLocks noGrp="1"/>
          </p:cNvSpPr>
          <p:nvPr>
            <p:ph type="title"/>
          </p:nvPr>
        </p:nvSpPr>
        <p:spPr>
          <a:ln w="9525">
            <a:solidFill>
              <a:srgbClr val="C8C8C8"/>
            </a:solidFill>
          </a:ln>
        </p:spPr>
        <p:txBody>
          <a:bodyPr>
            <a:normAutofit/>
          </a:bodyPr>
          <a:lstStyle/>
          <a:p>
            <a:r>
              <a:rPr lang="he-IL" sz="4000" dirty="0">
                <a:solidFill>
                  <a:srgbClr val="006600"/>
                </a:solidFill>
                <a:latin typeface="David" panose="020E0502060401010101" pitchFamily="34" charset="-79"/>
              </a:rPr>
              <a:t>דיבור הוי כמעשה</a:t>
            </a:r>
          </a:p>
        </p:txBody>
      </p:sp>
      <p:sp>
        <p:nvSpPr>
          <p:cNvPr id="3" name="מציין מיקום טקסט 2">
            <a:extLst>
              <a:ext uri="{FF2B5EF4-FFF2-40B4-BE49-F238E27FC236}">
                <a16:creationId xmlns:a16="http://schemas.microsoft.com/office/drawing/2014/main" id="{BA71AE60-EAE2-4D14-3C18-A5F81BD5DA55}"/>
              </a:ext>
            </a:extLst>
          </p:cNvPr>
          <p:cNvSpPr>
            <a:spLocks noGrp="1"/>
          </p:cNvSpPr>
          <p:nvPr>
            <p:ph type="body" idx="1"/>
          </p:nvPr>
        </p:nvSpPr>
        <p:spPr>
          <a:ln w="9525">
            <a:solidFill>
              <a:srgbClr val="C8C8C8"/>
            </a:solidFill>
          </a:ln>
        </p:spPr>
        <p:txBody>
          <a:bodyPr>
            <a:normAutofit/>
          </a:bodyPr>
          <a:lstStyle/>
          <a:p>
            <a:r>
              <a:rPr lang="he-IL" b="0" i="0" dirty="0">
                <a:solidFill>
                  <a:srgbClr val="053676"/>
                </a:solidFill>
                <a:effectLst/>
                <a:latin typeface="Rubik"/>
              </a:rPr>
              <a:t> חסמה בקול והנהיגה בקול, רבי יוחנן אמר חייב ריש לקיש אמר פטור. רבי יוחנן אמר חייב </a:t>
            </a:r>
            <a:r>
              <a:rPr lang="he-IL" b="1" i="0" dirty="0">
                <a:solidFill>
                  <a:srgbClr val="053676"/>
                </a:solidFill>
                <a:effectLst/>
                <a:latin typeface="Rubik"/>
              </a:rPr>
              <a:t>עקימת פיו </a:t>
            </a:r>
            <a:r>
              <a:rPr lang="he-IL" b="1" i="0" dirty="0" err="1">
                <a:solidFill>
                  <a:srgbClr val="053676"/>
                </a:solidFill>
                <a:effectLst/>
                <a:latin typeface="Rubik"/>
              </a:rPr>
              <a:t>הויא</a:t>
            </a:r>
            <a:r>
              <a:rPr lang="he-IL" b="1" i="0" dirty="0">
                <a:solidFill>
                  <a:srgbClr val="053676"/>
                </a:solidFill>
                <a:effectLst/>
                <a:latin typeface="Rubik"/>
              </a:rPr>
              <a:t> מעשה </a:t>
            </a:r>
            <a:r>
              <a:rPr lang="he-IL" b="0" i="0" dirty="0">
                <a:solidFill>
                  <a:srgbClr val="053676"/>
                </a:solidFill>
                <a:effectLst/>
                <a:latin typeface="Rubik"/>
              </a:rPr>
              <a:t>ריש לקיש אמר פטור </a:t>
            </a:r>
            <a:r>
              <a:rPr lang="he-IL" b="1" i="0" dirty="0" err="1">
                <a:solidFill>
                  <a:srgbClr val="053676"/>
                </a:solidFill>
                <a:effectLst/>
                <a:latin typeface="Rubik"/>
              </a:rPr>
              <a:t>קלא</a:t>
            </a:r>
            <a:r>
              <a:rPr lang="he-IL" b="1" i="0" dirty="0">
                <a:solidFill>
                  <a:srgbClr val="053676"/>
                </a:solidFill>
                <a:effectLst/>
                <a:latin typeface="Rubik"/>
              </a:rPr>
              <a:t> לא הוי מעשה</a:t>
            </a:r>
            <a:r>
              <a:rPr lang="he-IL" b="0" i="0" dirty="0">
                <a:solidFill>
                  <a:srgbClr val="053676"/>
                </a:solidFill>
                <a:effectLst/>
                <a:latin typeface="Rubik"/>
              </a:rPr>
              <a:t>.</a:t>
            </a:r>
          </a:p>
          <a:p>
            <a:pPr algn="just"/>
            <a:r>
              <a:rPr lang="he-IL" b="0" i="0" dirty="0">
                <a:solidFill>
                  <a:srgbClr val="053676"/>
                </a:solidFill>
                <a:effectLst/>
                <a:latin typeface="Rubik"/>
              </a:rPr>
              <a:t>הרמב"ם (הל' סנהדרין </a:t>
            </a:r>
            <a:r>
              <a:rPr lang="he-IL" b="0" i="0" dirty="0" err="1">
                <a:solidFill>
                  <a:srgbClr val="053676"/>
                </a:solidFill>
                <a:effectLst/>
                <a:latin typeface="Rubik"/>
              </a:rPr>
              <a:t>פי"ח</a:t>
            </a:r>
            <a:r>
              <a:rPr lang="he-IL" b="0" i="0" dirty="0">
                <a:solidFill>
                  <a:srgbClr val="053676"/>
                </a:solidFill>
                <a:effectLst/>
                <a:latin typeface="Rubik"/>
              </a:rPr>
              <a:t> </a:t>
            </a:r>
            <a:r>
              <a:rPr lang="he-IL" b="0" i="0" dirty="0" err="1">
                <a:solidFill>
                  <a:srgbClr val="053676"/>
                </a:solidFill>
                <a:effectLst/>
                <a:latin typeface="Rubik"/>
              </a:rPr>
              <a:t>ה"ב</a:t>
            </a:r>
            <a:r>
              <a:rPr lang="he-IL" b="0" i="0" dirty="0">
                <a:solidFill>
                  <a:srgbClr val="053676"/>
                </a:solidFill>
                <a:effectLst/>
                <a:latin typeface="Rubik"/>
              </a:rPr>
              <a:t>, ואין מי שחולק על כך): 'כל לאו שאין בו מעשה, אין </a:t>
            </a:r>
            <a:r>
              <a:rPr lang="he-IL" b="0" i="0" dirty="0" err="1">
                <a:solidFill>
                  <a:srgbClr val="053676"/>
                </a:solidFill>
                <a:effectLst/>
                <a:latin typeface="Rubik"/>
              </a:rPr>
              <a:t>לוקין</a:t>
            </a:r>
            <a:r>
              <a:rPr lang="he-IL" b="0" i="0" dirty="0">
                <a:solidFill>
                  <a:srgbClr val="053676"/>
                </a:solidFill>
                <a:effectLst/>
                <a:latin typeface="Rubik"/>
              </a:rPr>
              <a:t> עליו, חוץ מנשבע </a:t>
            </a:r>
            <a:r>
              <a:rPr lang="he-IL" b="0" i="0" dirty="0" err="1">
                <a:solidFill>
                  <a:srgbClr val="053676"/>
                </a:solidFill>
                <a:effectLst/>
                <a:latin typeface="Rubik"/>
              </a:rPr>
              <a:t>ומימר</a:t>
            </a:r>
            <a:r>
              <a:rPr lang="he-IL" b="0" i="0" dirty="0">
                <a:solidFill>
                  <a:srgbClr val="053676"/>
                </a:solidFill>
                <a:effectLst/>
                <a:latin typeface="Rubik"/>
              </a:rPr>
              <a:t> ומקלל את </a:t>
            </a:r>
            <a:r>
              <a:rPr lang="he-IL" b="0" i="0" dirty="0" err="1">
                <a:solidFill>
                  <a:srgbClr val="053676"/>
                </a:solidFill>
                <a:effectLst/>
                <a:latin typeface="Rubik"/>
              </a:rPr>
              <a:t>חבירו</a:t>
            </a:r>
            <a:r>
              <a:rPr lang="he-IL" b="0" i="0" dirty="0">
                <a:solidFill>
                  <a:srgbClr val="053676"/>
                </a:solidFill>
                <a:effectLst/>
                <a:latin typeface="Rubik"/>
              </a:rPr>
              <a:t> בשם'. הרי שדיבור (אפילו עם עקימת שפתיים) אין בו מעשה גם בשלושת יוצאי הדופן, רק שבהם כן חייבים מלקות.</a:t>
            </a:r>
          </a:p>
          <a:p>
            <a:pPr algn="just"/>
            <a:r>
              <a:rPr lang="he-IL" b="0" i="0" dirty="0">
                <a:solidFill>
                  <a:srgbClr val="053676"/>
                </a:solidFill>
                <a:effectLst/>
                <a:latin typeface="Rubik"/>
              </a:rPr>
              <a:t>התוספות</a:t>
            </a:r>
            <a:r>
              <a:rPr lang="he-IL" b="0" i="0" u="none" strike="noStrike" dirty="0">
                <a:solidFill>
                  <a:srgbClr val="2989D8"/>
                </a:solidFill>
                <a:effectLst/>
                <a:latin typeface="Rubik"/>
                <a:hlinkClick r:id="rId3"/>
              </a:rPr>
              <a:t>[6]</a:t>
            </a:r>
            <a:r>
              <a:rPr lang="he-IL" b="0" i="0" dirty="0">
                <a:solidFill>
                  <a:srgbClr val="053676"/>
                </a:solidFill>
                <a:effectLst/>
                <a:latin typeface="Rubik"/>
              </a:rPr>
              <a:t> תירצו שרבי יוחנן סובר שעקימת שפתיו הוי מעשה רק במקום שעל ידי דיבורו נעשה מעשה, כמו בחסימה בקול שהפרה דשה ללא אכילה. לעומת זאת דיבור שאין לו תוצאה של מעשה לא נחשב מעשה.</a:t>
            </a:r>
          </a:p>
        </p:txBody>
      </p:sp>
    </p:spTree>
    <p:extLst>
      <p:ext uri="{BB962C8B-B14F-4D97-AF65-F5344CB8AC3E}">
        <p14:creationId xmlns:p14="http://schemas.microsoft.com/office/powerpoint/2010/main" val="2613970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6FF"/>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18C9A1-B03A-B5A0-6394-C4781955C9F2}"/>
              </a:ext>
            </a:extLst>
          </p:cNvPr>
          <p:cNvSpPr>
            <a:spLocks noGrp="1"/>
          </p:cNvSpPr>
          <p:nvPr>
            <p:ph type="title"/>
          </p:nvPr>
        </p:nvSpPr>
        <p:spPr>
          <a:ln w="9525">
            <a:solidFill>
              <a:srgbClr val="C8C8C8"/>
            </a:solidFill>
          </a:ln>
        </p:spPr>
        <p:txBody>
          <a:bodyPr>
            <a:normAutofit/>
          </a:bodyPr>
          <a:lstStyle/>
          <a:p>
            <a:r>
              <a:rPr lang="he-IL" sz="4000">
                <a:solidFill>
                  <a:srgbClr val="660066"/>
                </a:solidFill>
                <a:latin typeface="David" panose="020E0502060401010101" pitchFamily="34" charset="-79"/>
              </a:rPr>
              <a:t>שימוש במערכות חכמות</a:t>
            </a:r>
          </a:p>
        </p:txBody>
      </p:sp>
      <p:sp>
        <p:nvSpPr>
          <p:cNvPr id="3" name="מציין מיקום טקסט 2">
            <a:extLst>
              <a:ext uri="{FF2B5EF4-FFF2-40B4-BE49-F238E27FC236}">
                <a16:creationId xmlns:a16="http://schemas.microsoft.com/office/drawing/2014/main" id="{87CDD1CB-4A84-9FD7-D50C-C9543D7DA03E}"/>
              </a:ext>
            </a:extLst>
          </p:cNvPr>
          <p:cNvSpPr>
            <a:spLocks noGrp="1"/>
          </p:cNvSpPr>
          <p:nvPr>
            <p:ph type="body" idx="1"/>
          </p:nvPr>
        </p:nvSpPr>
        <p:spPr>
          <a:ln w="9525">
            <a:solidFill>
              <a:srgbClr val="C8C8C8"/>
            </a:solidFill>
          </a:ln>
        </p:spPr>
        <p:txBody>
          <a:bodyPr>
            <a:normAutofit/>
          </a:bodyPr>
          <a:lstStyle/>
          <a:p>
            <a:r>
              <a:rPr lang="he-IL">
                <a:solidFill>
                  <a:srgbClr val="333366"/>
                </a:solidFill>
                <a:latin typeface="David" panose="020E0502060401010101" pitchFamily="34" charset="-79"/>
              </a:rPr>
              <a:t>סוגי מערכות:</a:t>
            </a:r>
          </a:p>
          <a:p>
            <a:r>
              <a:rPr lang="he-IL">
                <a:solidFill>
                  <a:srgbClr val="333366"/>
                </a:solidFill>
                <a:latin typeface="David" panose="020E0502060401010101" pitchFamily="34" charset="-79"/>
              </a:rPr>
              <a:t>• מערכות קוליות (אלקסה וכדומה)</a:t>
            </a:r>
          </a:p>
          <a:p>
            <a:r>
              <a:rPr lang="he-IL">
                <a:solidFill>
                  <a:srgbClr val="333366"/>
                </a:solidFill>
                <a:latin typeface="David" panose="020E0502060401010101" pitchFamily="34" charset="-79"/>
              </a:rPr>
              <a:t>• רובוטים אוטומטיים</a:t>
            </a:r>
          </a:p>
          <a:p>
            <a:r>
              <a:rPr lang="he-IL">
                <a:solidFill>
                  <a:srgbClr val="333366"/>
                </a:solidFill>
                <a:latin typeface="David" panose="020E0502060401010101" pitchFamily="34" charset="-79"/>
              </a:rPr>
              <a:t>• מערכות בית חכם</a:t>
            </a:r>
          </a:p>
          <a:p>
            <a:r>
              <a:rPr lang="he-IL">
                <a:solidFill>
                  <a:srgbClr val="333366"/>
                </a:solidFill>
                <a:latin typeface="David" panose="020E0502060401010101" pitchFamily="34" charset="-79"/>
              </a:rPr>
              <a:t>• אפליקציות חכמות</a:t>
            </a:r>
          </a:p>
        </p:txBody>
      </p:sp>
      <p:pic>
        <p:nvPicPr>
          <p:cNvPr id="4" name="תמונה 3">
            <a:extLst>
              <a:ext uri="{FF2B5EF4-FFF2-40B4-BE49-F238E27FC236}">
                <a16:creationId xmlns:a16="http://schemas.microsoft.com/office/drawing/2014/main" id="{C0C8DC29-6A05-35CA-0DA1-C79AC50CF148}"/>
              </a:ext>
            </a:extLst>
          </p:cNvPr>
          <p:cNvPicPr>
            <a:picLocks noChangeAspect="1"/>
          </p:cNvPicPr>
          <p:nvPr/>
        </p:nvPicPr>
        <p:blipFill>
          <a:blip r:embed="rId3"/>
          <a:stretch>
            <a:fillRect/>
          </a:stretch>
        </p:blipFill>
        <p:spPr>
          <a:xfrm>
            <a:off x="0" y="2095500"/>
            <a:ext cx="4762500" cy="4762500"/>
          </a:xfrm>
          <a:prstGeom prst="rect">
            <a:avLst/>
          </a:prstGeom>
        </p:spPr>
      </p:pic>
    </p:spTree>
    <p:extLst>
      <p:ext uri="{BB962C8B-B14F-4D97-AF65-F5344CB8AC3E}">
        <p14:creationId xmlns:p14="http://schemas.microsoft.com/office/powerpoint/2010/main" val="1868082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E6"/>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8155E1-B1C0-E785-BFEB-869174E308B1}"/>
              </a:ext>
            </a:extLst>
          </p:cNvPr>
          <p:cNvSpPr>
            <a:spLocks noGrp="1"/>
          </p:cNvSpPr>
          <p:nvPr>
            <p:ph type="title"/>
          </p:nvPr>
        </p:nvSpPr>
        <p:spPr>
          <a:ln w="9525">
            <a:solidFill>
              <a:srgbClr val="C8C8C8"/>
            </a:solidFill>
          </a:ln>
        </p:spPr>
        <p:txBody>
          <a:bodyPr>
            <a:normAutofit/>
          </a:bodyPr>
          <a:lstStyle/>
          <a:p>
            <a:r>
              <a:rPr lang="he-IL" sz="4000">
                <a:solidFill>
                  <a:srgbClr val="996600"/>
                </a:solidFill>
                <a:latin typeface="David" panose="020E0502060401010101" pitchFamily="34" charset="-79"/>
              </a:rPr>
              <a:t>פתרונות הלכתיים אפשריים</a:t>
            </a:r>
          </a:p>
        </p:txBody>
      </p:sp>
      <p:sp>
        <p:nvSpPr>
          <p:cNvPr id="3" name="מציין מיקום טקסט 2">
            <a:extLst>
              <a:ext uri="{FF2B5EF4-FFF2-40B4-BE49-F238E27FC236}">
                <a16:creationId xmlns:a16="http://schemas.microsoft.com/office/drawing/2014/main" id="{A4418A1A-240E-55AF-88CA-14A0CE658C25}"/>
              </a:ext>
            </a:extLst>
          </p:cNvPr>
          <p:cNvSpPr>
            <a:spLocks noGrp="1"/>
          </p:cNvSpPr>
          <p:nvPr>
            <p:ph type="body" idx="1"/>
          </p:nvPr>
        </p:nvSpPr>
        <p:spPr>
          <a:ln w="9525">
            <a:solidFill>
              <a:srgbClr val="C8C8C8"/>
            </a:solidFill>
          </a:ln>
        </p:spPr>
        <p:txBody>
          <a:bodyPr>
            <a:normAutofit/>
          </a:bodyPr>
          <a:lstStyle/>
          <a:p>
            <a:r>
              <a:rPr lang="he-IL">
                <a:solidFill>
                  <a:srgbClr val="006666"/>
                </a:solidFill>
                <a:latin typeface="David" panose="020E0502060401010101" pitchFamily="34" charset="-79"/>
              </a:rPr>
              <a:t>• תכנות מראש לפני שבת</a:t>
            </a:r>
          </a:p>
          <a:p>
            <a:r>
              <a:rPr lang="he-IL">
                <a:solidFill>
                  <a:srgbClr val="006666"/>
                </a:solidFill>
                <a:latin typeface="David" panose="020E0502060401010101" pitchFamily="34" charset="-79"/>
              </a:rPr>
              <a:t>• שימוש בגרמא מותרת</a:t>
            </a:r>
          </a:p>
          <a:p>
            <a:r>
              <a:rPr lang="he-IL">
                <a:solidFill>
                  <a:srgbClr val="006666"/>
                </a:solidFill>
                <a:latin typeface="David" panose="020E0502060401010101" pitchFamily="34" charset="-79"/>
              </a:rPr>
              <a:t>• מערכות ייעודיות לשבת</a:t>
            </a:r>
          </a:p>
          <a:p>
            <a:r>
              <a:rPr lang="he-IL">
                <a:solidFill>
                  <a:srgbClr val="006666"/>
                </a:solidFill>
                <a:latin typeface="David" panose="020E0502060401010101" pitchFamily="34" charset="-79"/>
              </a:rPr>
              <a:t>• פיקוח רבני על הטכנולוגיה</a:t>
            </a:r>
          </a:p>
        </p:txBody>
      </p:sp>
      <p:pic>
        <p:nvPicPr>
          <p:cNvPr id="4" name="תמונה 3">
            <a:extLst>
              <a:ext uri="{FF2B5EF4-FFF2-40B4-BE49-F238E27FC236}">
                <a16:creationId xmlns:a16="http://schemas.microsoft.com/office/drawing/2014/main" id="{1AE6C042-EE4C-C87C-A894-E8901ADB15C6}"/>
              </a:ext>
            </a:extLst>
          </p:cNvPr>
          <p:cNvPicPr>
            <a:picLocks noChangeAspect="1"/>
          </p:cNvPicPr>
          <p:nvPr/>
        </p:nvPicPr>
        <p:blipFill>
          <a:blip r:embed="rId3"/>
          <a:stretch>
            <a:fillRect/>
          </a:stretch>
        </p:blipFill>
        <p:spPr>
          <a:xfrm>
            <a:off x="0" y="2095500"/>
            <a:ext cx="4762500" cy="4762500"/>
          </a:xfrm>
          <a:prstGeom prst="rect">
            <a:avLst/>
          </a:prstGeom>
        </p:spPr>
      </p:pic>
    </p:spTree>
    <p:extLst>
      <p:ext uri="{BB962C8B-B14F-4D97-AF65-F5344CB8AC3E}">
        <p14:creationId xmlns:p14="http://schemas.microsoft.com/office/powerpoint/2010/main" val="109263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FFF5"/>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8E93CA-FB42-8E45-9C54-5AF3A78D6500}"/>
              </a:ext>
            </a:extLst>
          </p:cNvPr>
          <p:cNvSpPr>
            <a:spLocks noGrp="1"/>
          </p:cNvSpPr>
          <p:nvPr>
            <p:ph type="title"/>
          </p:nvPr>
        </p:nvSpPr>
        <p:spPr>
          <a:ln w="9525">
            <a:solidFill>
              <a:srgbClr val="C8C8C8"/>
            </a:solidFill>
          </a:ln>
        </p:spPr>
        <p:txBody>
          <a:bodyPr>
            <a:normAutofit/>
          </a:bodyPr>
          <a:lstStyle/>
          <a:p>
            <a:r>
              <a:rPr lang="he-IL" sz="4000">
                <a:solidFill>
                  <a:srgbClr val="006652"/>
                </a:solidFill>
                <a:latin typeface="David" panose="020E0502060401010101" pitchFamily="34" charset="-79"/>
              </a:rPr>
              <a:t>שימושים מעשיים מותרים</a:t>
            </a:r>
          </a:p>
        </p:txBody>
      </p:sp>
      <p:sp>
        <p:nvSpPr>
          <p:cNvPr id="3" name="מציין מיקום טקסט 2">
            <a:extLst>
              <a:ext uri="{FF2B5EF4-FFF2-40B4-BE49-F238E27FC236}">
                <a16:creationId xmlns:a16="http://schemas.microsoft.com/office/drawing/2014/main" id="{159ED46E-36B0-6758-BA89-0386701F4382}"/>
              </a:ext>
            </a:extLst>
          </p:cNvPr>
          <p:cNvSpPr>
            <a:spLocks noGrp="1"/>
          </p:cNvSpPr>
          <p:nvPr>
            <p:ph type="body" idx="1"/>
          </p:nvPr>
        </p:nvSpPr>
        <p:spPr>
          <a:ln w="9525">
            <a:solidFill>
              <a:srgbClr val="C8C8C8"/>
            </a:solidFill>
          </a:ln>
        </p:spPr>
        <p:txBody>
          <a:bodyPr>
            <a:normAutofit/>
          </a:bodyPr>
          <a:lstStyle/>
          <a:p>
            <a:r>
              <a:rPr lang="he-IL">
                <a:solidFill>
                  <a:srgbClr val="336652"/>
                </a:solidFill>
                <a:latin typeface="David" panose="020E0502060401010101" pitchFamily="34" charset="-79"/>
              </a:rPr>
              <a:t>• סיוע בלימוד תורה</a:t>
            </a:r>
          </a:p>
          <a:p>
            <a:r>
              <a:rPr lang="he-IL">
                <a:solidFill>
                  <a:srgbClr val="336652"/>
                </a:solidFill>
                <a:latin typeface="David" panose="020E0502060401010101" pitchFamily="34" charset="-79"/>
              </a:rPr>
              <a:t>• עזר בניהול הבית</a:t>
            </a:r>
          </a:p>
          <a:p>
            <a:r>
              <a:rPr lang="he-IL">
                <a:solidFill>
                  <a:srgbClr val="336652"/>
                </a:solidFill>
                <a:latin typeface="David" panose="020E0502060401010101" pitchFamily="34" charset="-79"/>
              </a:rPr>
              <a:t>• תמיכה בשירותי קהילה</a:t>
            </a:r>
          </a:p>
          <a:p>
            <a:r>
              <a:rPr lang="he-IL">
                <a:solidFill>
                  <a:srgbClr val="336652"/>
                </a:solidFill>
                <a:latin typeface="David" panose="020E0502060401010101" pitchFamily="34" charset="-79"/>
              </a:rPr>
              <a:t>• מערכות בטיחות וביטחון</a:t>
            </a:r>
          </a:p>
        </p:txBody>
      </p:sp>
    </p:spTree>
    <p:extLst>
      <p:ext uri="{BB962C8B-B14F-4D97-AF65-F5344CB8AC3E}">
        <p14:creationId xmlns:p14="http://schemas.microsoft.com/office/powerpoint/2010/main" val="1768186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6FF"/>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A6F4767-536D-40BA-A4E6-34C1C92289D0}"/>
              </a:ext>
            </a:extLst>
          </p:cNvPr>
          <p:cNvSpPr>
            <a:spLocks noGrp="1"/>
          </p:cNvSpPr>
          <p:nvPr>
            <p:ph type="title"/>
          </p:nvPr>
        </p:nvSpPr>
        <p:spPr>
          <a:ln w="9525">
            <a:solidFill>
              <a:srgbClr val="C8C8C8"/>
            </a:solidFill>
          </a:ln>
        </p:spPr>
        <p:txBody>
          <a:bodyPr>
            <a:normAutofit/>
          </a:bodyPr>
          <a:lstStyle/>
          <a:p>
            <a:r>
              <a:rPr lang="he-IL" sz="4000">
                <a:solidFill>
                  <a:srgbClr val="663399"/>
                </a:solidFill>
                <a:latin typeface="David" panose="020E0502060401010101" pitchFamily="34" charset="-79"/>
              </a:rPr>
              <a:t>המלצות ליישום</a:t>
            </a:r>
          </a:p>
        </p:txBody>
      </p:sp>
      <p:sp>
        <p:nvSpPr>
          <p:cNvPr id="3" name="מציין מיקום טקסט 2">
            <a:extLst>
              <a:ext uri="{FF2B5EF4-FFF2-40B4-BE49-F238E27FC236}">
                <a16:creationId xmlns:a16="http://schemas.microsoft.com/office/drawing/2014/main" id="{CFAC2E3F-71DB-42DC-AC39-FDABFE585981}"/>
              </a:ext>
            </a:extLst>
          </p:cNvPr>
          <p:cNvSpPr>
            <a:spLocks noGrp="1"/>
          </p:cNvSpPr>
          <p:nvPr>
            <p:ph type="body" idx="1"/>
          </p:nvPr>
        </p:nvSpPr>
        <p:spPr>
          <a:ln w="9525">
            <a:solidFill>
              <a:srgbClr val="C8C8C8"/>
            </a:solidFill>
          </a:ln>
        </p:spPr>
        <p:txBody>
          <a:bodyPr>
            <a:normAutofit/>
          </a:bodyPr>
          <a:lstStyle/>
          <a:p>
            <a:r>
              <a:rPr lang="he-IL">
                <a:solidFill>
                  <a:srgbClr val="52337A"/>
                </a:solidFill>
                <a:latin typeface="David" panose="020E0502060401010101" pitchFamily="34" charset="-79"/>
              </a:rPr>
              <a:t>• התייעצות עם רב מוסמך</a:t>
            </a:r>
          </a:p>
          <a:p>
            <a:r>
              <a:rPr lang="he-IL">
                <a:solidFill>
                  <a:srgbClr val="52337A"/>
                </a:solidFill>
                <a:latin typeface="David" panose="020E0502060401010101" pitchFamily="34" charset="-79"/>
              </a:rPr>
              <a:t>• בדיקת כל מערכת לגופה</a:t>
            </a:r>
          </a:p>
          <a:p>
            <a:r>
              <a:rPr lang="he-IL">
                <a:solidFill>
                  <a:srgbClr val="52337A"/>
                </a:solidFill>
                <a:latin typeface="David" panose="020E0502060401010101" pitchFamily="34" charset="-79"/>
              </a:rPr>
              <a:t>• שימוש במערכות מאושרות</a:t>
            </a:r>
          </a:p>
          <a:p>
            <a:r>
              <a:rPr lang="he-IL">
                <a:solidFill>
                  <a:srgbClr val="52337A"/>
                </a:solidFill>
                <a:latin typeface="David" panose="020E0502060401010101" pitchFamily="34" charset="-79"/>
              </a:rPr>
              <a:t>• הקפדה על גדרי ההלכה</a:t>
            </a:r>
          </a:p>
        </p:txBody>
      </p:sp>
    </p:spTree>
    <p:extLst>
      <p:ext uri="{BB962C8B-B14F-4D97-AF65-F5344CB8AC3E}">
        <p14:creationId xmlns:p14="http://schemas.microsoft.com/office/powerpoint/2010/main" val="1497798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BB342D-E64C-7035-D420-A741577ACA09}"/>
              </a:ext>
            </a:extLst>
          </p:cNvPr>
          <p:cNvSpPr>
            <a:spLocks noGrp="1"/>
          </p:cNvSpPr>
          <p:nvPr>
            <p:ph type="title"/>
          </p:nvPr>
        </p:nvSpPr>
        <p:spPr>
          <a:ln w="9525">
            <a:solidFill>
              <a:srgbClr val="C8C8C8"/>
            </a:solidFill>
          </a:ln>
        </p:spPr>
        <p:txBody>
          <a:bodyPr>
            <a:normAutofit/>
          </a:bodyPr>
          <a:lstStyle/>
          <a:p>
            <a:r>
              <a:rPr lang="he-IL" sz="4000">
                <a:solidFill>
                  <a:srgbClr val="005299"/>
                </a:solidFill>
                <a:latin typeface="David" panose="020E0502060401010101" pitchFamily="34" charset="-79"/>
              </a:rPr>
              <a:t>סיכום</a:t>
            </a:r>
          </a:p>
        </p:txBody>
      </p:sp>
      <p:sp>
        <p:nvSpPr>
          <p:cNvPr id="3" name="מציין מיקום טקסט 2">
            <a:extLst>
              <a:ext uri="{FF2B5EF4-FFF2-40B4-BE49-F238E27FC236}">
                <a16:creationId xmlns:a16="http://schemas.microsoft.com/office/drawing/2014/main" id="{E57BE222-E513-24DB-2519-8E651C058E1C}"/>
              </a:ext>
            </a:extLst>
          </p:cNvPr>
          <p:cNvSpPr>
            <a:spLocks noGrp="1"/>
          </p:cNvSpPr>
          <p:nvPr>
            <p:ph type="body" idx="1"/>
          </p:nvPr>
        </p:nvSpPr>
        <p:spPr>
          <a:ln w="9525">
            <a:solidFill>
              <a:srgbClr val="C8C8C8"/>
            </a:solidFill>
          </a:ln>
        </p:spPr>
        <p:txBody>
          <a:bodyPr>
            <a:normAutofit/>
          </a:bodyPr>
          <a:lstStyle/>
          <a:p>
            <a:r>
              <a:rPr lang="he-IL">
                <a:solidFill>
                  <a:srgbClr val="29527A"/>
                </a:solidFill>
                <a:latin typeface="David" panose="020E0502060401010101" pitchFamily="34" charset="-79"/>
              </a:rPr>
              <a:t>"חכמת אדם תאיר פניו" (קהלת ח׳, א׳)</a:t>
            </a:r>
          </a:p>
          <a:p>
            <a:r>
              <a:rPr lang="he-IL">
                <a:solidFill>
                  <a:srgbClr val="29527A"/>
                </a:solidFill>
                <a:latin typeface="David" panose="020E0502060401010101" pitchFamily="34" charset="-79"/>
              </a:rPr>
              <a:t>• שילוב נכון בין קדמה למסורת</a:t>
            </a:r>
          </a:p>
          <a:p>
            <a:r>
              <a:rPr lang="he-IL">
                <a:solidFill>
                  <a:srgbClr val="29527A"/>
                </a:solidFill>
                <a:latin typeface="David" panose="020E0502060401010101" pitchFamily="34" charset="-79"/>
              </a:rPr>
              <a:t>• שמירה על רוח ההלכה</a:t>
            </a:r>
          </a:p>
          <a:p>
            <a:r>
              <a:rPr lang="he-IL">
                <a:solidFill>
                  <a:srgbClr val="29527A"/>
                </a:solidFill>
                <a:latin typeface="David" panose="020E0502060401010101" pitchFamily="34" charset="-79"/>
              </a:rPr>
              <a:t>• קידום הקהילה בדרך התורה</a:t>
            </a:r>
          </a:p>
        </p:txBody>
      </p:sp>
    </p:spTree>
    <p:extLst>
      <p:ext uri="{BB962C8B-B14F-4D97-AF65-F5344CB8AC3E}">
        <p14:creationId xmlns:p14="http://schemas.microsoft.com/office/powerpoint/2010/main" val="551719628"/>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957</TotalTime>
  <Words>1006</Words>
  <Application>Microsoft Office PowerPoint</Application>
  <PresentationFormat>מסך רחב</PresentationFormat>
  <Paragraphs>96</Paragraphs>
  <Slides>9</Slides>
  <Notes>9</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9</vt:i4>
      </vt:variant>
    </vt:vector>
  </HeadingPairs>
  <TitlesOfParts>
    <vt:vector size="15" baseType="lpstr">
      <vt:lpstr>Aptos</vt:lpstr>
      <vt:lpstr>Aptos Display</vt:lpstr>
      <vt:lpstr>Arial</vt:lpstr>
      <vt:lpstr>David</vt:lpstr>
      <vt:lpstr>Rubik</vt:lpstr>
      <vt:lpstr>ערכת נושא Office</vt:lpstr>
      <vt:lpstr>בינה מלאכותית בעולם החרדי</vt:lpstr>
      <vt:lpstr>סוגיות הלכתיות מרכזיות</vt:lpstr>
      <vt:lpstr>עקרונות הלכתיים בסיסיים</vt:lpstr>
      <vt:lpstr>דיבור הוי כמעשה</vt:lpstr>
      <vt:lpstr>שימוש במערכות חכמות</vt:lpstr>
      <vt:lpstr>פתרונות הלכתיים אפשריים</vt:lpstr>
      <vt:lpstr>שימושים מעשיים מותרים</vt:lpstr>
      <vt:lpstr>המלצות ליישום</vt:lpstr>
      <vt:lpstr>סיכום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8</cp:revision>
  <dcterms:created xsi:type="dcterms:W3CDTF">2025-01-21T12:46:11Z</dcterms:created>
  <dcterms:modified xsi:type="dcterms:W3CDTF">2026-10-15T18:05:25Z</dcterms:modified>
</cp:coreProperties>
</file>