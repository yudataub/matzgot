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1" r:id="rId2"/>
  </p:sldMasterIdLst>
  <p:sldIdLst>
    <p:sldId id="256" r:id="rId3"/>
    <p:sldId id="257" r:id="rId4"/>
    <p:sldId id="258" r:id="rId5"/>
    <p:sldId id="268" r:id="rId6"/>
    <p:sldId id="269" r:id="rId7"/>
    <p:sldId id="259" r:id="rId8"/>
    <p:sldId id="260" r:id="rId9"/>
    <p:sldId id="261" r:id="rId10"/>
    <p:sldId id="262" r:id="rId11"/>
    <p:sldId id="263" r:id="rId12"/>
    <p:sldId id="264" r:id="rId13"/>
    <p:sldId id="265" r:id="rId14"/>
    <p:sldId id="266" r:id="rId15"/>
    <p:sldId id="267" r:id="rId16"/>
    <p:sldId id="270" r:id="rId17"/>
    <p:sldId id="271" r:id="rId18"/>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Grid="0">
      <p:cViewPr varScale="1">
        <p:scale>
          <a:sx n="83" d="100"/>
          <a:sy n="83" d="100"/>
        </p:scale>
        <p:origin x="65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64D62D5-C756-039B-1B49-C0338C4FA1D0}"/>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A392987A-6A50-0DC4-3FB5-A332F6A99E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20F6A6A3-068C-DA2F-3E36-0889341EA3A1}"/>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EFF9FC18-6192-88E6-B5F8-7644B784260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833872E-9692-0348-E79B-DFB1A9D8D208}"/>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3311128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F74BD0-2607-DC72-0B03-B49CD4F9A5F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693F2310-9707-ED0B-F67A-87D7FC2D8993}"/>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FBCFE012-167C-5A2C-5EE4-C23D06BB86C7}"/>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A7FD721F-CC9C-F8E5-950B-033F7A11FF3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8EF9890F-9110-2594-4DB7-8AC295F752A8}"/>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1299681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D702431-68F3-E2EA-B6CA-53C1884AD890}"/>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172E726-9C18-670C-E5C3-C91796DFFE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6151A7E7-BAE0-3F67-A731-5B755F7904E6}"/>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48D4D250-EC79-95B0-BF1D-99786E61197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0DB224C-9863-B30D-EEBF-C1E4C9641B36}"/>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1601565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41AF4C-01EC-4AB1-FE87-9DA22375F64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CFE3CD4-D90A-5011-770C-A5790D2C1654}"/>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F360A486-8DBE-B6B2-B838-295636EE782C}"/>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EA28AFE4-95DA-B8BA-91CB-CFF491F4E3F2}"/>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F15853EE-54BE-DD87-E636-A78A9A2C994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6ECDC6C5-BEA9-141C-F14C-2CED3AD47D0D}"/>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589243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ECFD8A6-5263-9F69-CF86-BFB430301E9D}"/>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0067B842-5CFC-8D5D-7A12-5EA32C12A7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5549549D-F392-F315-E2D7-C59E2328D5D1}"/>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F915A519-BB36-67EC-FEB0-0482A4298F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B90875E2-5628-3D55-707D-4060C974C410}"/>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43290AAF-4591-ADAC-00F3-317612796508}"/>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8" name="מציין מיקום של כותרת תחתונה 7">
            <a:extLst>
              <a:ext uri="{FF2B5EF4-FFF2-40B4-BE49-F238E27FC236}">
                <a16:creationId xmlns:a16="http://schemas.microsoft.com/office/drawing/2014/main" id="{0BD75990-066D-34DD-32A9-872A297B4952}"/>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B6A97B05-F311-6CFD-2ADE-2659B1868AED}"/>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1332101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0D4BC1-13D0-FB9A-7188-A9B44E868F4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1A98496A-14A7-6114-BC55-2AB2814FBC47}"/>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4" name="מציין מיקום של כותרת תחתונה 3">
            <a:extLst>
              <a:ext uri="{FF2B5EF4-FFF2-40B4-BE49-F238E27FC236}">
                <a16:creationId xmlns:a16="http://schemas.microsoft.com/office/drawing/2014/main" id="{8B2A9A4D-843D-E119-1986-C3E2E235A6AE}"/>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B1E4F367-6BDB-D1EA-7B37-0132239D6EE1}"/>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216179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C6C20840-87BB-C9D3-2C38-86A7E15551E3}"/>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3" name="מציין מיקום של כותרת תחתונה 2">
            <a:extLst>
              <a:ext uri="{FF2B5EF4-FFF2-40B4-BE49-F238E27FC236}">
                <a16:creationId xmlns:a16="http://schemas.microsoft.com/office/drawing/2014/main" id="{E50FDB07-2B81-56EF-6903-75B38DC707BC}"/>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F463DC60-5521-A9DD-97F7-9C92F7DD20C9}"/>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3121612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DF3601-2A07-2C7C-1A2E-FF36437ECD31}"/>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DBCAE16D-3834-A645-59BC-B9CE23D530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AB27F8B5-1BFB-6D04-FA6D-43BBEC3FD4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6131CE9E-976E-9CD0-6466-CBC968A1351D}"/>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0E0B6F8B-6EA5-A51D-BDA2-CE092EA2F4D2}"/>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6BB9CF31-57E9-7C84-0D21-4FF973015429}"/>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2855884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DFE136F-0250-4CF4-F04C-BD99CA2875C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C32662EF-5CD6-416C-9F1E-9529C29FB2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D05875EE-4288-100D-57B2-9B463DA0BB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E8678EF-77D4-6885-1E9A-BD3A9E3C6769}"/>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BAE7B0EC-88C5-4A36-E649-9D41B7AF23C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B4F7925-82F4-9531-ED61-06436CDFD28A}"/>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887946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B895DEC-F44E-427C-6F73-DE11577967A0}"/>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13F2771-6827-1502-19FE-D6D3928CDCD8}"/>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9D7EEDB-D5DE-C11E-44B3-B862AD1489DB}"/>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1C26DC13-B296-5674-1E13-ECB53075352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E058863-660A-4724-4591-80B466D7E295}"/>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1836285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D3EB1AA6-1949-6850-435F-A5F4ABFAC95C}"/>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1B195EBF-5736-0FA1-32CC-3EB006E87209}"/>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790BBB98-1F47-47CA-881E-BC92FAE7A406}"/>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4B75A95E-3121-EB50-A8FD-74547CC0024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2EFD3AB-9D5F-88FE-1297-350E72CFAAA9}"/>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434601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כותרת וטקסט">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322D84-97D5-A45D-4A45-276A37AEB3A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01C11314-B8B0-56E7-1F8E-E3F8D50D88DC}"/>
              </a:ext>
            </a:extLst>
          </p:cNvPr>
          <p:cNvSpPr>
            <a:spLocks noGrp="1"/>
          </p:cNvSpPr>
          <p:nvPr>
            <p:ph type="body"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FB0730D-97A3-D451-1F27-B6A760ED8052}"/>
              </a:ext>
            </a:extLst>
          </p:cNvPr>
          <p:cNvSpPr>
            <a:spLocks noGrp="1"/>
          </p:cNvSpPr>
          <p:nvPr>
            <p:ph type="dt" sz="half" idx="10"/>
          </p:nvPr>
        </p:nvSpPr>
        <p:spPr/>
        <p:txBody>
          <a:bodyPr/>
          <a:lstStyle/>
          <a:p>
            <a:fld id="{6983E1D2-7553-4D85-AB2E-C09ABF076318}"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62273CC8-0372-3830-239E-1ABBEE0AA4F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6103EB6-60E0-C079-1F47-D1894A55A632}"/>
              </a:ext>
            </a:extLst>
          </p:cNvPr>
          <p:cNvSpPr>
            <a:spLocks noGrp="1"/>
          </p:cNvSpPr>
          <p:nvPr>
            <p:ph type="sldNum" sz="quarter" idx="12"/>
          </p:nvPr>
        </p:nvSpPr>
        <p:spPr/>
        <p:txBody>
          <a:bodyPr/>
          <a:lstStyle/>
          <a:p>
            <a:fld id="{8D89B811-3188-4F6C-9A67-EF6AABFD89BC}" type="slidenum">
              <a:rPr lang="he-IL" smtClean="0"/>
              <a:t>‹#›</a:t>
            </a:fld>
            <a:endParaRPr lang="he-IL"/>
          </a:p>
        </p:txBody>
      </p:sp>
    </p:spTree>
    <p:extLst>
      <p:ext uri="{BB962C8B-B14F-4D97-AF65-F5344CB8AC3E}">
        <p14:creationId xmlns:p14="http://schemas.microsoft.com/office/powerpoint/2010/main" val="70653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90C694A-E1A2-30CD-6D78-95092912EEFF}"/>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C2D9A142-9692-90A3-47FB-E0838B4636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EEAEB13D-024E-CCDF-0D59-9B58FFF57821}"/>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CE60D31C-C7E5-D8A0-98B2-DD98C9C9647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4E87CC2-A7B0-2E9C-92F4-987AF97F4EA6}"/>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39355927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C5C854F-0C6E-56D7-7F44-79D4D2B02C6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937F7DD-2980-50E6-55AF-7E4A1141A4C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6278D90-EAD7-B063-8C18-0CCECCBC4E7D}"/>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3D9D9E30-09A8-28D7-B6C8-442E4F6183E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CA819AE-468D-8078-6482-8E8D2BD5CD60}"/>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3594415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EC25D28-4B01-33E4-A417-1DD0AA12D045}"/>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D00637B2-D15A-8008-9DE4-2647548A8E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32AE9F3-8FF5-607E-364C-FFFB7114E49D}"/>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7356C2CB-D728-4E65-4C7B-2CDFF86CAAC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D2DA2CB-87FD-0325-1E0B-F9FBAF0FCA61}"/>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10096941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191B567-CD1F-A9EB-9016-3F4CBFB8689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B04F50F-709F-1A5D-3B0F-618526376BA4}"/>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86F13290-DDE8-FE5C-C4A5-254C1D1C02F9}"/>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37AD1FAF-81CF-BDAD-49E7-8ADBF05AF886}"/>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9BC36541-C5B6-A237-5E2B-C7D8373E4278}"/>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49A0E553-2342-DC06-A659-3328ECAC80BD}"/>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40937916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CB4E0BE-041F-4C06-B174-2441A64E869D}"/>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34D7DA35-11AA-A6C1-920A-AE59CE2FA0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FFA7BEB-0F25-02CC-8AF3-71B3D3390046}"/>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65EED566-DD61-1176-B626-423657BA55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F330FAB3-F539-11D4-376E-CF476EAFDF61}"/>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B8EE1A59-C3A1-2EEE-405F-73B1274956ED}"/>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8" name="מציין מיקום של כותרת תחתונה 7">
            <a:extLst>
              <a:ext uri="{FF2B5EF4-FFF2-40B4-BE49-F238E27FC236}">
                <a16:creationId xmlns:a16="http://schemas.microsoft.com/office/drawing/2014/main" id="{25D71C99-02C7-0A97-61DB-BB2B5DAD5563}"/>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319AB741-A818-C7C6-4B86-5CC66A2EA1F8}"/>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1520200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D57597A-B5AB-91A2-AB39-FFAC485132E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00A5A73B-0A92-4A43-C766-F238437B77F4}"/>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4" name="מציין מיקום של כותרת תחתונה 3">
            <a:extLst>
              <a:ext uri="{FF2B5EF4-FFF2-40B4-BE49-F238E27FC236}">
                <a16:creationId xmlns:a16="http://schemas.microsoft.com/office/drawing/2014/main" id="{07B8707B-5E72-473B-33D6-19382AA98348}"/>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98BA3B50-B6D2-EBA0-931D-401DC38657F3}"/>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3030515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295478DD-86ED-13BC-06D8-97EC8CE81164}"/>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3" name="מציין מיקום של כותרת תחתונה 2">
            <a:extLst>
              <a:ext uri="{FF2B5EF4-FFF2-40B4-BE49-F238E27FC236}">
                <a16:creationId xmlns:a16="http://schemas.microsoft.com/office/drawing/2014/main" id="{7D5CF6C8-BFC3-2351-CA89-207A347AC9F4}"/>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28334AA-4371-29BA-DE88-EE16671DBFF8}"/>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8216449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48D7D3-9CDD-587A-2FE2-A07D513C4A93}"/>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B897E43-28C0-72E7-9B2D-90B2280D11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EC2277AC-D4B8-7013-0BB8-8344DF7457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C4E9AA8-8D79-DD7F-C461-59D6E1A638FB}"/>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F0CEA983-C206-453F-FAD6-470450A79F6F}"/>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686BFAD-315F-43D2-2FA5-255CD7539A3F}"/>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25850071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A6969F5-B439-6B36-8B53-350D1DCE352A}"/>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C667CF71-4383-228F-5B47-A3D750E48D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F32B09A0-8E95-F3A3-74C9-97A368C033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FAB5E6B-E33D-62DA-25F7-AD4B58FFCBDD}"/>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51B1DB0C-186E-2617-E292-66B49638BBD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4691AF20-54FB-7ABC-3688-DA54B7DE5BDA}"/>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29630865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894104-D717-32E1-6D19-C3DF7EB51D9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7461A37-E07E-5D13-B814-5ADFCEA3FA71}"/>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26504C8-2411-661A-2345-7AEC7C489646}"/>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12A7B571-2FCC-D558-DE89-053FAE9402A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BA7A190-ACE8-D53A-3768-12ED80C55D89}"/>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38321543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9D3EAD7E-E5BD-704A-9025-F4B104D1BDA3}"/>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234AE61-0B28-5E1A-505C-1E93B1CFE5DD}"/>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3319EDD-809C-972F-0FDF-B38B2AE1DE92}"/>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CF5BA57F-32A4-CBBA-D2BE-15B5557F74E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BAF12C0-931C-75EA-0659-13CA93936DFB}"/>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37836116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כותרת וטקסט">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7EBD4A7-ADC1-7119-FB84-C4DB4EB15E0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28C73DE-77B2-9666-CE66-E33B8E44B021}"/>
              </a:ext>
            </a:extLst>
          </p:cNvPr>
          <p:cNvSpPr>
            <a:spLocks noGrp="1"/>
          </p:cNvSpPr>
          <p:nvPr>
            <p:ph type="body"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C47592D9-8E99-1E1B-E2F5-051F0F8F65FF}"/>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A0478E14-F1D3-91EF-6EF1-205E6D54A8B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2BB08B66-AA5C-30F9-C9D5-AC7F38720FE9}"/>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3352948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5C7C148D-48EE-5619-2415-7695DC14AFCB}"/>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02352CE-7A2C-5784-5764-6CB32077543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55A9F8F-283E-7D20-0362-208FFF58C82A}"/>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6983E1D2-7553-4D85-AB2E-C09ABF076318}"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A86CBD34-D06A-5066-F3D5-22D4E04E6E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1CA42F3B-5751-29E9-7A20-E6DFC01342A1}"/>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8D89B811-3188-4F6C-9A67-EF6AABFD89BC}" type="slidenum">
              <a:rPr lang="he-IL" smtClean="0"/>
              <a:t>‹#›</a:t>
            </a:fld>
            <a:endParaRPr lang="he-IL"/>
          </a:p>
        </p:txBody>
      </p:sp>
    </p:spTree>
    <p:extLst>
      <p:ext uri="{BB962C8B-B14F-4D97-AF65-F5344CB8AC3E}">
        <p14:creationId xmlns:p14="http://schemas.microsoft.com/office/powerpoint/2010/main" val="1989272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4CFF2815-1F46-879E-7ECA-5A4D2E05CBA6}"/>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A0696C4-2EFA-FA38-F36C-6FF076CC7A3A}"/>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18F14F5-6C96-DE0D-CFA4-983B579B6899}"/>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331B19FD-0773-DF94-B9A0-82D935ECC8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8409E2DF-B126-5BFE-01A5-9F335E2B15C0}"/>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0CE3DF40-38FA-4D65-98E4-39A214A6EED4}" type="slidenum">
              <a:rPr lang="he-IL" smtClean="0"/>
              <a:t>‹#›</a:t>
            </a:fld>
            <a:endParaRPr lang="he-IL"/>
          </a:p>
        </p:txBody>
      </p:sp>
    </p:spTree>
    <p:extLst>
      <p:ext uri="{BB962C8B-B14F-4D97-AF65-F5344CB8AC3E}">
        <p14:creationId xmlns:p14="http://schemas.microsoft.com/office/powerpoint/2010/main" val="235314296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1E79481-AC91-AA4B-974D-1031B1A4DC4C}"/>
              </a:ext>
            </a:extLst>
          </p:cNvPr>
          <p:cNvSpPr>
            <a:spLocks noGrp="1"/>
          </p:cNvSpPr>
          <p:nvPr>
            <p:ph type="title"/>
          </p:nvPr>
        </p:nvSpPr>
        <p:spPr/>
        <p:txBody>
          <a:bodyPr>
            <a:normAutofit/>
          </a:bodyPr>
          <a:lstStyle/>
          <a:p>
            <a:r>
              <a:rPr lang="he-IL">
                <a:solidFill>
                  <a:srgbClr val="000080"/>
                </a:solidFill>
                <a:latin typeface="David" panose="020E0502060401010101" pitchFamily="34" charset="-79"/>
              </a:rPr>
              <a:t>מאה ברכות - עומק רוחני וחיי יומיום</a:t>
            </a:r>
          </a:p>
        </p:txBody>
      </p:sp>
      <p:sp>
        <p:nvSpPr>
          <p:cNvPr id="3" name="מציין מיקום טקסט 2">
            <a:extLst>
              <a:ext uri="{FF2B5EF4-FFF2-40B4-BE49-F238E27FC236}">
                <a16:creationId xmlns:a16="http://schemas.microsoft.com/office/drawing/2014/main" id="{EC4C89B8-23A6-7EAD-8556-99A56DDB7418}"/>
              </a:ext>
            </a:extLst>
          </p:cNvPr>
          <p:cNvSpPr>
            <a:spLocks noGrp="1"/>
          </p:cNvSpPr>
          <p:nvPr>
            <p:ph type="body" idx="1"/>
          </p:nvPr>
        </p:nvSpPr>
        <p:spPr/>
        <p:txBody>
          <a:bodyPr>
            <a:normAutofit/>
          </a:bodyPr>
          <a:lstStyle/>
          <a:p>
            <a:r>
              <a:rPr lang="he-IL">
                <a:latin typeface="David" panose="020E0502060401010101" pitchFamily="34" charset="-79"/>
              </a:rPr>
              <a:t>תקנת דוד המלך והשפעתה לדורות</a:t>
            </a:r>
          </a:p>
          <a:p>
            <a:r>
              <a:rPr lang="he-IL">
                <a:latin typeface="David" panose="020E0502060401010101" pitchFamily="34" charset="-79"/>
              </a:rPr>
              <a:t>מסע אל עולם הברכה וההודיה</a:t>
            </a:r>
          </a:p>
        </p:txBody>
      </p:sp>
    </p:spTree>
    <p:extLst>
      <p:ext uri="{BB962C8B-B14F-4D97-AF65-F5344CB8AC3E}">
        <p14:creationId xmlns:p14="http://schemas.microsoft.com/office/powerpoint/2010/main" val="1979708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D0DC732-8AC5-027E-F85D-83A101778AC9}"/>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כוחה של ברכה בימי דוד המלך</a:t>
            </a:r>
          </a:p>
        </p:txBody>
      </p:sp>
      <p:sp>
        <p:nvSpPr>
          <p:cNvPr id="3" name="מציין מיקום טקסט 2">
            <a:extLst>
              <a:ext uri="{FF2B5EF4-FFF2-40B4-BE49-F238E27FC236}">
                <a16:creationId xmlns:a16="http://schemas.microsoft.com/office/drawing/2014/main" id="{79ED41A9-09BF-B512-6B30-15CCE6820903}"/>
              </a:ext>
            </a:extLst>
          </p:cNvPr>
          <p:cNvSpPr>
            <a:spLocks noGrp="1"/>
          </p:cNvSpPr>
          <p:nvPr>
            <p:ph type="body" idx="1"/>
          </p:nvPr>
        </p:nvSpPr>
        <p:spPr/>
        <p:txBody>
          <a:bodyPr>
            <a:normAutofit/>
          </a:bodyPr>
          <a:lstStyle/>
          <a:p>
            <a:r>
              <a:rPr lang="he-IL" sz="2400">
                <a:latin typeface="David" panose="020E0502060401010101" pitchFamily="34" charset="-79"/>
              </a:rPr>
              <a:t>• מגפה קשה פקדה את עם ישראל</a:t>
            </a:r>
          </a:p>
          <a:p>
            <a:r>
              <a:rPr lang="he-IL" sz="2400">
                <a:latin typeface="David" panose="020E0502060401010101" pitchFamily="34" charset="-79"/>
              </a:rPr>
              <a:t>• מאה אנשים נפטרו מדי יום</a:t>
            </a:r>
          </a:p>
          <a:p>
            <a:r>
              <a:rPr lang="he-IL" sz="2400">
                <a:latin typeface="David" panose="020E0502060401010101" pitchFamily="34" charset="-79"/>
              </a:rPr>
              <a:t>• דוד המלך מקבל התגלות רוחנית</a:t>
            </a:r>
          </a:p>
          <a:p>
            <a:r>
              <a:rPr lang="he-IL" sz="2400">
                <a:latin typeface="David" panose="020E0502060401010101" pitchFamily="34" charset="-79"/>
              </a:rPr>
              <a:t>• תקנת מאה ברכות</a:t>
            </a:r>
          </a:p>
          <a:p>
            <a:r>
              <a:rPr lang="he-IL" sz="2400">
                <a:latin typeface="David" panose="020E0502060401010101" pitchFamily="34" charset="-79"/>
              </a:rPr>
              <a:t>• עצירת המגפה והצלת העם</a:t>
            </a:r>
          </a:p>
        </p:txBody>
      </p:sp>
    </p:spTree>
    <p:extLst>
      <p:ext uri="{BB962C8B-B14F-4D97-AF65-F5344CB8AC3E}">
        <p14:creationId xmlns:p14="http://schemas.microsoft.com/office/powerpoint/2010/main" val="70805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C20297D-7DC3-5598-38D6-04C7D96137D4}"/>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התפתחות המאה ברכות לאורך הדורות</a:t>
            </a:r>
          </a:p>
        </p:txBody>
      </p:sp>
      <p:sp>
        <p:nvSpPr>
          <p:cNvPr id="3" name="מציין מיקום טקסט 2">
            <a:extLst>
              <a:ext uri="{FF2B5EF4-FFF2-40B4-BE49-F238E27FC236}">
                <a16:creationId xmlns:a16="http://schemas.microsoft.com/office/drawing/2014/main" id="{3519B0A0-8063-9128-648E-F0D4DA1C8108}"/>
              </a:ext>
            </a:extLst>
          </p:cNvPr>
          <p:cNvSpPr>
            <a:spLocks noGrp="1"/>
          </p:cNvSpPr>
          <p:nvPr>
            <p:ph type="body" idx="1"/>
          </p:nvPr>
        </p:nvSpPr>
        <p:spPr/>
        <p:txBody>
          <a:bodyPr>
            <a:normAutofit/>
          </a:bodyPr>
          <a:lstStyle/>
          <a:p>
            <a:r>
              <a:rPr lang="he-IL" sz="2400">
                <a:latin typeface="David" panose="020E0502060401010101" pitchFamily="34" charset="-79"/>
              </a:rPr>
              <a:t>תקופת משה רבינו:</a:t>
            </a:r>
          </a:p>
          <a:p>
            <a:r>
              <a:rPr lang="he-IL" sz="2400">
                <a:latin typeface="David" panose="020E0502060401010101" pitchFamily="34" charset="-79"/>
              </a:rPr>
              <a:t>• ברכות אישיות לפי הלב</a:t>
            </a:r>
          </a:p>
          <a:p>
            <a:endParaRPr lang="he-IL" sz="2400">
              <a:latin typeface="David" panose="020E0502060401010101" pitchFamily="34" charset="-79"/>
            </a:endParaRPr>
          </a:p>
          <a:p>
            <a:r>
              <a:rPr lang="he-IL" sz="2400">
                <a:latin typeface="David" panose="020E0502060401010101" pitchFamily="34" charset="-79"/>
              </a:rPr>
              <a:t>תקופת דוד המלך:</a:t>
            </a:r>
          </a:p>
          <a:p>
            <a:r>
              <a:rPr lang="he-IL" sz="2400">
                <a:latin typeface="David" panose="020E0502060401010101" pitchFamily="34" charset="-79"/>
              </a:rPr>
              <a:t>• תקנת מאה ברכות מדויקות</a:t>
            </a:r>
          </a:p>
          <a:p>
            <a:endParaRPr lang="he-IL" sz="2400">
              <a:latin typeface="David" panose="020E0502060401010101" pitchFamily="34" charset="-79"/>
            </a:endParaRPr>
          </a:p>
          <a:p>
            <a:r>
              <a:rPr lang="he-IL" sz="2400">
                <a:latin typeface="David" panose="020E0502060401010101" pitchFamily="34" charset="-79"/>
              </a:rPr>
              <a:t>תקופת אנשי כנסת הגדולה:</a:t>
            </a:r>
          </a:p>
          <a:p>
            <a:r>
              <a:rPr lang="he-IL" sz="2400">
                <a:latin typeface="David" panose="020E0502060401010101" pitchFamily="34" charset="-79"/>
              </a:rPr>
              <a:t>• קביעת נוסח אחיד</a:t>
            </a:r>
          </a:p>
        </p:txBody>
      </p:sp>
    </p:spTree>
    <p:extLst>
      <p:ext uri="{BB962C8B-B14F-4D97-AF65-F5344CB8AC3E}">
        <p14:creationId xmlns:p14="http://schemas.microsoft.com/office/powerpoint/2010/main" val="3954130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F028594-C9FE-58E0-74B9-EB4A857F57E8}"/>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חיוב נשים במאה ברכות</a:t>
            </a:r>
          </a:p>
        </p:txBody>
      </p:sp>
      <p:sp>
        <p:nvSpPr>
          <p:cNvPr id="3" name="מציין מיקום טקסט 2">
            <a:extLst>
              <a:ext uri="{FF2B5EF4-FFF2-40B4-BE49-F238E27FC236}">
                <a16:creationId xmlns:a16="http://schemas.microsoft.com/office/drawing/2014/main" id="{A400C80D-0D5B-5477-4D56-9219A876C0FE}"/>
              </a:ext>
            </a:extLst>
          </p:cNvPr>
          <p:cNvSpPr>
            <a:spLocks noGrp="1"/>
          </p:cNvSpPr>
          <p:nvPr>
            <p:ph type="body" idx="1"/>
          </p:nvPr>
        </p:nvSpPr>
        <p:spPr/>
        <p:txBody>
          <a:bodyPr>
            <a:normAutofit/>
          </a:bodyPr>
          <a:lstStyle/>
          <a:p>
            <a:r>
              <a:rPr lang="he-IL" sz="2400">
                <a:latin typeface="David" panose="020E0502060401010101" pitchFamily="34" charset="-79"/>
              </a:rPr>
              <a:t>שתי גישות מרכזיות:</a:t>
            </a:r>
          </a:p>
          <a:p>
            <a:endParaRPr lang="he-IL" sz="2400">
              <a:latin typeface="David" panose="020E0502060401010101" pitchFamily="34" charset="-79"/>
            </a:endParaRPr>
          </a:p>
          <a:p>
            <a:r>
              <a:rPr lang="he-IL" sz="2400">
                <a:latin typeface="David" panose="020E0502060401010101" pitchFamily="34" charset="-79"/>
              </a:rPr>
              <a:t>המחייבים:</a:t>
            </a:r>
          </a:p>
          <a:p>
            <a:r>
              <a:rPr lang="he-IL" sz="2400">
                <a:latin typeface="David" panose="020E0502060401010101" pitchFamily="34" charset="-79"/>
              </a:rPr>
              <a:t>• נשים צריכות חיים כמו גברים</a:t>
            </a:r>
          </a:p>
          <a:p>
            <a:r>
              <a:rPr lang="he-IL" sz="2400">
                <a:latin typeface="David" panose="020E0502060401010101" pitchFamily="34" charset="-79"/>
              </a:rPr>
              <a:t>• סכנת המגפה שייכת לכולם</a:t>
            </a:r>
          </a:p>
          <a:p>
            <a:endParaRPr lang="he-IL" sz="2400">
              <a:latin typeface="David" panose="020E0502060401010101" pitchFamily="34" charset="-79"/>
            </a:endParaRPr>
          </a:p>
          <a:p>
            <a:r>
              <a:rPr lang="he-IL" sz="2400">
                <a:latin typeface="David" panose="020E0502060401010101" pitchFamily="34" charset="-79"/>
              </a:rPr>
              <a:t>הפוטרים:</a:t>
            </a:r>
          </a:p>
          <a:p>
            <a:r>
              <a:rPr lang="he-IL" sz="2400">
                <a:latin typeface="David" panose="020E0502060401010101" pitchFamily="34" charset="-79"/>
              </a:rPr>
              <a:t>• קושי מעשי בהשגת מאה ברכות</a:t>
            </a:r>
          </a:p>
          <a:p>
            <a:r>
              <a:rPr lang="he-IL" sz="2400">
                <a:latin typeface="David" panose="020E0502060401010101" pitchFamily="34" charset="-79"/>
              </a:rPr>
              <a:t>• אין חיוב בתפילות קבועות</a:t>
            </a:r>
          </a:p>
        </p:txBody>
      </p:sp>
    </p:spTree>
    <p:extLst>
      <p:ext uri="{BB962C8B-B14F-4D97-AF65-F5344CB8AC3E}">
        <p14:creationId xmlns:p14="http://schemas.microsoft.com/office/powerpoint/2010/main" val="592041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27777B2-5E21-B2BD-B7CD-6858EE3842BC}"/>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הלכה למעשה</a:t>
            </a:r>
          </a:p>
        </p:txBody>
      </p:sp>
      <p:sp>
        <p:nvSpPr>
          <p:cNvPr id="3" name="מציין מיקום טקסט 2">
            <a:extLst>
              <a:ext uri="{FF2B5EF4-FFF2-40B4-BE49-F238E27FC236}">
                <a16:creationId xmlns:a16="http://schemas.microsoft.com/office/drawing/2014/main" id="{50656DD6-8816-3BB7-75A7-57315DCD9B8F}"/>
              </a:ext>
            </a:extLst>
          </p:cNvPr>
          <p:cNvSpPr>
            <a:spLocks noGrp="1"/>
          </p:cNvSpPr>
          <p:nvPr>
            <p:ph type="body" idx="1"/>
          </p:nvPr>
        </p:nvSpPr>
        <p:spPr/>
        <p:txBody>
          <a:bodyPr>
            <a:normAutofit/>
          </a:bodyPr>
          <a:lstStyle/>
          <a:p>
            <a:r>
              <a:rPr lang="he-IL" sz="2400">
                <a:latin typeface="David" panose="020E0502060401010101" pitchFamily="34" charset="-79"/>
              </a:rPr>
              <a:t>הצעה מעשית:</a:t>
            </a:r>
          </a:p>
          <a:p>
            <a:endParaRPr lang="he-IL" sz="2400">
              <a:latin typeface="David" panose="020E0502060401010101" pitchFamily="34" charset="-79"/>
            </a:endParaRPr>
          </a:p>
          <a:p>
            <a:r>
              <a:rPr lang="he-IL" sz="2400">
                <a:latin typeface="David" panose="020E0502060401010101" pitchFamily="34" charset="-79"/>
              </a:rPr>
              <a:t>• נשים יכולות לקיים בדרך של הודאה ושבח</a:t>
            </a:r>
          </a:p>
          <a:p>
            <a:r>
              <a:rPr lang="he-IL" sz="2400">
                <a:latin typeface="David" panose="020E0502060401010101" pitchFamily="34" charset="-79"/>
              </a:rPr>
              <a:t>• אין צורך בנוסח קבוע</a:t>
            </a:r>
          </a:p>
          <a:p>
            <a:r>
              <a:rPr lang="he-IL" sz="2400">
                <a:latin typeface="David" panose="020E0502060401010101" pitchFamily="34" charset="-79"/>
              </a:rPr>
              <a:t>• כל ביטוי הודיה נחשב</a:t>
            </a:r>
          </a:p>
          <a:p>
            <a:r>
              <a:rPr lang="he-IL" sz="2400">
                <a:latin typeface="David" panose="020E0502060401010101" pitchFamily="34" charset="-79"/>
              </a:rPr>
              <a:t>• שילוב טבעי בחיי היומיום</a:t>
            </a:r>
          </a:p>
          <a:p>
            <a:r>
              <a:rPr lang="he-IL" sz="2400">
                <a:latin typeface="David" panose="020E0502060401010101" pitchFamily="34" charset="-79"/>
              </a:rPr>
              <a:t>• שמירה על מהות התקנה</a:t>
            </a:r>
          </a:p>
        </p:txBody>
      </p:sp>
    </p:spTree>
    <p:extLst>
      <p:ext uri="{BB962C8B-B14F-4D97-AF65-F5344CB8AC3E}">
        <p14:creationId xmlns:p14="http://schemas.microsoft.com/office/powerpoint/2010/main" val="1846891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C6D448-124E-491E-71B0-2E7DD382F868}"/>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הממד הרוחני של הברכות</a:t>
            </a:r>
          </a:p>
        </p:txBody>
      </p:sp>
      <p:sp>
        <p:nvSpPr>
          <p:cNvPr id="3" name="מציין מיקום טקסט 2">
            <a:extLst>
              <a:ext uri="{FF2B5EF4-FFF2-40B4-BE49-F238E27FC236}">
                <a16:creationId xmlns:a16="http://schemas.microsoft.com/office/drawing/2014/main" id="{FFDC382E-455F-8152-C36A-69B716EA09ED}"/>
              </a:ext>
            </a:extLst>
          </p:cNvPr>
          <p:cNvSpPr>
            <a:spLocks noGrp="1"/>
          </p:cNvSpPr>
          <p:nvPr>
            <p:ph type="body" idx="1"/>
          </p:nvPr>
        </p:nvSpPr>
        <p:spPr/>
        <p:txBody>
          <a:bodyPr>
            <a:normAutofit/>
          </a:bodyPr>
          <a:lstStyle/>
          <a:p>
            <a:r>
              <a:rPr lang="he-IL" sz="2400">
                <a:latin typeface="David" panose="020E0502060401010101" pitchFamily="34" charset="-79"/>
              </a:rPr>
              <a:t>• חיבור יומיומי עם בורא עולם</a:t>
            </a:r>
          </a:p>
          <a:p>
            <a:r>
              <a:rPr lang="he-IL" sz="2400">
                <a:latin typeface="David" panose="020E0502060401010101" pitchFamily="34" charset="-79"/>
              </a:rPr>
              <a:t>• הכרת הטוב על כל פרט בחיים</a:t>
            </a:r>
          </a:p>
          <a:p>
            <a:r>
              <a:rPr lang="he-IL" sz="2400">
                <a:latin typeface="David" panose="020E0502060401010101" pitchFamily="34" charset="-79"/>
              </a:rPr>
              <a:t>• יצירת מודעות רוחנית</a:t>
            </a:r>
          </a:p>
          <a:p>
            <a:r>
              <a:rPr lang="he-IL" sz="2400">
                <a:latin typeface="David" panose="020E0502060401010101" pitchFamily="34" charset="-79"/>
              </a:rPr>
              <a:t>• העלאת החומר לרוח</a:t>
            </a:r>
          </a:p>
          <a:p>
            <a:r>
              <a:rPr lang="he-IL" sz="2400">
                <a:latin typeface="David" panose="020E0502060401010101" pitchFamily="34" charset="-79"/>
              </a:rPr>
              <a:t>• בניית קשר אישי עם הקב"ה</a:t>
            </a:r>
          </a:p>
        </p:txBody>
      </p:sp>
    </p:spTree>
    <p:extLst>
      <p:ext uri="{BB962C8B-B14F-4D97-AF65-F5344CB8AC3E}">
        <p14:creationId xmlns:p14="http://schemas.microsoft.com/office/powerpoint/2010/main" val="2440646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2932C6B-FA88-1AD7-75A0-4AC1A194D160}"/>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מגוון הברכות בחיינו</a:t>
            </a:r>
          </a:p>
        </p:txBody>
      </p:sp>
      <p:sp>
        <p:nvSpPr>
          <p:cNvPr id="3" name="מציין מיקום טקסט 2">
            <a:extLst>
              <a:ext uri="{FF2B5EF4-FFF2-40B4-BE49-F238E27FC236}">
                <a16:creationId xmlns:a16="http://schemas.microsoft.com/office/drawing/2014/main" id="{EDFCA980-9E28-7F9D-64AD-6C8349577546}"/>
              </a:ext>
            </a:extLst>
          </p:cNvPr>
          <p:cNvSpPr>
            <a:spLocks noGrp="1"/>
          </p:cNvSpPr>
          <p:nvPr>
            <p:ph type="body" idx="1"/>
          </p:nvPr>
        </p:nvSpPr>
        <p:spPr/>
        <p:txBody>
          <a:bodyPr>
            <a:normAutofit/>
          </a:bodyPr>
          <a:lstStyle/>
          <a:p>
            <a:r>
              <a:rPr lang="he-IL" sz="2400">
                <a:latin typeface="David" panose="020E0502060401010101" pitchFamily="34" charset="-79"/>
              </a:rPr>
              <a:t>ברכות השחר:</a:t>
            </a:r>
          </a:p>
          <a:p>
            <a:r>
              <a:rPr lang="he-IL" sz="2400">
                <a:latin typeface="David" panose="020E0502060401010101" pitchFamily="34" charset="-79"/>
              </a:rPr>
              <a:t>• פתיחת היום בהודיה</a:t>
            </a:r>
          </a:p>
          <a:p>
            <a:endParaRPr lang="he-IL" sz="2400">
              <a:latin typeface="David" panose="020E0502060401010101" pitchFamily="34" charset="-79"/>
            </a:endParaRPr>
          </a:p>
          <a:p>
            <a:r>
              <a:rPr lang="he-IL" sz="2400">
                <a:latin typeface="David" panose="020E0502060401010101" pitchFamily="34" charset="-79"/>
              </a:rPr>
              <a:t>ברכות הנהנין:</a:t>
            </a:r>
          </a:p>
          <a:p>
            <a:r>
              <a:rPr lang="he-IL" sz="2400">
                <a:latin typeface="David" panose="020E0502060401010101" pitchFamily="34" charset="-79"/>
              </a:rPr>
              <a:t>• קידוש החומר</a:t>
            </a:r>
          </a:p>
          <a:p>
            <a:endParaRPr lang="he-IL" sz="2400">
              <a:latin typeface="David" panose="020E0502060401010101" pitchFamily="34" charset="-79"/>
            </a:endParaRPr>
          </a:p>
          <a:p>
            <a:r>
              <a:rPr lang="he-IL" sz="2400">
                <a:latin typeface="David" panose="020E0502060401010101" pitchFamily="34" charset="-79"/>
              </a:rPr>
              <a:t>ברכות המצוות:</a:t>
            </a:r>
          </a:p>
          <a:p>
            <a:r>
              <a:rPr lang="he-IL" sz="2400">
                <a:latin typeface="David" panose="020E0502060401010101" pitchFamily="34" charset="-79"/>
              </a:rPr>
              <a:t>• התעלות רוחנית</a:t>
            </a:r>
          </a:p>
        </p:txBody>
      </p:sp>
    </p:spTree>
    <p:extLst>
      <p:ext uri="{BB962C8B-B14F-4D97-AF65-F5344CB8AC3E}">
        <p14:creationId xmlns:p14="http://schemas.microsoft.com/office/powerpoint/2010/main" val="3419012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38BB2CA-A410-B4AF-BD90-BDC1D31652E7}"/>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סוד המאה ברכות בתורת הסוד</a:t>
            </a:r>
          </a:p>
        </p:txBody>
      </p:sp>
      <p:sp>
        <p:nvSpPr>
          <p:cNvPr id="3" name="מציין מיקום טקסט 2">
            <a:extLst>
              <a:ext uri="{FF2B5EF4-FFF2-40B4-BE49-F238E27FC236}">
                <a16:creationId xmlns:a16="http://schemas.microsoft.com/office/drawing/2014/main" id="{755EACF9-F61E-CEF9-C76F-6DB529FDB0EE}"/>
              </a:ext>
            </a:extLst>
          </p:cNvPr>
          <p:cNvSpPr>
            <a:spLocks noGrp="1"/>
          </p:cNvSpPr>
          <p:nvPr>
            <p:ph type="body" idx="1"/>
          </p:nvPr>
        </p:nvSpPr>
        <p:spPr/>
        <p:txBody>
          <a:bodyPr>
            <a:normAutofit/>
          </a:bodyPr>
          <a:lstStyle/>
          <a:p>
            <a:r>
              <a:rPr lang="he-IL" sz="2400">
                <a:latin typeface="David" panose="020E0502060401010101" pitchFamily="34" charset="-79"/>
              </a:rPr>
              <a:t>דברי השל"ה הקדוש:</a:t>
            </a:r>
          </a:p>
          <a:p>
            <a:r>
              <a:rPr lang="he-IL" sz="2400">
                <a:latin typeface="David" panose="020E0502060401010101" pitchFamily="34" charset="-79"/>
              </a:rPr>
              <a:t>• 'לך לך' - גימטריא מאה</a:t>
            </a:r>
          </a:p>
          <a:p>
            <a:r>
              <a:rPr lang="he-IL" sz="2400">
                <a:latin typeface="David" panose="020E0502060401010101" pitchFamily="34" charset="-79"/>
              </a:rPr>
              <a:t>• מאה שערים של יצחק</a:t>
            </a:r>
          </a:p>
          <a:p>
            <a:r>
              <a:rPr lang="he-IL" sz="2400">
                <a:latin typeface="David" panose="020E0502060401010101" pitchFamily="34" charset="-79"/>
              </a:rPr>
              <a:t>• מאה קשיטה של יעקב</a:t>
            </a:r>
          </a:p>
          <a:p>
            <a:r>
              <a:rPr lang="he-IL" sz="2400">
                <a:latin typeface="David" panose="020E0502060401010101" pitchFamily="34" charset="-79"/>
              </a:rPr>
              <a:t>• העברת הסוד מדור לדור</a:t>
            </a:r>
          </a:p>
        </p:txBody>
      </p:sp>
    </p:spTree>
    <p:extLst>
      <p:ext uri="{BB962C8B-B14F-4D97-AF65-F5344CB8AC3E}">
        <p14:creationId xmlns:p14="http://schemas.microsoft.com/office/powerpoint/2010/main" val="2849024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6C04B3D-10D4-D346-80C2-E52C327F9CE3}"/>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פתיחת שערי שמים</a:t>
            </a:r>
          </a:p>
        </p:txBody>
      </p:sp>
      <p:sp>
        <p:nvSpPr>
          <p:cNvPr id="3" name="מציין מיקום טקסט 2">
            <a:extLst>
              <a:ext uri="{FF2B5EF4-FFF2-40B4-BE49-F238E27FC236}">
                <a16:creationId xmlns:a16="http://schemas.microsoft.com/office/drawing/2014/main" id="{B724B69F-43A9-695B-0BC3-15155106C465}"/>
              </a:ext>
            </a:extLst>
          </p:cNvPr>
          <p:cNvSpPr>
            <a:spLocks noGrp="1"/>
          </p:cNvSpPr>
          <p:nvPr>
            <p:ph type="body" idx="1"/>
          </p:nvPr>
        </p:nvSpPr>
        <p:spPr/>
        <p:txBody>
          <a:bodyPr>
            <a:normAutofit/>
          </a:bodyPr>
          <a:lstStyle/>
          <a:p>
            <a:r>
              <a:rPr lang="he-IL" sz="2400">
                <a:latin typeface="David" panose="020E0502060401010101" pitchFamily="34" charset="-79"/>
              </a:rPr>
              <a:t>דברי השפת אמת:</a:t>
            </a:r>
          </a:p>
          <a:p>
            <a:r>
              <a:rPr lang="he-IL" sz="2400">
                <a:latin typeface="David" panose="020E0502060401010101" pitchFamily="34" charset="-79"/>
              </a:rPr>
              <a:t>• הברכות פותחות שערים</a:t>
            </a:r>
          </a:p>
          <a:p>
            <a:r>
              <a:rPr lang="he-IL" sz="2400">
                <a:latin typeface="David" panose="020E0502060401010101" pitchFamily="34" charset="-79"/>
              </a:rPr>
              <a:t>• השפעה משמים</a:t>
            </a:r>
          </a:p>
          <a:p>
            <a:r>
              <a:rPr lang="he-IL" sz="2400">
                <a:latin typeface="David" panose="020E0502060401010101" pitchFamily="34" charset="-79"/>
              </a:rPr>
              <a:t>• האדם נעשה כלי לברכה</a:t>
            </a:r>
          </a:p>
          <a:p>
            <a:r>
              <a:rPr lang="he-IL" sz="2400">
                <a:latin typeface="David" panose="020E0502060401010101" pitchFamily="34" charset="-79"/>
              </a:rPr>
              <a:t>• חיבור שמים וארץ</a:t>
            </a:r>
          </a:p>
        </p:txBody>
      </p:sp>
    </p:spTree>
    <p:extLst>
      <p:ext uri="{BB962C8B-B14F-4D97-AF65-F5344CB8AC3E}">
        <p14:creationId xmlns:p14="http://schemas.microsoft.com/office/powerpoint/2010/main" val="3528602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15E54AD-40FC-34A2-2DB0-5F4AAD53011E}"/>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יישום בחיי היומיום</a:t>
            </a:r>
          </a:p>
        </p:txBody>
      </p:sp>
      <p:sp>
        <p:nvSpPr>
          <p:cNvPr id="3" name="מציין מיקום טקסט 2">
            <a:extLst>
              <a:ext uri="{FF2B5EF4-FFF2-40B4-BE49-F238E27FC236}">
                <a16:creationId xmlns:a16="http://schemas.microsoft.com/office/drawing/2014/main" id="{9479A882-5339-F782-0344-789573FE2F92}"/>
              </a:ext>
            </a:extLst>
          </p:cNvPr>
          <p:cNvSpPr>
            <a:spLocks noGrp="1"/>
          </p:cNvSpPr>
          <p:nvPr>
            <p:ph type="body" idx="1"/>
          </p:nvPr>
        </p:nvSpPr>
        <p:spPr/>
        <p:txBody>
          <a:bodyPr>
            <a:normAutofit/>
          </a:bodyPr>
          <a:lstStyle/>
          <a:p>
            <a:r>
              <a:rPr lang="he-IL" sz="2400">
                <a:latin typeface="David" panose="020E0502060401010101" pitchFamily="34" charset="-79"/>
              </a:rPr>
              <a:t>• הודיה בפתיחת היום</a:t>
            </a:r>
          </a:p>
          <a:p>
            <a:r>
              <a:rPr lang="he-IL" sz="2400">
                <a:latin typeface="David" panose="020E0502060401010101" pitchFamily="34" charset="-79"/>
              </a:rPr>
              <a:t>• ברכות על המזון והנאות</a:t>
            </a:r>
          </a:p>
          <a:p>
            <a:r>
              <a:rPr lang="he-IL" sz="2400">
                <a:latin typeface="David" panose="020E0502060401010101" pitchFamily="34" charset="-79"/>
              </a:rPr>
              <a:t>• ברכות בזמני תפילה</a:t>
            </a:r>
          </a:p>
          <a:p>
            <a:r>
              <a:rPr lang="he-IL" sz="2400">
                <a:latin typeface="David" panose="020E0502060401010101" pitchFamily="34" charset="-79"/>
              </a:rPr>
              <a:t>• הודיה מיוחדת בשבת</a:t>
            </a:r>
          </a:p>
          <a:p>
            <a:r>
              <a:rPr lang="he-IL" sz="2400">
                <a:latin typeface="David" panose="020E0502060401010101" pitchFamily="34" charset="-79"/>
              </a:rPr>
              <a:t>• חינוך הילדים לברכה</a:t>
            </a:r>
          </a:p>
        </p:txBody>
      </p:sp>
    </p:spTree>
    <p:extLst>
      <p:ext uri="{BB962C8B-B14F-4D97-AF65-F5344CB8AC3E}">
        <p14:creationId xmlns:p14="http://schemas.microsoft.com/office/powerpoint/2010/main" val="72853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7EA7E06-322A-336B-6648-C82D2BD210EC}"/>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טיפים להשלמת מאה ברכות</a:t>
            </a:r>
          </a:p>
        </p:txBody>
      </p:sp>
      <p:sp>
        <p:nvSpPr>
          <p:cNvPr id="3" name="מציין מיקום טקסט 2">
            <a:extLst>
              <a:ext uri="{FF2B5EF4-FFF2-40B4-BE49-F238E27FC236}">
                <a16:creationId xmlns:a16="http://schemas.microsoft.com/office/drawing/2014/main" id="{3857D8E8-45E2-7F1A-A630-3EC4450D01F0}"/>
              </a:ext>
            </a:extLst>
          </p:cNvPr>
          <p:cNvSpPr>
            <a:spLocks noGrp="1"/>
          </p:cNvSpPr>
          <p:nvPr>
            <p:ph type="body" idx="1"/>
          </p:nvPr>
        </p:nvSpPr>
        <p:spPr/>
        <p:txBody>
          <a:bodyPr>
            <a:normAutofit/>
          </a:bodyPr>
          <a:lstStyle/>
          <a:p>
            <a:r>
              <a:rPr lang="he-IL" sz="2400">
                <a:latin typeface="David" panose="020E0502060401010101" pitchFamily="34" charset="-79"/>
              </a:rPr>
              <a:t>עצת הבן איש חי:</a:t>
            </a:r>
          </a:p>
          <a:p>
            <a:r>
              <a:rPr lang="he-IL" sz="2400">
                <a:latin typeface="David" panose="020E0502060401010101" pitchFamily="34" charset="-79"/>
              </a:rPr>
              <a:t>• אמירת 'ויברך דוד'</a:t>
            </a:r>
          </a:p>
          <a:p>
            <a:r>
              <a:rPr lang="he-IL" sz="2400">
                <a:latin typeface="David" panose="020E0502060401010101" pitchFamily="34" charset="-79"/>
              </a:rPr>
              <a:t>• פסוקי הודיה מיוחדים</a:t>
            </a:r>
          </a:p>
          <a:p>
            <a:r>
              <a:rPr lang="he-IL" sz="2400">
                <a:latin typeface="David" panose="020E0502060401010101" pitchFamily="34" charset="-79"/>
              </a:rPr>
              <a:t>• השלמה בשעת הדחק</a:t>
            </a:r>
          </a:p>
          <a:p>
            <a:r>
              <a:rPr lang="he-IL" sz="2400">
                <a:latin typeface="David" panose="020E0502060401010101" pitchFamily="34" charset="-79"/>
              </a:rPr>
              <a:t>• דרכים לזכירת הברכות</a:t>
            </a:r>
          </a:p>
        </p:txBody>
      </p:sp>
    </p:spTree>
    <p:extLst>
      <p:ext uri="{BB962C8B-B14F-4D97-AF65-F5344CB8AC3E}">
        <p14:creationId xmlns:p14="http://schemas.microsoft.com/office/powerpoint/2010/main" val="570486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8D2B451-CDB0-8327-F99B-7A29D7D45383}"/>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התמודדות עם אתגרים</a:t>
            </a:r>
          </a:p>
        </p:txBody>
      </p:sp>
      <p:sp>
        <p:nvSpPr>
          <p:cNvPr id="3" name="מציין מיקום טקסט 2">
            <a:extLst>
              <a:ext uri="{FF2B5EF4-FFF2-40B4-BE49-F238E27FC236}">
                <a16:creationId xmlns:a16="http://schemas.microsoft.com/office/drawing/2014/main" id="{7D0E5668-AA68-2067-265C-19B087533020}"/>
              </a:ext>
            </a:extLst>
          </p:cNvPr>
          <p:cNvSpPr>
            <a:spLocks noGrp="1"/>
          </p:cNvSpPr>
          <p:nvPr>
            <p:ph type="body" idx="1"/>
          </p:nvPr>
        </p:nvSpPr>
        <p:spPr/>
        <p:txBody>
          <a:bodyPr>
            <a:normAutofit/>
          </a:bodyPr>
          <a:lstStyle/>
          <a:p>
            <a:r>
              <a:rPr lang="he-IL" sz="2400">
                <a:latin typeface="David" panose="020E0502060401010101" pitchFamily="34" charset="-79"/>
              </a:rPr>
              <a:t>אתגרים שכיחים:</a:t>
            </a:r>
          </a:p>
          <a:p>
            <a:r>
              <a:rPr lang="he-IL" sz="2400">
                <a:latin typeface="David" panose="020E0502060401010101" pitchFamily="34" charset="-79"/>
              </a:rPr>
              <a:t>• שגרה והרגל</a:t>
            </a:r>
          </a:p>
          <a:p>
            <a:r>
              <a:rPr lang="he-IL" sz="2400">
                <a:latin typeface="David" panose="020E0502060401010101" pitchFamily="34" charset="-79"/>
              </a:rPr>
              <a:t>• חוסר כוונה</a:t>
            </a:r>
          </a:p>
          <a:p>
            <a:r>
              <a:rPr lang="he-IL" sz="2400">
                <a:latin typeface="David" panose="020E0502060401010101" pitchFamily="34" charset="-79"/>
              </a:rPr>
              <a:t>• קשיי זמן</a:t>
            </a:r>
          </a:p>
          <a:p>
            <a:endParaRPr lang="he-IL" sz="2400">
              <a:latin typeface="David" panose="020E0502060401010101" pitchFamily="34" charset="-79"/>
            </a:endParaRPr>
          </a:p>
          <a:p>
            <a:r>
              <a:rPr lang="he-IL" sz="2400">
                <a:latin typeface="David" panose="020E0502060401010101" pitchFamily="34" charset="-79"/>
              </a:rPr>
              <a:t>פתרונות:</a:t>
            </a:r>
          </a:p>
          <a:p>
            <a:r>
              <a:rPr lang="he-IL" sz="2400">
                <a:latin typeface="David" panose="020E0502060401010101" pitchFamily="34" charset="-79"/>
              </a:rPr>
              <a:t>• התחדשות תמידית</a:t>
            </a:r>
          </a:p>
          <a:p>
            <a:r>
              <a:rPr lang="he-IL" sz="2400">
                <a:latin typeface="David" panose="020E0502060401010101" pitchFamily="34" charset="-79"/>
              </a:rPr>
              <a:t>• לימוד משמעות הברכות</a:t>
            </a:r>
          </a:p>
          <a:p>
            <a:r>
              <a:rPr lang="he-IL" sz="2400">
                <a:latin typeface="David" panose="020E0502060401010101" pitchFamily="34" charset="-79"/>
              </a:rPr>
              <a:t>• קביעת זמנים מיוחדים</a:t>
            </a:r>
          </a:p>
        </p:txBody>
      </p:sp>
    </p:spTree>
    <p:extLst>
      <p:ext uri="{BB962C8B-B14F-4D97-AF65-F5344CB8AC3E}">
        <p14:creationId xmlns:p14="http://schemas.microsoft.com/office/powerpoint/2010/main" val="1223795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2BC6C88-A98A-1885-F6A7-3CC9FB6E29E4}"/>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ההשפעה על הנפש</a:t>
            </a:r>
          </a:p>
        </p:txBody>
      </p:sp>
      <p:sp>
        <p:nvSpPr>
          <p:cNvPr id="3" name="מציין מיקום טקסט 2">
            <a:extLst>
              <a:ext uri="{FF2B5EF4-FFF2-40B4-BE49-F238E27FC236}">
                <a16:creationId xmlns:a16="http://schemas.microsoft.com/office/drawing/2014/main" id="{D3386277-1FDA-2514-3727-5E8A4C2EA349}"/>
              </a:ext>
            </a:extLst>
          </p:cNvPr>
          <p:cNvSpPr>
            <a:spLocks noGrp="1"/>
          </p:cNvSpPr>
          <p:nvPr>
            <p:ph type="body" idx="1"/>
          </p:nvPr>
        </p:nvSpPr>
        <p:spPr/>
        <p:txBody>
          <a:bodyPr>
            <a:normAutofit/>
          </a:bodyPr>
          <a:lstStyle/>
          <a:p>
            <a:r>
              <a:rPr lang="he-IL" sz="2400">
                <a:latin typeface="David" panose="020E0502060401010101" pitchFamily="34" charset="-79"/>
              </a:rPr>
              <a:t>דברי בעל סדר היום:</a:t>
            </a:r>
          </a:p>
          <a:p>
            <a:r>
              <a:rPr lang="he-IL" sz="2400">
                <a:latin typeface="David" panose="020E0502060401010101" pitchFamily="34" charset="-79"/>
              </a:rPr>
              <a:t>• עניין נשגב ונורא</a:t>
            </a:r>
          </a:p>
          <a:p>
            <a:r>
              <a:rPr lang="he-IL" sz="2400">
                <a:latin typeface="David" panose="020E0502060401010101" pitchFamily="34" charset="-79"/>
              </a:rPr>
              <a:t>• מה שה' שואל מעמנו</a:t>
            </a:r>
          </a:p>
          <a:p>
            <a:r>
              <a:rPr lang="he-IL" sz="2400">
                <a:latin typeface="David" panose="020E0502060401010101" pitchFamily="34" charset="-79"/>
              </a:rPr>
              <a:t>• פתח לכל השפע</a:t>
            </a:r>
          </a:p>
          <a:p>
            <a:r>
              <a:rPr lang="he-IL" sz="2400">
                <a:latin typeface="David" panose="020E0502060401010101" pitchFamily="34" charset="-79"/>
              </a:rPr>
              <a:t>• חיבור עמוק עם הבורא</a:t>
            </a:r>
          </a:p>
        </p:txBody>
      </p:sp>
    </p:spTree>
    <p:extLst>
      <p:ext uri="{BB962C8B-B14F-4D97-AF65-F5344CB8AC3E}">
        <p14:creationId xmlns:p14="http://schemas.microsoft.com/office/powerpoint/2010/main" val="1144223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A1421E8-DDD9-9F60-53DC-77A1EBF1853C}"/>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לחיות חיים של ברכה</a:t>
            </a:r>
          </a:p>
        </p:txBody>
      </p:sp>
      <p:sp>
        <p:nvSpPr>
          <p:cNvPr id="3" name="מציין מיקום טקסט 2">
            <a:extLst>
              <a:ext uri="{FF2B5EF4-FFF2-40B4-BE49-F238E27FC236}">
                <a16:creationId xmlns:a16="http://schemas.microsoft.com/office/drawing/2014/main" id="{2A042412-CC68-D848-53CE-A75B53FEDECD}"/>
              </a:ext>
            </a:extLst>
          </p:cNvPr>
          <p:cNvSpPr>
            <a:spLocks noGrp="1"/>
          </p:cNvSpPr>
          <p:nvPr>
            <p:ph type="body" idx="1"/>
          </p:nvPr>
        </p:nvSpPr>
        <p:spPr/>
        <p:txBody>
          <a:bodyPr>
            <a:normAutofit/>
          </a:bodyPr>
          <a:lstStyle/>
          <a:p>
            <a:r>
              <a:rPr lang="he-IL" sz="2400">
                <a:latin typeface="David" panose="020E0502060401010101" pitchFamily="34" charset="-79"/>
              </a:rPr>
              <a:t>• כל ברכה היא הזדמנות</a:t>
            </a:r>
          </a:p>
          <a:p>
            <a:r>
              <a:rPr lang="he-IL" sz="2400">
                <a:latin typeface="David" panose="020E0502060401010101" pitchFamily="34" charset="-79"/>
              </a:rPr>
              <a:t>• כל יום הוא מסע רוחני</a:t>
            </a:r>
          </a:p>
          <a:p>
            <a:r>
              <a:rPr lang="he-IL" sz="2400">
                <a:latin typeface="David" panose="020E0502060401010101" pitchFamily="34" charset="-79"/>
              </a:rPr>
              <a:t>• הברכות מאירות את הדרך</a:t>
            </a:r>
          </a:p>
          <a:p>
            <a:r>
              <a:rPr lang="he-IL" sz="2400">
                <a:latin typeface="David" panose="020E0502060401010101" pitchFamily="34" charset="-79"/>
              </a:rPr>
              <a:t>• חיים של קדושה ומשמעות</a:t>
            </a:r>
          </a:p>
          <a:p>
            <a:r>
              <a:rPr lang="he-IL" sz="2400">
                <a:latin typeface="David" panose="020E0502060401010101" pitchFamily="34" charset="-79"/>
              </a:rPr>
              <a:t>• חיבור מתמיד עם בורא עולם</a:t>
            </a:r>
          </a:p>
        </p:txBody>
      </p:sp>
    </p:spTree>
    <p:extLst>
      <p:ext uri="{BB962C8B-B14F-4D97-AF65-F5344CB8AC3E}">
        <p14:creationId xmlns:p14="http://schemas.microsoft.com/office/powerpoint/2010/main" val="500161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27777B2-5E21-B2BD-B7CD-6858EE3842BC}"/>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הלכה למעשה</a:t>
            </a:r>
          </a:p>
        </p:txBody>
      </p:sp>
      <p:sp>
        <p:nvSpPr>
          <p:cNvPr id="3" name="מציין מיקום טקסט 2">
            <a:extLst>
              <a:ext uri="{FF2B5EF4-FFF2-40B4-BE49-F238E27FC236}">
                <a16:creationId xmlns:a16="http://schemas.microsoft.com/office/drawing/2014/main" id="{50656DD6-8816-3BB7-75A7-57315DCD9B8F}"/>
              </a:ext>
            </a:extLst>
          </p:cNvPr>
          <p:cNvSpPr>
            <a:spLocks noGrp="1"/>
          </p:cNvSpPr>
          <p:nvPr>
            <p:ph type="body" idx="1"/>
          </p:nvPr>
        </p:nvSpPr>
        <p:spPr/>
        <p:txBody>
          <a:bodyPr>
            <a:normAutofit/>
          </a:bodyPr>
          <a:lstStyle/>
          <a:p>
            <a:r>
              <a:rPr lang="he-IL" sz="2400">
                <a:latin typeface="David" panose="020E0502060401010101" pitchFamily="34" charset="-79"/>
              </a:rPr>
              <a:t>הצעה מעשית:</a:t>
            </a:r>
          </a:p>
          <a:p>
            <a:endParaRPr lang="he-IL" sz="2400">
              <a:latin typeface="David" panose="020E0502060401010101" pitchFamily="34" charset="-79"/>
            </a:endParaRPr>
          </a:p>
          <a:p>
            <a:r>
              <a:rPr lang="he-IL" sz="2400">
                <a:latin typeface="David" panose="020E0502060401010101" pitchFamily="34" charset="-79"/>
              </a:rPr>
              <a:t>• נשים יכולות לקיים בדרך של הודאה ושבח</a:t>
            </a:r>
          </a:p>
          <a:p>
            <a:r>
              <a:rPr lang="he-IL" sz="2400">
                <a:latin typeface="David" panose="020E0502060401010101" pitchFamily="34" charset="-79"/>
              </a:rPr>
              <a:t>• אין צורך בנוסח קבוע</a:t>
            </a:r>
          </a:p>
          <a:p>
            <a:r>
              <a:rPr lang="he-IL" sz="2400">
                <a:latin typeface="David" panose="020E0502060401010101" pitchFamily="34" charset="-79"/>
              </a:rPr>
              <a:t>• כל ביטוי הודיה נחשב</a:t>
            </a:r>
          </a:p>
          <a:p>
            <a:r>
              <a:rPr lang="he-IL" sz="2400">
                <a:latin typeface="David" panose="020E0502060401010101" pitchFamily="34" charset="-79"/>
              </a:rPr>
              <a:t>• שילוב טבעי בחיי היומיום</a:t>
            </a:r>
          </a:p>
          <a:p>
            <a:r>
              <a:rPr lang="he-IL" sz="2400">
                <a:latin typeface="David" panose="020E0502060401010101" pitchFamily="34" charset="-79"/>
              </a:rPr>
              <a:t>• שמירה על מהות התקנה</a:t>
            </a:r>
          </a:p>
        </p:txBody>
      </p:sp>
    </p:spTree>
    <p:extLst>
      <p:ext uri="{BB962C8B-B14F-4D97-AF65-F5344CB8AC3E}">
        <p14:creationId xmlns:p14="http://schemas.microsoft.com/office/powerpoint/2010/main" val="856665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CD494DEA-A03B-BAB5-3B28-EBC0B61F4D56}"/>
              </a:ext>
            </a:extLst>
          </p:cNvPr>
          <p:cNvSpPr txBox="1"/>
          <p:nvPr/>
        </p:nvSpPr>
        <p:spPr>
          <a:xfrm>
            <a:off x="165370" y="165370"/>
            <a:ext cx="11945566" cy="5632311"/>
          </a:xfrm>
          <a:prstGeom prst="rect">
            <a:avLst/>
          </a:prstGeom>
          <a:noFill/>
        </p:spPr>
        <p:txBody>
          <a:bodyPr wrap="square" rtlCol="1">
            <a:spAutoFit/>
          </a:bodyPr>
          <a:lstStyle/>
          <a:p>
            <a:r>
              <a:rPr lang="he-IL" b="1" dirty="0"/>
              <a:t>תְּפִלַּת הַמֵּאָה בְּרָכוֹת</a:t>
            </a:r>
          </a:p>
          <a:p>
            <a:pPr algn="r" rtl="1"/>
            <a:r>
              <a:rPr lang="he-IL" dirty="0" err="1">
                <a:effectLst/>
              </a:rPr>
              <a:t>רִבּוֹנו</a:t>
            </a:r>
            <a:r>
              <a:rPr lang="he-IL" dirty="0">
                <a:effectLst/>
              </a:rPr>
              <a:t>ֹ שֶׁל עוֹלָם, אָבִי שֶׁבַּשָּׁמַיִם, מְקוֹר כָּל הַבְּרָכוֹת וְהַטּוֹב,</a:t>
            </a:r>
          </a:p>
          <a:p>
            <a:pPr algn="r" rtl="1"/>
            <a:r>
              <a:rPr lang="he-IL" dirty="0">
                <a:effectLst/>
              </a:rPr>
              <a:t>בְּלֵב נִרְגָּשׁ וְנֶפֶשׁ מִשְׁתּוֹקֶקֶת אֲנִי עוֹמֵד לְפָנֶיךָ הַיּוֹם. בְּחַסְדְּךָ הַגָּדוֹל פָּתַחְתָּ בְּפָנֵינוּ שַׁעַר מֻפְלָא - שַׁעַר הַמֵּאָה בְּרָכוֹת, דֶּרֶךְ בָּהּ כָּל יְהוּדִי יָכוֹל לְהִתְחַבֵּר אֵלֶיךָ בְּכָל רֶגַע מֵחָדָשׁ.</a:t>
            </a:r>
          </a:p>
          <a:p>
            <a:pPr algn="r" rtl="1"/>
            <a:r>
              <a:rPr lang="he-IL" dirty="0">
                <a:effectLst/>
              </a:rPr>
              <a:t>אָבִינוּ מַלְכֵּנוּ, כַּמָּה עֲמֻקָּה </a:t>
            </a:r>
            <a:r>
              <a:rPr lang="he-IL" dirty="0" err="1">
                <a:effectLst/>
              </a:rPr>
              <a:t>חָכְמָתְך</a:t>
            </a:r>
            <a:r>
              <a:rPr lang="he-IL" dirty="0">
                <a:effectLst/>
              </a:rPr>
              <a:t>ָ! בִּימֵי דָּוִד הַמֶּלֶךְ, כְּשֶׁפָּקְדָה מַגֵּפָה אֶת עַמְּךָ, לֹא נָתַתָּ לָנוּ תְּרוּפָה שֶׁל מִרְקַחַת אוֹ סַם מַרְפֵּא, אֶלָּא פָּתַחְתָּ בְּפָנֵינוּ אֶת הַדֶּרֶךְ לְהוֹדוֹת, לְבָרֵךְ, לְהַכִּיר בְּטוּבְךָ.</a:t>
            </a:r>
          </a:p>
          <a:p>
            <a:pPr algn="r" rtl="1"/>
            <a:r>
              <a:rPr lang="he-IL" dirty="0" err="1">
                <a:effectLst/>
              </a:rPr>
              <a:t>רִבּוֹן</a:t>
            </a:r>
            <a:r>
              <a:rPr lang="he-IL" dirty="0">
                <a:effectLst/>
              </a:rPr>
              <a:t> הָעוֹלָמִים, אֲנִי מוֹדֶה לְפָנֶיךָ עַל שֶׁבָּחַרְתָּ בָּנוּ לִהְיוֹת עַם הַמְבָרְכִים. עַל שֶׁנָּתַתָּ לָנוּ אֶת </a:t>
            </a:r>
            <a:r>
              <a:rPr lang="he-IL" dirty="0" err="1">
                <a:effectLst/>
              </a:rPr>
              <a:t>הַיְּכֹלֶת</a:t>
            </a:r>
            <a:r>
              <a:rPr lang="he-IL" dirty="0">
                <a:effectLst/>
              </a:rPr>
              <a:t> לִרְאוֹת בְּכָל פְּרָט קָטָן בַּחַיִּים אֶת יָדְךָ </a:t>
            </a:r>
            <a:r>
              <a:rPr lang="he-IL" dirty="0" err="1">
                <a:effectLst/>
              </a:rPr>
              <a:t>הַמְכַוֶּנֶת</a:t>
            </a:r>
            <a:r>
              <a:rPr lang="he-IL" dirty="0">
                <a:effectLst/>
              </a:rPr>
              <a:t>, אֶת אַהֲבָתְךָ הָאֵינְסוֹפִית.</a:t>
            </a:r>
          </a:p>
          <a:p>
            <a:pPr algn="r" rtl="1"/>
            <a:r>
              <a:rPr lang="he-IL" dirty="0">
                <a:effectLst/>
              </a:rPr>
              <a:t>אָנָּא, פְּתַח אֶת לִבִּי שֶׁאֶזְכֶּה לְהַרְגִּישׁ אֶת עֹמֶק הַבְּרָכָה בְּכָל פַּעַם שֶׁאֲנִי מְבָרֵךְ. שֶׁלֹּא תְהִיֶה בְּרָכָה שְׁגוּרָה עַל שְׂפָתַי מִתּוֹךְ הֶרְגֵּל, אֶלָּא שֶׁכָּל בְּרָכָה תִּהְיֶה הִתְחַדְּשׁוּת שֶׁל הַקֶּשֶׁר בֵּינֵינוּ, הִזְדַּמְּנוּת לְהוֹדוֹת, לְהִתְבּוֹנֵן, לְהִתְרַגֵּשׁ מֵחָדָשׁ מִכָּל הַחֶסֶד שֶׁאַתָּה מַשְׁפִּיעַ עָלֵינוּ.</a:t>
            </a:r>
          </a:p>
          <a:p>
            <a:pPr algn="r" rtl="1"/>
            <a:r>
              <a:rPr lang="he-IL" dirty="0">
                <a:effectLst/>
              </a:rPr>
              <a:t>עֲזֹר לִי, אָבִי, לִזְכֹּר שֶׁבְּכָל בְּרָכָה אֲנִי בּוֹנֶה עוֹד קוֹמָה </a:t>
            </a:r>
            <a:r>
              <a:rPr lang="he-IL" dirty="0" err="1">
                <a:effectLst/>
              </a:rPr>
              <a:t>בַּבִּנְיָן</a:t>
            </a:r>
            <a:r>
              <a:rPr lang="he-IL" dirty="0">
                <a:effectLst/>
              </a:rPr>
              <a:t> הָרוּחָנִי שֶׁל הַיּוֹם. שֶׁבְּכָל הוֹדָיָה אֲנִי מִתְקָרֵב אֵלֶיךָ עוֹד קְצָת. </a:t>
            </a:r>
          </a:p>
          <a:p>
            <a:pPr algn="r" rtl="1"/>
            <a:r>
              <a:rPr lang="he-IL" dirty="0">
                <a:effectLst/>
              </a:rPr>
              <a:t>שֶׁבְּכָל "בָּרוּךְ אַתָּה ה'" אֲנִי מְחַזֵּק אֶת הַחִבּוּר הַנִּצְחִי בֵּינֵינוּ.</a:t>
            </a:r>
          </a:p>
          <a:p>
            <a:pPr algn="r" rtl="1"/>
            <a:r>
              <a:rPr lang="he-IL" dirty="0">
                <a:effectLst/>
              </a:rPr>
              <a:t>תֵּן </a:t>
            </a:r>
            <a:r>
              <a:rPr lang="he-IL" dirty="0" err="1">
                <a:effectLst/>
              </a:rPr>
              <a:t>בְּלִבִּי</a:t>
            </a:r>
            <a:r>
              <a:rPr lang="he-IL" dirty="0">
                <a:effectLst/>
              </a:rPr>
              <a:t> אֶת </a:t>
            </a:r>
            <a:r>
              <a:rPr lang="he-IL" dirty="0" err="1">
                <a:effectLst/>
              </a:rPr>
              <a:t>הַכֹּח</a:t>
            </a:r>
            <a:r>
              <a:rPr lang="he-IL" dirty="0">
                <a:effectLst/>
              </a:rPr>
              <a:t>ַ לְהִתְעוֹרֵר בַּבֹּקֶר בְּהִתְלַהֲבוּת, לומר "מוֹדֶה אֲנִי" בְּשִׂמְחָה </a:t>
            </a:r>
            <a:r>
              <a:rPr lang="he-IL" dirty="0" err="1">
                <a:effectLst/>
              </a:rPr>
              <a:t>אֲמִתִּית</a:t>
            </a:r>
            <a:r>
              <a:rPr lang="he-IL" dirty="0">
                <a:effectLst/>
              </a:rPr>
              <a:t>. תֵּן לִי אֶת </a:t>
            </a:r>
            <a:r>
              <a:rPr lang="he-IL" dirty="0" err="1">
                <a:effectLst/>
              </a:rPr>
              <a:t>הַיְּכֹלֶת</a:t>
            </a:r>
            <a:r>
              <a:rPr lang="he-IL" dirty="0">
                <a:effectLst/>
              </a:rPr>
              <a:t> לִרְאוֹת בְּכָל דָּבָר קָטָן - בְּכוֹס הַמַּיִם, בְּפַת לֶחֶם, בַּבֶּגֶד שֶׁאֲנִי לוֹבֵשׁ - הִזְדַּמְּנוּת לְהוֹדוֹת וּלְהִתְקָרֵב.</a:t>
            </a:r>
          </a:p>
          <a:p>
            <a:pPr algn="r" rtl="1"/>
            <a:r>
              <a:rPr lang="he-IL" dirty="0">
                <a:effectLst/>
              </a:rPr>
              <a:t>וּבְעִקָּר, אָבִי הַיָּקָר, עֲזֹר לִי לְהָבִין שֶׁמֵּאָה הַבְּרָכוֹת הֵן לֹא רַק חוֹבָה, לֹא רַק מִצְוָה, אֶלָּא מַתָּנָה נִפְלָאָה שֶׁנָּתַתָּ לָנוּ. </a:t>
            </a:r>
          </a:p>
          <a:p>
            <a:pPr algn="r" rtl="1"/>
            <a:r>
              <a:rPr lang="he-IL" dirty="0">
                <a:effectLst/>
              </a:rPr>
              <a:t>הִזְדַּמְּנוּת לִחְיוֹת חַיִּים שֶׁל קְדֻשָּׁה, שֶׁל הוֹדָיָה, שֶׁל קֶשֶׁר תְּמִידִי אִתְּךָ.</a:t>
            </a:r>
          </a:p>
          <a:p>
            <a:pPr algn="r" rtl="1"/>
            <a:r>
              <a:rPr lang="he-IL" dirty="0">
                <a:effectLst/>
              </a:rPr>
              <a:t>יְהִי רָצוֹן מִלְּפָנֶיךָ, ה' </a:t>
            </a:r>
            <a:r>
              <a:rPr lang="he-IL" dirty="0" err="1">
                <a:effectLst/>
              </a:rPr>
              <a:t>אֱלֹקֵינו</a:t>
            </a:r>
            <a:r>
              <a:rPr lang="he-IL" dirty="0">
                <a:effectLst/>
              </a:rPr>
              <a:t>ּ </a:t>
            </a:r>
            <a:r>
              <a:rPr lang="he-IL" dirty="0" err="1">
                <a:effectLst/>
              </a:rPr>
              <a:t>וֵאלֹקֵי</a:t>
            </a:r>
            <a:r>
              <a:rPr lang="he-IL" dirty="0">
                <a:effectLst/>
              </a:rPr>
              <a:t> אֲבוֹתֵינוּ, שֶׁתִּהְיֶינָה כָּל בִּרְכוֹתַי רְצוּיוֹת לְפָנֶיךָ, שֶׁיַּעֲלוּ כְּרֵיחַ נִיחוֹחַ </a:t>
            </a:r>
            <a:r>
              <a:rPr lang="he-IL" dirty="0" err="1">
                <a:effectLst/>
              </a:rPr>
              <a:t>לְכִסֵּא</a:t>
            </a:r>
            <a:r>
              <a:rPr lang="he-IL" dirty="0">
                <a:effectLst/>
              </a:rPr>
              <a:t> כְבוֹדֶךָ, וְשֶׁאֶזְכֶּה לִהְיוֹת מֵאֵלֶּה שֶׁמְּבָרְכִים אוֹתְךָ בְּכָל לֵב וּבְכָל נֶפֶשׁ.</a:t>
            </a:r>
          </a:p>
          <a:p>
            <a:pPr algn="r" rtl="1"/>
            <a:r>
              <a:rPr lang="he-IL" dirty="0">
                <a:effectLst/>
              </a:rPr>
              <a:t>אָמֵן כֵּן יְהִי רָצוֹן.</a:t>
            </a:r>
          </a:p>
          <a:p>
            <a:endParaRPr lang="he-IL" dirty="0"/>
          </a:p>
        </p:txBody>
      </p:sp>
    </p:spTree>
    <p:extLst>
      <p:ext uri="{BB962C8B-B14F-4D97-AF65-F5344CB8AC3E}">
        <p14:creationId xmlns:p14="http://schemas.microsoft.com/office/powerpoint/2010/main" val="165882592"/>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740</Words>
  <Application>Microsoft Office PowerPoint</Application>
  <PresentationFormat>מסך רחב</PresentationFormat>
  <Paragraphs>118</Paragraphs>
  <Slides>16</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2</vt:i4>
      </vt:variant>
      <vt:variant>
        <vt:lpstr>כותרות שקופיות</vt:lpstr>
      </vt:variant>
      <vt:variant>
        <vt:i4>16</vt:i4>
      </vt:variant>
    </vt:vector>
  </HeadingPairs>
  <TitlesOfParts>
    <vt:vector size="22" baseType="lpstr">
      <vt:lpstr>Aptos</vt:lpstr>
      <vt:lpstr>Aptos Display</vt:lpstr>
      <vt:lpstr>Arial</vt:lpstr>
      <vt:lpstr>David</vt:lpstr>
      <vt:lpstr>ערכת נושא Office</vt:lpstr>
      <vt:lpstr>1_ערכת נושא Office</vt:lpstr>
      <vt:lpstr>מאה ברכות - עומק רוחני וחיי יומיום</vt:lpstr>
      <vt:lpstr>כוחה של ברכה בימי דוד המלך</vt:lpstr>
      <vt:lpstr>התפתחות המאה ברכות לאורך הדורות</vt:lpstr>
      <vt:lpstr>חיוב נשים במאה ברכות</vt:lpstr>
      <vt:lpstr>הלכה למעשה</vt:lpstr>
      <vt:lpstr>הממד הרוחני של הברכות</vt:lpstr>
      <vt:lpstr>מגוון הברכות בחיינו</vt:lpstr>
      <vt:lpstr>סוד המאה ברכות בתורת הסוד</vt:lpstr>
      <vt:lpstr>פתיחת שערי שמים</vt:lpstr>
      <vt:lpstr>יישום בחיי היומיום</vt:lpstr>
      <vt:lpstr>טיפים להשלמת מאה ברכות</vt:lpstr>
      <vt:lpstr>התמודדות עם אתגרים</vt:lpstr>
      <vt:lpstr>ההשפעה על הנפש</vt:lpstr>
      <vt:lpstr>לחיות חיים של ברכה</vt:lpstr>
      <vt:lpstr>הלכה למעשה</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יהודה טאוב</dc:creator>
  <cp:lastModifiedBy>יהודה טאוב</cp:lastModifiedBy>
  <cp:revision>2</cp:revision>
  <dcterms:created xsi:type="dcterms:W3CDTF">2025-01-10T02:37:01Z</dcterms:created>
  <dcterms:modified xsi:type="dcterms:W3CDTF">2026-10-15T18:05:30Z</dcterms:modified>
</cp:coreProperties>
</file>