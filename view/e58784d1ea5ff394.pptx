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444" r:id="rId4"/>
    <p:sldId id="445" r:id="rId5"/>
    <p:sldId id="260" r:id="rId6"/>
    <p:sldId id="259" r:id="rId7"/>
    <p:sldId id="261" r:id="rId8"/>
    <p:sldId id="263" r:id="rId9"/>
    <p:sldId id="264" r:id="rId10"/>
    <p:sldId id="271" r:id="rId11"/>
    <p:sldId id="273" r:id="rId12"/>
    <p:sldId id="272" r:id="rId13"/>
    <p:sldId id="446" r:id="rId14"/>
    <p:sldId id="283" r:id="rId15"/>
    <p:sldId id="447" r:id="rId16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013" autoAdjust="0"/>
    <p:restoredTop sz="94660"/>
  </p:normalViewPr>
  <p:slideViewPr>
    <p:cSldViewPr snapToGrid="0">
      <p:cViewPr varScale="1">
        <p:scale>
          <a:sx n="83" d="100"/>
          <a:sy n="83" d="100"/>
        </p:scale>
        <p:origin x="643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43C5F48F-AB4F-4D91-BDAE-B07657EF69F9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E3431152-4EC1-433B-A8CD-26C19B540D6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90696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נחלקו המפרשים מנין שזה רשות? יש אומרים כי בשעת ראיה ברור שזה רשות. ויש אומרים בגלל שאמר אנא אקרא </a:t>
            </a:r>
            <a:r>
              <a:rPr lang="he-IL" dirty="0" err="1"/>
              <a:t>חדתא</a:t>
            </a:r>
            <a:r>
              <a:rPr lang="he-IL" dirty="0"/>
              <a:t> נמי </a:t>
            </a:r>
            <a:r>
              <a:rPr lang="he-IL" dirty="0" err="1"/>
              <a:t>אמינא</a:t>
            </a:r>
            <a:r>
              <a:rPr lang="he-IL" dirty="0"/>
              <a:t> זמן  - סימן שהוא היה מחמיר על עצמו. 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6E4E0-1532-4A2E-8B28-735509B5F2CC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02385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מדוע לא הביאו המפרשים על </a:t>
            </a:r>
            <a:r>
              <a:rPr lang="he-IL" dirty="0" err="1"/>
              <a:t>הרמב</a:t>
            </a:r>
            <a:r>
              <a:rPr lang="he-IL" dirty="0"/>
              <a:t>'''ם את המקור מהירושלמי?</a:t>
            </a:r>
          </a:p>
          <a:p>
            <a:r>
              <a:rPr lang="he-IL" dirty="0"/>
              <a:t>אולי הבינו שאפשר להבין בירושלמי שהכוונה מי שראה  - ואכל. 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6E4E0-1532-4A2E-8B28-735509B5F2CC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57738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נסביר את הדברים: בשביל ברכה צריך חידוש בעולם ובאדם </a:t>
            </a:r>
          </a:p>
          <a:p>
            <a:r>
              <a:rPr lang="he-IL" dirty="0"/>
              <a:t>באמת בענבים מאפריקה יש חידוש בעולם – שכן הם מגיעים מיבול חדש. 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6E4E0-1532-4A2E-8B28-735509B5F2CC}" type="slidenum">
              <a:rPr lang="he-IL" smtClean="0"/>
              <a:t>11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59617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B4AED84-3442-A4D2-11BF-13A01E5AB9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823A6DE0-22C4-9AC1-B659-3D454F63AD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B55DB38-236D-9091-59D4-F965FA479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82578-594D-41F2-9B54-0C08876330CA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60284A3-A622-ABA7-164D-D36012E37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068D3B9-9CB7-5518-8C5F-92CAFA43C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A6D91-D0C1-4219-88C7-FE9CCBC5EE8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51502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3E5CC10-2B5C-052A-1400-DCB1B8278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A1A7AFE-4C6B-77A6-73CA-BE8B8C040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7C21142-45F0-EB4E-DB61-791FC2F32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82578-594D-41F2-9B54-0C08876330CA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2ED434E-229B-2C5B-1659-256A665BB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8503B69-7691-8D0F-923C-F20139B03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A6D91-D0C1-4219-88C7-FE9CCBC5EE8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1580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66DE165-C07A-4667-78BF-95CE6CEB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27DB2FE-0DAE-7B89-7C1A-91DAC40388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FE6A849-6EAE-7B59-B23A-49F2A796A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82578-594D-41F2-9B54-0C08876330CA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E3EA3DC-3882-A16B-1CB4-3451F79BD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26B90E9-88D1-2FA1-1D6A-B24327720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A6D91-D0C1-4219-88C7-FE9CCBC5EE8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12151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11E2946-D2A4-396F-8952-4371BA6B9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7D4EAA4-0FD9-E071-EDE7-2CA00DBE58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BB5D9570-18FA-AF9E-411E-F0251C5C08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78ECE226-07E7-F439-171C-5B77779AC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82578-594D-41F2-9B54-0C08876330CA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1FEDA5F-9275-C795-8E09-3220B41A7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D1683DF-C0FF-7E89-BB30-FF82EE211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A6D91-D0C1-4219-88C7-FE9CCBC5EE8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46144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89CA938-8720-ECF0-8A26-C61C05AA0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E53FFE0-FB63-6190-C842-85E746070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0D624102-36F0-1294-2FCF-CEEFA79E83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96E5020D-7A0F-ABEC-18D7-B8AB84C56E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168BE8A9-C2EF-9D3B-C559-2C5BC7AD34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005FAD2D-332B-C740-B652-318BC277B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82578-594D-41F2-9B54-0C08876330CA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6FB8AE8B-F4EA-BC73-9CAE-B4CEC4E53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4DFBB6D7-94D1-9EAC-EE84-4E7ADFAB3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A6D91-D0C1-4219-88C7-FE9CCBC5EE8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56320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BD40E93-2F32-086B-E952-F2349F9D7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A50D8BA4-A427-E540-908A-01A17F720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82578-594D-41F2-9B54-0C08876330CA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294AF624-D938-A651-038D-8EBAB7811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99F936F-EAE0-0D69-08D2-64A15FBC3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A6D91-D0C1-4219-88C7-FE9CCBC5EE8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79027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44628DC8-6816-CD56-CA68-23BFDD1B7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82578-594D-41F2-9B54-0C08876330CA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2E7B568B-E806-20C0-1741-2998E901A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7C56E65-E927-91A1-1AFD-65B0DFB98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A6D91-D0C1-4219-88C7-FE9CCBC5EE8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74598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EC38C7A-9CDE-EA63-F645-38748F2AF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0E2349B-9B1B-07B2-66D3-96806B7B3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F06D340B-A95B-3313-1667-AF3C62C4F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362E774A-9B86-00DF-D23F-B0C80E222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82578-594D-41F2-9B54-0C08876330CA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EADA2006-A4E8-E7B3-F900-7142C0AEE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5D39EC61-4AFC-0912-C03E-BDA138CC3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A6D91-D0C1-4219-88C7-FE9CCBC5EE8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0079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2F14D1A-19F5-6756-86F3-778699969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B6022533-848E-BBA7-4CAC-02B029CFC0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6DB3B0E5-14C8-E74E-3CE9-54BAB9E75A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3B370E0-073D-E488-430A-E412B0F0C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82578-594D-41F2-9B54-0C08876330CA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B7D83BE-6ADD-F8DD-3AF0-B095DBA91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4D11F2F-7907-4CE5-C08D-378AE54BC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A6D91-D0C1-4219-88C7-FE9CCBC5EE8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33960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A8F2F49-7F6F-5AF3-93B5-1B2C03744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A53AAA0E-3679-DA94-EA9E-BB980CB50C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E9BCBF5-DE0B-4C1D-2B86-58EE7BEAA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82578-594D-41F2-9B54-0C08876330CA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23EB006-98BE-A618-B162-773D58CF2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3C4D821-7B40-FF1B-47F1-ACD00F36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A6D91-D0C1-4219-88C7-FE9CCBC5EE8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82255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C4FE167E-7BA9-737E-3D65-53AC2899E0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3BC3282A-909F-47ED-D464-A97305FD0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5149D2B-58B1-9F0D-1EF2-CDD3AD8C4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82578-594D-41F2-9B54-0C08876330CA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374A68B-DDF8-F17E-CF8B-8A93F9F69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DAAD1A3-E5BF-2BDF-4A08-611C48F9D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A6D91-D0C1-4219-88C7-FE9CCBC5EE8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39144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CDAB7E98-AC2A-9509-AFBF-D098FF20B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64F2C45-C323-27ED-0D7A-AD239CF49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45F2838-D812-5244-F7F7-2B82A19AA9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B82578-594D-41F2-9B54-0C08876330CA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9A18326-A136-407C-4D16-C97DF9FFDB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6C19A36-FC84-84B9-CECC-6FFA31463B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4A6D91-D0C1-4219-88C7-FE9CCBC5EE8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47138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rive.google.com/u/1/uc?id=1uRthCUKxbPkj3i3W15U0ChlTV-X3QoVP&amp;export=download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2" t="-39160" b="-38888"/>
            </a:stretch>
          </a:blipFill>
        </p:spPr>
        <p:txBody>
          <a:bodyPr/>
          <a:lstStyle/>
          <a:p>
            <a:endParaRPr lang="he-IL" sz="1200"/>
          </a:p>
        </p:txBody>
      </p:sp>
      <p:grpSp>
        <p:nvGrpSpPr>
          <p:cNvPr id="3" name="Group 3"/>
          <p:cNvGrpSpPr/>
          <p:nvPr/>
        </p:nvGrpSpPr>
        <p:grpSpPr>
          <a:xfrm>
            <a:off x="290416" y="294258"/>
            <a:ext cx="11637434" cy="6341802"/>
            <a:chOff x="0" y="0"/>
            <a:chExt cx="4597505" cy="250540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97505" cy="2505403"/>
            </a:xfrm>
            <a:custGeom>
              <a:avLst/>
              <a:gdLst/>
              <a:ahLst/>
              <a:cxnLst/>
              <a:rect l="l" t="t" r="r" b="b"/>
              <a:pathLst>
                <a:path w="4597505" h="2505403">
                  <a:moveTo>
                    <a:pt x="0" y="0"/>
                  </a:moveTo>
                  <a:lnTo>
                    <a:pt x="4597505" y="0"/>
                  </a:lnTo>
                  <a:lnTo>
                    <a:pt x="4597505" y="2505403"/>
                  </a:lnTo>
                  <a:lnTo>
                    <a:pt x="0" y="2505403"/>
                  </a:lnTo>
                  <a:close/>
                </a:path>
              </a:pathLst>
            </a:custGeom>
            <a:solidFill>
              <a:srgbClr val="F3BC33"/>
            </a:solidFill>
          </p:spPr>
          <p:txBody>
            <a:bodyPr/>
            <a:lstStyle/>
            <a:p>
              <a:endParaRPr lang="he-IL" sz="120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4597505" cy="253397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63"/>
                </a:lnSpc>
              </a:pPr>
              <a:r>
                <a:rPr lang="en-US" sz="1259">
                  <a:solidFill>
                    <a:srgbClr val="FFFFFF"/>
                  </a:solidFill>
                  <a:latin typeface="Suez One"/>
                  <a:ea typeface="Suez One"/>
                  <a:cs typeface="Suez One"/>
                  <a:sym typeface="Suez One"/>
                </a:rPr>
                <a:t>‎‎‎‎‎‎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0143" y="1694607"/>
            <a:ext cx="11017707" cy="4756699"/>
            <a:chOff x="923085" y="2499917"/>
            <a:chExt cx="22035415" cy="9513398"/>
          </a:xfrm>
        </p:grpSpPr>
        <p:grpSp>
          <p:nvGrpSpPr>
            <p:cNvPr id="7" name="Group 7"/>
            <p:cNvGrpSpPr/>
            <p:nvPr/>
          </p:nvGrpSpPr>
          <p:grpSpPr>
            <a:xfrm>
              <a:off x="949574" y="10896894"/>
              <a:ext cx="13199599" cy="1116421"/>
              <a:chOff x="0" y="0"/>
              <a:chExt cx="3505361" cy="29648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505361" cy="296483"/>
              </a:xfrm>
              <a:custGeom>
                <a:avLst/>
                <a:gdLst/>
                <a:ahLst/>
                <a:cxnLst/>
                <a:rect l="l" t="t" r="r" b="b"/>
                <a:pathLst>
                  <a:path w="3505361" h="296483">
                    <a:moveTo>
                      <a:pt x="0" y="0"/>
                    </a:moveTo>
                    <a:lnTo>
                      <a:pt x="3505361" y="0"/>
                    </a:lnTo>
                    <a:lnTo>
                      <a:pt x="3505361" y="296483"/>
                    </a:lnTo>
                    <a:lnTo>
                      <a:pt x="0" y="296483"/>
                    </a:lnTo>
                    <a:close/>
                  </a:path>
                </a:pathLst>
              </a:custGeom>
              <a:solidFill>
                <a:srgbClr val="37404E"/>
              </a:solidFill>
            </p:spPr>
            <p:txBody>
              <a:bodyPr/>
              <a:lstStyle/>
              <a:p>
                <a:endParaRPr lang="he-IL" sz="12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28575"/>
                <a:ext cx="3505361" cy="325058"/>
              </a:xfrm>
              <a:prstGeom prst="rect">
                <a:avLst/>
              </a:prstGeom>
            </p:spPr>
            <p:txBody>
              <a:bodyPr lIns="45720" tIns="45720" rIns="45720" bIns="45720" rtlCol="0" anchor="ctr"/>
              <a:lstStyle/>
              <a:p>
                <a:pPr algn="ctr">
                  <a:lnSpc>
                    <a:spcPts val="1764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11" name="Freeform 11"/>
            <p:cNvSpPr/>
            <p:nvPr/>
          </p:nvSpPr>
          <p:spPr>
            <a:xfrm>
              <a:off x="15602859" y="2499917"/>
              <a:ext cx="7355641" cy="7355641"/>
            </a:xfrm>
            <a:custGeom>
              <a:avLst/>
              <a:gdLst/>
              <a:ahLst/>
              <a:cxnLst/>
              <a:rect l="l" t="t" r="r" b="b"/>
              <a:pathLst>
                <a:path w="7355641" h="7355641">
                  <a:moveTo>
                    <a:pt x="0" y="0"/>
                  </a:moveTo>
                  <a:lnTo>
                    <a:pt x="7355641" y="0"/>
                  </a:lnTo>
                  <a:lnTo>
                    <a:pt x="7355641" y="7355642"/>
                  </a:lnTo>
                  <a:lnTo>
                    <a:pt x="0" y="73556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he-IL" sz="120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23085" y="4110939"/>
              <a:ext cx="15112065" cy="4766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he-IL" sz="5334" b="1" dirty="0">
                  <a:latin typeface="var( --e-global-typography-primary-font-family )"/>
                </a:rPr>
                <a:t>ברכת שהחיינו על פרי חדש</a:t>
              </a:r>
            </a:p>
            <a:p>
              <a:br>
                <a:rPr lang="he-IL" sz="5334" b="1" dirty="0">
                  <a:solidFill>
                    <a:srgbClr val="FFFFFF"/>
                  </a:solidFill>
                  <a:latin typeface="Atlas"/>
                  <a:hlinkClick r:id="rId4"/>
                </a:rPr>
              </a:br>
              <a:endParaRPr lang="he-IL" sz="4817" dirty="0">
                <a:solidFill>
                  <a:srgbClr val="37404E"/>
                </a:solidFill>
                <a:latin typeface="Rubik Dirt"/>
                <a:ea typeface="Rubik Dirt"/>
                <a:cs typeface="Rubik Dirt"/>
                <a:sym typeface="Rubik Dirt"/>
                <a:rtl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9573" y="10988387"/>
              <a:ext cx="13199599" cy="8208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37"/>
                </a:lnSpc>
                <a:spcBef>
                  <a:spcPct val="0"/>
                </a:spcBef>
              </a:pPr>
              <a:endParaRPr lang="he-IL" sz="2526" dirty="0">
                <a:solidFill>
                  <a:srgbClr val="F3BC33"/>
                </a:solidFill>
                <a:latin typeface="Rubik Distressed"/>
                <a:ea typeface="Rubik Distressed"/>
                <a:cs typeface="Rubik Distressed"/>
                <a:sym typeface="Rubik Distressed"/>
                <a:rtl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23085" y="5287899"/>
              <a:ext cx="14848299" cy="19913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540"/>
                </a:lnSpc>
                <a:spcBef>
                  <a:spcPct val="0"/>
                </a:spcBef>
              </a:pPr>
              <a:r>
                <a:rPr lang="he-IL" sz="6100" dirty="0">
                  <a:solidFill>
                    <a:srgbClr val="44546A"/>
                  </a:solidFill>
                  <a:latin typeface="Hazilim"/>
                  <a:ea typeface="Hazilim"/>
                  <a:cs typeface="Hazilim"/>
                  <a:sym typeface="Hazilim"/>
                  <a:rtl/>
                </a:rPr>
                <a:t>בנושא- שהחיינו ישראלי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297496" y="10939039"/>
              <a:ext cx="6529842" cy="887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56"/>
                </a:lnSpc>
                <a:spcBef>
                  <a:spcPct val="0"/>
                </a:spcBef>
              </a:pPr>
              <a:r>
                <a:rPr lang="he-IL" sz="2682" dirty="0">
                  <a:solidFill>
                    <a:srgbClr val="44546A"/>
                  </a:solidFill>
                  <a:latin typeface="Hazilim"/>
                  <a:ea typeface="Hazilim"/>
                  <a:cs typeface="Hazilim"/>
                  <a:sym typeface="Hazilim"/>
                  <a:rtl/>
                </a:rPr>
                <a:t>תוצר שיתופי של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27000"/>
            <a:ext cx="6563274" cy="656327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8087" y="0"/>
                  </a:moveTo>
                  <a:lnTo>
                    <a:pt x="794713" y="0"/>
                  </a:lnTo>
                  <a:cubicBezTo>
                    <a:pt x="799510" y="0"/>
                    <a:pt x="804111" y="1906"/>
                    <a:pt x="807502" y="5298"/>
                  </a:cubicBezTo>
                  <a:cubicBezTo>
                    <a:pt x="810894" y="8689"/>
                    <a:pt x="812800" y="13290"/>
                    <a:pt x="812800" y="18087"/>
                  </a:cubicBezTo>
                  <a:lnTo>
                    <a:pt x="812800" y="794713"/>
                  </a:lnTo>
                  <a:cubicBezTo>
                    <a:pt x="812800" y="799510"/>
                    <a:pt x="810894" y="804111"/>
                    <a:pt x="807502" y="807502"/>
                  </a:cubicBezTo>
                  <a:cubicBezTo>
                    <a:pt x="804111" y="810894"/>
                    <a:pt x="799510" y="812800"/>
                    <a:pt x="794713" y="812800"/>
                  </a:cubicBezTo>
                  <a:lnTo>
                    <a:pt x="18087" y="812800"/>
                  </a:lnTo>
                  <a:cubicBezTo>
                    <a:pt x="13290" y="812800"/>
                    <a:pt x="8689" y="810894"/>
                    <a:pt x="5298" y="807502"/>
                  </a:cubicBezTo>
                  <a:cubicBezTo>
                    <a:pt x="1906" y="804111"/>
                    <a:pt x="0" y="799510"/>
                    <a:pt x="0" y="794713"/>
                  </a:cubicBezTo>
                  <a:lnTo>
                    <a:pt x="0" y="18087"/>
                  </a:lnTo>
                  <a:cubicBezTo>
                    <a:pt x="0" y="13290"/>
                    <a:pt x="1906" y="8689"/>
                    <a:pt x="5298" y="5298"/>
                  </a:cubicBezTo>
                  <a:cubicBezTo>
                    <a:pt x="8689" y="1906"/>
                    <a:pt x="13290" y="0"/>
                    <a:pt x="18087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he-IL" sz="1200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14120" y="6102350"/>
            <a:ext cx="3199715" cy="491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82"/>
              </a:lnSpc>
              <a:spcBef>
                <a:spcPct val="0"/>
              </a:spcBef>
            </a:pPr>
            <a:r>
              <a:rPr lang="he-IL" sz="2987">
                <a:solidFill>
                  <a:srgbClr val="000000"/>
                </a:solidFill>
                <a:latin typeface="Nehama"/>
                <a:ea typeface="Nehama"/>
                <a:cs typeface="Nehama"/>
                <a:sym typeface="Nehama"/>
                <a:rtl/>
              </a:rPr>
              <a:t>ליאת ונגרובסקי</a:t>
            </a: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912F2F52-2388-FF38-439F-F73B987FD354}"/>
              </a:ext>
            </a:extLst>
          </p:cNvPr>
          <p:cNvSpPr txBox="1"/>
          <p:nvPr/>
        </p:nvSpPr>
        <p:spPr>
          <a:xfrm>
            <a:off x="6705600" y="279400"/>
            <a:ext cx="5232400" cy="51103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3808" dirty="0">
                <a:solidFill>
                  <a:srgbClr val="000000"/>
                </a:solidFill>
                <a:latin typeface="Hazilim"/>
                <a:cs typeface="Hazilim"/>
                <a:rtl/>
              </a:rPr>
              <a:t>המקור</a:t>
            </a:r>
          </a:p>
          <a:p>
            <a:pPr algn="r" rtl="1"/>
            <a:r>
              <a:rPr lang="he-IL" sz="2400" dirty="0">
                <a:latin typeface="Guttman Vilna" panose="02010401010101010101" pitchFamily="2" charset="-79"/>
                <a:cs typeface="Guttman Vilna" panose="02010401010101010101" pitchFamily="2" charset="-79"/>
              </a:rPr>
              <a:t>תלמוד בבלי מסכת עירובין דף מ עמוד ב</a:t>
            </a:r>
            <a:endParaRPr lang="en-US" sz="2400" dirty="0">
              <a:latin typeface="Guttman Vilna" panose="02010401010101010101" pitchFamily="2" charset="-79"/>
              <a:cs typeface="Guttman Vilna" panose="02010401010101010101" pitchFamily="2" charset="-79"/>
            </a:endParaRPr>
          </a:p>
          <a:p>
            <a:pPr algn="r" rtl="1"/>
            <a:endParaRPr lang="he-IL" sz="2400" dirty="0">
              <a:latin typeface="Guttman Vilna" panose="02010401010101010101" pitchFamily="2" charset="-79"/>
              <a:cs typeface="Guttman Vilna" panose="02010401010101010101" pitchFamily="2" charset="-79"/>
            </a:endParaRPr>
          </a:p>
          <a:p>
            <a:pPr algn="r" rtl="1"/>
            <a:r>
              <a:rPr lang="he-IL" sz="2400" dirty="0">
                <a:latin typeface="Guttman Vilna" panose="02010401010101010101" pitchFamily="2" charset="-79"/>
                <a:cs typeface="Guttman Vilna" panose="02010401010101010101" pitchFamily="2" charset="-79"/>
              </a:rPr>
              <a:t>ואמר רבה: כי </a:t>
            </a:r>
            <a:r>
              <a:rPr lang="he-IL" sz="2400" dirty="0" err="1">
                <a:latin typeface="Guttman Vilna" panose="02010401010101010101" pitchFamily="2" charset="-79"/>
                <a:cs typeface="Guttman Vilna" panose="02010401010101010101" pitchFamily="2" charset="-79"/>
              </a:rPr>
              <a:t>הוינא</a:t>
            </a:r>
            <a:r>
              <a:rPr lang="he-IL" sz="2400" dirty="0">
                <a:latin typeface="Guttman Vilna" panose="02010401010101010101" pitchFamily="2" charset="-79"/>
                <a:cs typeface="Guttman Vilna" panose="02010401010101010101" pitchFamily="2" charset="-79"/>
              </a:rPr>
              <a:t> בי רב </a:t>
            </a:r>
            <a:r>
              <a:rPr lang="he-IL" sz="2400" dirty="0" err="1">
                <a:latin typeface="Guttman Vilna" panose="02010401010101010101" pitchFamily="2" charset="-79"/>
                <a:cs typeface="Guttman Vilna" panose="02010401010101010101" pitchFamily="2" charset="-79"/>
              </a:rPr>
              <a:t>הונא</a:t>
            </a:r>
            <a:r>
              <a:rPr lang="he-IL" sz="2400" dirty="0"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2400" dirty="0" err="1">
                <a:latin typeface="Guttman Vilna" panose="02010401010101010101" pitchFamily="2" charset="-79"/>
                <a:cs typeface="Guttman Vilna" panose="02010401010101010101" pitchFamily="2" charset="-79"/>
              </a:rPr>
              <a:t>איבעיא</a:t>
            </a:r>
            <a:r>
              <a:rPr lang="he-IL" sz="2400" dirty="0">
                <a:latin typeface="Guttman Vilna" panose="02010401010101010101" pitchFamily="2" charset="-79"/>
                <a:cs typeface="Guttman Vilna" panose="02010401010101010101" pitchFamily="2" charset="-79"/>
              </a:rPr>
              <a:t> לן: מהו לומר זמן בראש השנה וביום הכפורים? </a:t>
            </a:r>
            <a:endParaRPr lang="en-US" sz="2400" dirty="0">
              <a:latin typeface="Guttman Vilna" panose="02010401010101010101" pitchFamily="2" charset="-79"/>
              <a:cs typeface="Guttman Vilna" panose="02010401010101010101" pitchFamily="2" charset="-79"/>
            </a:endParaRPr>
          </a:p>
          <a:p>
            <a:pPr algn="r" rtl="1"/>
            <a:r>
              <a:rPr lang="he-IL" sz="2400" dirty="0">
                <a:latin typeface="Guttman Vilna" panose="02010401010101010101" pitchFamily="2" charset="-79"/>
                <a:cs typeface="Guttman Vilna" panose="02010401010101010101" pitchFamily="2" charset="-79"/>
              </a:rPr>
              <a:t>כיון </a:t>
            </a:r>
            <a:r>
              <a:rPr lang="he-IL" sz="2400" dirty="0" err="1">
                <a:latin typeface="Guttman Vilna" panose="02010401010101010101" pitchFamily="2" charset="-79"/>
                <a:cs typeface="Guttman Vilna" panose="02010401010101010101" pitchFamily="2" charset="-79"/>
              </a:rPr>
              <a:t>דמזמן</a:t>
            </a:r>
            <a:r>
              <a:rPr lang="he-IL" sz="2400" dirty="0">
                <a:latin typeface="Guttman Vilna" panose="02010401010101010101" pitchFamily="2" charset="-79"/>
                <a:cs typeface="Guttman Vilna" panose="02010401010101010101" pitchFamily="2" charset="-79"/>
              </a:rPr>
              <a:t> לזמן אתי - </a:t>
            </a:r>
            <a:r>
              <a:rPr lang="he-IL" sz="2400" dirty="0" err="1">
                <a:latin typeface="Guttman Vilna" panose="02010401010101010101" pitchFamily="2" charset="-79"/>
                <a:cs typeface="Guttman Vilna" panose="02010401010101010101" pitchFamily="2" charset="-79"/>
              </a:rPr>
              <a:t>אמרינן</a:t>
            </a:r>
            <a:r>
              <a:rPr lang="he-IL" sz="2400" dirty="0">
                <a:latin typeface="Guttman Vilna" panose="02010401010101010101" pitchFamily="2" charset="-79"/>
                <a:cs typeface="Guttman Vilna" panose="02010401010101010101" pitchFamily="2" charset="-79"/>
              </a:rPr>
              <a:t>, או דילמא: כיון דלא </a:t>
            </a:r>
            <a:r>
              <a:rPr lang="he-IL" sz="2400" dirty="0" err="1">
                <a:latin typeface="Guttman Vilna" panose="02010401010101010101" pitchFamily="2" charset="-79"/>
                <a:cs typeface="Guttman Vilna" panose="02010401010101010101" pitchFamily="2" charset="-79"/>
              </a:rPr>
              <a:t>איקרו</a:t>
            </a:r>
            <a:r>
              <a:rPr lang="he-IL" sz="2400" dirty="0">
                <a:latin typeface="Guttman Vilna" panose="02010401010101010101" pitchFamily="2" charset="-79"/>
                <a:cs typeface="Guttman Vilna" panose="02010401010101010101" pitchFamily="2" charset="-79"/>
              </a:rPr>
              <a:t> רגלים - לא </a:t>
            </a:r>
            <a:r>
              <a:rPr lang="he-IL" sz="2400" dirty="0" err="1">
                <a:latin typeface="Guttman Vilna" panose="02010401010101010101" pitchFamily="2" charset="-79"/>
                <a:cs typeface="Guttman Vilna" panose="02010401010101010101" pitchFamily="2" charset="-79"/>
              </a:rPr>
              <a:t>אמרינן</a:t>
            </a:r>
            <a:r>
              <a:rPr lang="he-IL" sz="2400" dirty="0">
                <a:latin typeface="Guttman Vilna" panose="02010401010101010101" pitchFamily="2" charset="-79"/>
                <a:cs typeface="Guttman Vilna" panose="02010401010101010101" pitchFamily="2" charset="-79"/>
              </a:rPr>
              <a:t>? לא </a:t>
            </a:r>
            <a:r>
              <a:rPr lang="he-IL" sz="2400" dirty="0" err="1">
                <a:latin typeface="Guttman Vilna" panose="02010401010101010101" pitchFamily="2" charset="-79"/>
                <a:cs typeface="Guttman Vilna" panose="02010401010101010101" pitchFamily="2" charset="-79"/>
              </a:rPr>
              <a:t>הוה</a:t>
            </a:r>
            <a:r>
              <a:rPr lang="he-IL" sz="2400" dirty="0">
                <a:latin typeface="Guttman Vilna" panose="02010401010101010101" pitchFamily="2" charset="-79"/>
                <a:cs typeface="Guttman Vilna" panose="02010401010101010101" pitchFamily="2" charset="-79"/>
              </a:rPr>
              <a:t> בידיה. </a:t>
            </a:r>
            <a:endParaRPr lang="en-US" sz="2400" dirty="0">
              <a:latin typeface="Guttman Vilna" panose="02010401010101010101" pitchFamily="2" charset="-79"/>
              <a:cs typeface="Guttman Vilna" panose="02010401010101010101" pitchFamily="2" charset="-79"/>
            </a:endParaRPr>
          </a:p>
          <a:p>
            <a:pPr algn="r" rtl="1"/>
            <a:r>
              <a:rPr lang="he-IL" sz="2400" dirty="0">
                <a:latin typeface="Guttman Vilna" panose="02010401010101010101" pitchFamily="2" charset="-79"/>
                <a:cs typeface="Guttman Vilna" panose="02010401010101010101" pitchFamily="2" charset="-79"/>
              </a:rPr>
              <a:t>כי </a:t>
            </a:r>
            <a:r>
              <a:rPr lang="he-IL" sz="2400" dirty="0" err="1">
                <a:latin typeface="Guttman Vilna" panose="02010401010101010101" pitchFamily="2" charset="-79"/>
                <a:cs typeface="Guttman Vilna" panose="02010401010101010101" pitchFamily="2" charset="-79"/>
              </a:rPr>
              <a:t>אתאי</a:t>
            </a:r>
            <a:r>
              <a:rPr lang="he-IL" sz="2400" dirty="0">
                <a:latin typeface="Guttman Vilna" panose="02010401010101010101" pitchFamily="2" charset="-79"/>
                <a:cs typeface="Guttman Vilna" panose="02010401010101010101" pitchFamily="2" charset="-79"/>
              </a:rPr>
              <a:t> בי רב יהודה אמר: אנא אקרא </a:t>
            </a:r>
            <a:r>
              <a:rPr lang="he-IL" sz="2400" dirty="0" err="1">
                <a:latin typeface="Guttman Vilna" panose="02010401010101010101" pitchFamily="2" charset="-79"/>
                <a:cs typeface="Guttman Vilna" panose="02010401010101010101" pitchFamily="2" charset="-79"/>
              </a:rPr>
              <a:t>חדתא</a:t>
            </a:r>
            <a:r>
              <a:rPr lang="he-IL" sz="2400" dirty="0">
                <a:latin typeface="Guttman Vilna" panose="02010401010101010101" pitchFamily="2" charset="-79"/>
                <a:cs typeface="Guttman Vilna" panose="02010401010101010101" pitchFamily="2" charset="-79"/>
              </a:rPr>
              <a:t> נמי </a:t>
            </a:r>
            <a:r>
              <a:rPr lang="he-IL" sz="2400" dirty="0" err="1">
                <a:latin typeface="Guttman Vilna" panose="02010401010101010101" pitchFamily="2" charset="-79"/>
                <a:cs typeface="Guttman Vilna" panose="02010401010101010101" pitchFamily="2" charset="-79"/>
              </a:rPr>
              <a:t>אמינא</a:t>
            </a:r>
            <a:r>
              <a:rPr lang="he-IL" sz="2400" dirty="0">
                <a:latin typeface="Guttman Vilna" panose="02010401010101010101" pitchFamily="2" charset="-79"/>
                <a:cs typeface="Guttman Vilna" panose="02010401010101010101" pitchFamily="2" charset="-79"/>
              </a:rPr>
              <a:t> זמן. – </a:t>
            </a:r>
            <a:endParaRPr lang="en-US" sz="2400" dirty="0">
              <a:latin typeface="Guttman Vilna" panose="02010401010101010101" pitchFamily="2" charset="-79"/>
              <a:cs typeface="Guttman Vilna" panose="02010401010101010101" pitchFamily="2" charset="-79"/>
            </a:endParaRPr>
          </a:p>
          <a:p>
            <a:pPr algn="r" rtl="1"/>
            <a:r>
              <a:rPr lang="he-IL" sz="2400" dirty="0">
                <a:latin typeface="Guttman Vilna" panose="02010401010101010101" pitchFamily="2" charset="-79"/>
                <a:cs typeface="Guttman Vilna" panose="02010401010101010101" pitchFamily="2" charset="-79"/>
              </a:rPr>
              <a:t>אמר ליה: </a:t>
            </a:r>
            <a:r>
              <a:rPr lang="he-IL" sz="2400" b="1" dirty="0">
                <a:latin typeface="Guttman Vilna" panose="02010401010101010101" pitchFamily="2" charset="-79"/>
                <a:cs typeface="Guttman Vilna" panose="02010401010101010101" pitchFamily="2" charset="-79"/>
              </a:rPr>
              <a:t>רשות לא </a:t>
            </a:r>
            <a:r>
              <a:rPr lang="he-IL" sz="2400" b="1" dirty="0" err="1">
                <a:latin typeface="Guttman Vilna" panose="02010401010101010101" pitchFamily="2" charset="-79"/>
                <a:cs typeface="Guttman Vilna" panose="02010401010101010101" pitchFamily="2" charset="-79"/>
              </a:rPr>
              <a:t>קא</a:t>
            </a:r>
            <a:r>
              <a:rPr lang="he-IL" sz="2400" b="1" dirty="0"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2400" b="1" dirty="0" err="1">
                <a:latin typeface="Guttman Vilna" panose="02010401010101010101" pitchFamily="2" charset="-79"/>
                <a:cs typeface="Guttman Vilna" panose="02010401010101010101" pitchFamily="2" charset="-79"/>
              </a:rPr>
              <a:t>מיבעיא</a:t>
            </a:r>
            <a:r>
              <a:rPr lang="he-IL" sz="2400" b="1" dirty="0">
                <a:latin typeface="Guttman Vilna" panose="02010401010101010101" pitchFamily="2" charset="-79"/>
                <a:cs typeface="Guttman Vilna" panose="02010401010101010101" pitchFamily="2" charset="-79"/>
              </a:rPr>
              <a:t> לי</a:t>
            </a:r>
            <a:r>
              <a:rPr lang="he-IL" sz="2400" dirty="0">
                <a:latin typeface="Guttman Vilna" panose="02010401010101010101" pitchFamily="2" charset="-79"/>
                <a:cs typeface="Guttman Vilna" panose="02010401010101010101" pitchFamily="2" charset="-79"/>
              </a:rPr>
              <a:t>, כי </a:t>
            </a:r>
            <a:r>
              <a:rPr lang="he-IL" sz="2400" dirty="0" err="1">
                <a:latin typeface="Guttman Vilna" panose="02010401010101010101" pitchFamily="2" charset="-79"/>
                <a:cs typeface="Guttman Vilna" panose="02010401010101010101" pitchFamily="2" charset="-79"/>
              </a:rPr>
              <a:t>קא</a:t>
            </a:r>
            <a:r>
              <a:rPr lang="he-IL" sz="2400" dirty="0"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2400" dirty="0" err="1">
                <a:latin typeface="Guttman Vilna" panose="02010401010101010101" pitchFamily="2" charset="-79"/>
                <a:cs typeface="Guttman Vilna" panose="02010401010101010101" pitchFamily="2" charset="-79"/>
              </a:rPr>
              <a:t>מיבעיא</a:t>
            </a:r>
            <a:r>
              <a:rPr lang="he-IL" sz="2400" dirty="0">
                <a:latin typeface="Guttman Vilna" panose="02010401010101010101" pitchFamily="2" charset="-79"/>
                <a:cs typeface="Guttman Vilna" panose="02010401010101010101" pitchFamily="2" charset="-79"/>
              </a:rPr>
              <a:t> לי - חובה מאי?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1C77D-D243-701B-8874-020EC9DB7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6DF3D5A8-791F-34E0-8BC1-3F3DE72EE71C}"/>
              </a:ext>
            </a:extLst>
          </p:cNvPr>
          <p:cNvSpPr txBox="1"/>
          <p:nvPr/>
        </p:nvSpPr>
        <p:spPr>
          <a:xfrm>
            <a:off x="6197600" y="736600"/>
            <a:ext cx="5842000" cy="621772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3808" dirty="0">
                <a:solidFill>
                  <a:srgbClr val="000000"/>
                </a:solidFill>
                <a:latin typeface="Hazilim"/>
                <a:cs typeface="Hazilim"/>
                <a:rtl/>
              </a:rPr>
              <a:t>בראיה או באכילה</a:t>
            </a:r>
          </a:p>
          <a:p>
            <a:pPr algn="r" rtl="1"/>
            <a:r>
              <a:rPr lang="he-IL" sz="2400" dirty="0">
                <a:solidFill>
                  <a:srgbClr val="1B4965"/>
                </a:solidFill>
                <a:latin typeface="Atlas"/>
              </a:rPr>
              <a:t>במסכת עירובין מבואר דין ברכת שהחיינו על "קָרָא </a:t>
            </a:r>
            <a:r>
              <a:rPr lang="he-IL" sz="2400" dirty="0" err="1">
                <a:solidFill>
                  <a:srgbClr val="1B4965"/>
                </a:solidFill>
                <a:latin typeface="Atlas"/>
              </a:rPr>
              <a:t>חדְתָּא</a:t>
            </a:r>
            <a:r>
              <a:rPr lang="he-IL" sz="2400" dirty="0">
                <a:solidFill>
                  <a:srgbClr val="1B4965"/>
                </a:solidFill>
                <a:latin typeface="Atlas"/>
              </a:rPr>
              <a:t>". </a:t>
            </a:r>
          </a:p>
          <a:p>
            <a:pPr algn="r" rtl="1"/>
            <a:endParaRPr lang="he-IL" sz="2400" dirty="0">
              <a:solidFill>
                <a:srgbClr val="1B4965"/>
              </a:solidFill>
              <a:latin typeface="Atlas"/>
            </a:endParaRPr>
          </a:p>
          <a:p>
            <a:pPr algn="r" rtl="1"/>
            <a:r>
              <a:rPr lang="he-IL" sz="2400" dirty="0">
                <a:solidFill>
                  <a:srgbClr val="1B4965"/>
                </a:solidFill>
                <a:latin typeface="Atlas"/>
              </a:rPr>
              <a:t>ופירש רש"י: "כשאני </a:t>
            </a:r>
            <a:r>
              <a:rPr lang="he-IL" sz="2400" b="1" dirty="0">
                <a:solidFill>
                  <a:srgbClr val="1B4965"/>
                </a:solidFill>
                <a:latin typeface="Atlas"/>
              </a:rPr>
              <a:t>רואה </a:t>
            </a:r>
            <a:r>
              <a:rPr lang="he-IL" sz="2400" dirty="0">
                <a:solidFill>
                  <a:srgbClr val="1B4965"/>
                </a:solidFill>
                <a:latin typeface="Atlas"/>
              </a:rPr>
              <a:t>דלעת חדשה אני אומר זמן" [מברך שהחיינו]. </a:t>
            </a:r>
          </a:p>
          <a:p>
            <a:pPr algn="r" rtl="1"/>
            <a:endParaRPr lang="he-IL" sz="2400" dirty="0">
              <a:solidFill>
                <a:srgbClr val="1B4965"/>
              </a:solidFill>
              <a:latin typeface="Atlas"/>
            </a:endParaRPr>
          </a:p>
          <a:p>
            <a:pPr algn="r" rtl="1"/>
            <a:r>
              <a:rPr lang="he-IL" sz="2133" dirty="0">
                <a:solidFill>
                  <a:srgbClr val="1B4965"/>
                </a:solidFill>
                <a:latin typeface="Atlas"/>
              </a:rPr>
              <a:t>וכן כתב הרמב"ם </a:t>
            </a:r>
            <a:r>
              <a:rPr lang="he-IL" sz="1600" dirty="0">
                <a:solidFill>
                  <a:srgbClr val="1B4965"/>
                </a:solidFill>
                <a:latin typeface="Atlas"/>
              </a:rPr>
              <a:t>בפ"י (ברכות </a:t>
            </a:r>
            <a:r>
              <a:rPr lang="he-IL" sz="1600" dirty="0" err="1">
                <a:solidFill>
                  <a:srgbClr val="1B4965"/>
                </a:solidFill>
                <a:latin typeface="Atlas"/>
              </a:rPr>
              <a:t>ה"ב</a:t>
            </a:r>
            <a:r>
              <a:rPr lang="he-IL" sz="1600" dirty="0">
                <a:solidFill>
                  <a:srgbClr val="1B4965"/>
                </a:solidFill>
                <a:latin typeface="Atlas"/>
              </a:rPr>
              <a:t>) </a:t>
            </a:r>
            <a:r>
              <a:rPr lang="he-IL" sz="2133" dirty="0">
                <a:solidFill>
                  <a:srgbClr val="1B4965"/>
                </a:solidFill>
                <a:latin typeface="Atlas"/>
              </a:rPr>
              <a:t>הרואה פרי המתחדש משנה לשנה </a:t>
            </a:r>
            <a:r>
              <a:rPr lang="he-IL" sz="2133" dirty="0" err="1">
                <a:solidFill>
                  <a:srgbClr val="1B4965"/>
                </a:solidFill>
                <a:latin typeface="Atlas"/>
              </a:rPr>
              <a:t>בתחלת</a:t>
            </a:r>
            <a:r>
              <a:rPr lang="he-IL" sz="2133" dirty="0">
                <a:solidFill>
                  <a:srgbClr val="1B4965"/>
                </a:solidFill>
                <a:latin typeface="Atlas"/>
              </a:rPr>
              <a:t> ראייתו מברך שהחיינו. </a:t>
            </a:r>
          </a:p>
          <a:p>
            <a:pPr algn="r" rtl="1"/>
            <a:endParaRPr lang="he-IL" sz="2400" dirty="0">
              <a:solidFill>
                <a:srgbClr val="1B4965"/>
              </a:solidFill>
              <a:latin typeface="Atlas"/>
            </a:endParaRPr>
          </a:p>
          <a:p>
            <a:pPr algn="r" rtl="1"/>
            <a:r>
              <a:rPr lang="he-IL" sz="2133" dirty="0">
                <a:solidFill>
                  <a:srgbClr val="1B4965"/>
                </a:solidFill>
                <a:latin typeface="Atlas"/>
              </a:rPr>
              <a:t> ירושלמי מסכת פסחים פרק י הלכה ה</a:t>
            </a:r>
          </a:p>
          <a:p>
            <a:pPr algn="r" rtl="1"/>
            <a:r>
              <a:rPr lang="he-IL" sz="2133" dirty="0">
                <a:solidFill>
                  <a:srgbClr val="1B4965"/>
                </a:solidFill>
                <a:latin typeface="Atlas"/>
              </a:rPr>
              <a:t>תניא אין אומרים זמן אלא בשלש רגלים בלבד אמר רבי מנא </a:t>
            </a:r>
            <a:r>
              <a:rPr lang="he-IL" sz="2133" dirty="0" err="1">
                <a:solidFill>
                  <a:srgbClr val="1B4965"/>
                </a:solidFill>
                <a:latin typeface="Atlas"/>
              </a:rPr>
              <a:t>מתניתא</a:t>
            </a:r>
            <a:r>
              <a:rPr lang="he-IL" sz="2133" dirty="0">
                <a:solidFill>
                  <a:srgbClr val="1B4965"/>
                </a:solidFill>
                <a:latin typeface="Atlas"/>
              </a:rPr>
              <a:t> אמרה כן בחג המצות ובחג השבועות ובחג הסוכות. תני כל שכתב מקרא קודש צריך להזכיר בו זמן. </a:t>
            </a:r>
            <a:r>
              <a:rPr lang="he-IL" sz="2133" b="1" dirty="0" err="1">
                <a:solidFill>
                  <a:srgbClr val="1B4965"/>
                </a:solidFill>
                <a:latin typeface="Atlas"/>
              </a:rPr>
              <a:t>א"ר</a:t>
            </a:r>
            <a:r>
              <a:rPr lang="he-IL" sz="2133" b="1" dirty="0">
                <a:solidFill>
                  <a:srgbClr val="1B4965"/>
                </a:solidFill>
                <a:latin typeface="Atlas"/>
              </a:rPr>
              <a:t> </a:t>
            </a:r>
            <a:r>
              <a:rPr lang="he-IL" sz="2133" b="1" dirty="0" err="1">
                <a:solidFill>
                  <a:srgbClr val="1B4965"/>
                </a:solidFill>
                <a:latin typeface="Atlas"/>
              </a:rPr>
              <a:t>תנחומא</a:t>
            </a:r>
            <a:r>
              <a:rPr lang="he-IL" sz="2133" b="1" dirty="0">
                <a:solidFill>
                  <a:srgbClr val="1B4965"/>
                </a:solidFill>
                <a:latin typeface="Atlas"/>
              </a:rPr>
              <a:t> ויאות מי שראה </a:t>
            </a:r>
            <a:r>
              <a:rPr lang="he-IL" sz="2133" b="1" dirty="0" err="1">
                <a:solidFill>
                  <a:srgbClr val="1B4965"/>
                </a:solidFill>
                <a:latin typeface="Atlas"/>
              </a:rPr>
              <a:t>תאינה</a:t>
            </a:r>
            <a:r>
              <a:rPr lang="he-IL" sz="2133" b="1" dirty="0">
                <a:solidFill>
                  <a:srgbClr val="1B4965"/>
                </a:solidFill>
                <a:latin typeface="Atlas"/>
              </a:rPr>
              <a:t> בכורה שמא אינו צריך להזכיר זמן הרי ראש השנה ויום הכפורים 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B51C0941-1505-7DF3-21E3-18D097F96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223000" cy="622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43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1954451E-1036-A9DC-93E5-3A12844B46E1}"/>
              </a:ext>
            </a:extLst>
          </p:cNvPr>
          <p:cNvSpPr txBox="1"/>
          <p:nvPr/>
        </p:nvSpPr>
        <p:spPr>
          <a:xfrm>
            <a:off x="6197600" y="1"/>
            <a:ext cx="5842000" cy="724371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3808" dirty="0">
                <a:solidFill>
                  <a:srgbClr val="000000"/>
                </a:solidFill>
                <a:latin typeface="Hazilim"/>
                <a:cs typeface="Hazilim"/>
                <a:rtl/>
              </a:rPr>
              <a:t>בראיה או באכילה</a:t>
            </a:r>
          </a:p>
          <a:p>
            <a:pPr algn="r" rtl="1"/>
            <a:endParaRPr lang="he-IL" sz="2400" dirty="0">
              <a:solidFill>
                <a:srgbClr val="1B4965"/>
              </a:solidFill>
              <a:latin typeface="Atlas"/>
            </a:endParaRPr>
          </a:p>
          <a:p>
            <a:pPr algn="r" rtl="1"/>
            <a:r>
              <a:rPr lang="he-IL" sz="2400" dirty="0">
                <a:solidFill>
                  <a:srgbClr val="1B4965"/>
                </a:solidFill>
                <a:latin typeface="Atlas"/>
              </a:rPr>
              <a:t>אולם </a:t>
            </a:r>
            <a:r>
              <a:rPr lang="he-IL" sz="2400" dirty="0" err="1">
                <a:solidFill>
                  <a:srgbClr val="1B4965"/>
                </a:solidFill>
                <a:latin typeface="Atlas"/>
              </a:rPr>
              <a:t>הרא"ש</a:t>
            </a:r>
            <a:r>
              <a:rPr lang="he-IL" sz="2400" dirty="0">
                <a:solidFill>
                  <a:srgbClr val="1B4965"/>
                </a:solidFill>
                <a:latin typeface="Atlas"/>
              </a:rPr>
              <a:t> כתב: "נהגו העולם לקבוע הברכה </a:t>
            </a:r>
            <a:r>
              <a:rPr lang="he-IL" sz="2400" b="1" dirty="0">
                <a:solidFill>
                  <a:srgbClr val="1B4965"/>
                </a:solidFill>
                <a:latin typeface="Atlas"/>
              </a:rPr>
              <a:t>בשעה שאוכל </a:t>
            </a:r>
            <a:r>
              <a:rPr lang="he-IL" sz="2400" dirty="0">
                <a:solidFill>
                  <a:srgbClr val="1B4965"/>
                </a:solidFill>
                <a:latin typeface="Atlas"/>
              </a:rPr>
              <a:t>ממין חדש". </a:t>
            </a:r>
          </a:p>
          <a:p>
            <a:pPr algn="r" rtl="1"/>
            <a:endParaRPr lang="he-IL" sz="2400" dirty="0">
              <a:solidFill>
                <a:srgbClr val="1B4965"/>
              </a:solidFill>
              <a:latin typeface="Atlas"/>
            </a:endParaRPr>
          </a:p>
          <a:p>
            <a:pPr algn="r" rtl="1"/>
            <a:r>
              <a:rPr lang="he-IL" sz="1867" dirty="0">
                <a:solidFill>
                  <a:srgbClr val="1B4965"/>
                </a:solidFill>
                <a:latin typeface="Atlas"/>
              </a:rPr>
              <a:t>שולחן ערוך אורח חיים הלכות ברכת הפירות סימן </a:t>
            </a:r>
            <a:r>
              <a:rPr lang="he-IL" sz="1867" dirty="0" err="1">
                <a:solidFill>
                  <a:srgbClr val="1B4965"/>
                </a:solidFill>
                <a:latin typeface="Atlas"/>
              </a:rPr>
              <a:t>רכג</a:t>
            </a:r>
            <a:r>
              <a:rPr lang="he-IL" sz="1867" dirty="0">
                <a:solidFill>
                  <a:srgbClr val="1B4965"/>
                </a:solidFill>
                <a:latin typeface="Atlas"/>
              </a:rPr>
              <a:t> סעיף ד</a:t>
            </a:r>
          </a:p>
          <a:p>
            <a:pPr algn="r" rtl="1"/>
            <a:r>
              <a:rPr lang="he-IL" sz="2400" dirty="0">
                <a:solidFill>
                  <a:srgbClr val="1B4965"/>
                </a:solidFill>
                <a:latin typeface="Atlas"/>
              </a:rPr>
              <a:t>בשעת הקנין יש לו לברך (על בגדים) אף על פי שעדיין לא נשתמש בהם, שאין הברכה אלא ע"י שמחת הלב שהוא שמח בקנייתן, וכשילבשם מברך: מלביש ערומים. </a:t>
            </a:r>
          </a:p>
          <a:p>
            <a:pPr algn="r" rtl="1"/>
            <a:endParaRPr lang="he-IL" sz="2400" dirty="0">
              <a:solidFill>
                <a:srgbClr val="1B4965"/>
              </a:solidFill>
              <a:latin typeface="Atlas"/>
            </a:endParaRPr>
          </a:p>
          <a:p>
            <a:pPr algn="r" rtl="1"/>
            <a:r>
              <a:rPr lang="he-IL" sz="2133" dirty="0">
                <a:solidFill>
                  <a:srgbClr val="1B4965"/>
                </a:solidFill>
                <a:latin typeface="Atlas"/>
              </a:rPr>
              <a:t>מאמר מרדכי סימן </a:t>
            </a:r>
            <a:r>
              <a:rPr lang="he-IL" sz="2133" dirty="0" err="1">
                <a:solidFill>
                  <a:srgbClr val="1B4965"/>
                </a:solidFill>
                <a:latin typeface="Atlas"/>
              </a:rPr>
              <a:t>רכג</a:t>
            </a:r>
            <a:r>
              <a:rPr lang="he-IL" sz="2133" dirty="0">
                <a:solidFill>
                  <a:srgbClr val="1B4965"/>
                </a:solidFill>
                <a:latin typeface="Atlas"/>
              </a:rPr>
              <a:t> </a:t>
            </a:r>
            <a:r>
              <a:rPr lang="he-IL" sz="2133" dirty="0" err="1">
                <a:solidFill>
                  <a:srgbClr val="1B4965"/>
                </a:solidFill>
                <a:latin typeface="Atlas"/>
              </a:rPr>
              <a:t>ס"ק</a:t>
            </a:r>
            <a:r>
              <a:rPr lang="he-IL" sz="2133" dirty="0">
                <a:solidFill>
                  <a:srgbClr val="1B4965"/>
                </a:solidFill>
                <a:latin typeface="Atlas"/>
              </a:rPr>
              <a:t> ה</a:t>
            </a:r>
          </a:p>
          <a:p>
            <a:pPr algn="r" rtl="1"/>
            <a:r>
              <a:rPr lang="he-IL" sz="2133" dirty="0">
                <a:solidFill>
                  <a:srgbClr val="1B4965"/>
                </a:solidFill>
                <a:latin typeface="Atlas"/>
              </a:rPr>
              <a:t>כ"כ </a:t>
            </a:r>
            <a:r>
              <a:rPr lang="he-IL" sz="2133" dirty="0" err="1">
                <a:solidFill>
                  <a:srgbClr val="1B4965"/>
                </a:solidFill>
                <a:latin typeface="Atlas"/>
              </a:rPr>
              <a:t>הרא"ש</a:t>
            </a:r>
            <a:r>
              <a:rPr lang="he-IL" sz="2133" dirty="0">
                <a:solidFill>
                  <a:srgbClr val="1B4965"/>
                </a:solidFill>
                <a:latin typeface="Atlas"/>
              </a:rPr>
              <a:t> </a:t>
            </a:r>
            <a:r>
              <a:rPr lang="he-IL" sz="2133" dirty="0" err="1">
                <a:solidFill>
                  <a:srgbClr val="1B4965"/>
                </a:solidFill>
                <a:latin typeface="Atlas"/>
              </a:rPr>
              <a:t>והרשב"א</a:t>
            </a:r>
            <a:r>
              <a:rPr lang="he-IL" sz="2133" dirty="0">
                <a:solidFill>
                  <a:srgbClr val="1B4965"/>
                </a:solidFill>
                <a:latin typeface="Atlas"/>
              </a:rPr>
              <a:t> וכ"ד כל האחרונים ז"ל. </a:t>
            </a:r>
          </a:p>
          <a:p>
            <a:pPr algn="r" rtl="1"/>
            <a:r>
              <a:rPr lang="he-IL" sz="2133" dirty="0">
                <a:solidFill>
                  <a:srgbClr val="1B4965"/>
                </a:solidFill>
                <a:latin typeface="Atlas"/>
              </a:rPr>
              <a:t>אמנם אין המנהג כן בינינו אלא </a:t>
            </a:r>
            <a:r>
              <a:rPr lang="he-IL" sz="2133" dirty="0" err="1">
                <a:solidFill>
                  <a:srgbClr val="1B4965"/>
                </a:solidFill>
                <a:latin typeface="Atlas"/>
              </a:rPr>
              <a:t>מברכין</a:t>
            </a:r>
            <a:r>
              <a:rPr lang="he-IL" sz="2133" dirty="0">
                <a:solidFill>
                  <a:srgbClr val="1B4965"/>
                </a:solidFill>
                <a:latin typeface="Atlas"/>
              </a:rPr>
              <a:t> </a:t>
            </a:r>
            <a:r>
              <a:rPr lang="he-IL" sz="2133" dirty="0" err="1">
                <a:solidFill>
                  <a:srgbClr val="1B4965"/>
                </a:solidFill>
                <a:latin typeface="Atlas"/>
              </a:rPr>
              <a:t>דוקא</a:t>
            </a:r>
            <a:r>
              <a:rPr lang="he-IL" sz="2133" dirty="0">
                <a:solidFill>
                  <a:srgbClr val="1B4965"/>
                </a:solidFill>
                <a:latin typeface="Atlas"/>
              </a:rPr>
              <a:t> בשעה שמשתמשים בהם דהיינו בשעת לבישה </a:t>
            </a:r>
          </a:p>
          <a:p>
            <a:pPr algn="r" rtl="1"/>
            <a:r>
              <a:rPr lang="he-IL" sz="2133" dirty="0">
                <a:solidFill>
                  <a:srgbClr val="1B4965"/>
                </a:solidFill>
                <a:latin typeface="Atlas"/>
              </a:rPr>
              <a:t>ונראה שדימו זה </a:t>
            </a:r>
            <a:r>
              <a:rPr lang="he-IL" sz="2133" dirty="0" err="1">
                <a:solidFill>
                  <a:srgbClr val="1B4965"/>
                </a:solidFill>
                <a:latin typeface="Atlas"/>
              </a:rPr>
              <a:t>לההיא</a:t>
            </a:r>
            <a:r>
              <a:rPr lang="he-IL" sz="2133" dirty="0">
                <a:solidFill>
                  <a:srgbClr val="1B4965"/>
                </a:solidFill>
                <a:latin typeface="Atlas"/>
              </a:rPr>
              <a:t> דלקמן סי' רכ"ה ס"ג גבי פרי חדש </a:t>
            </a:r>
            <a:r>
              <a:rPr lang="he-IL" sz="2133" dirty="0" err="1">
                <a:solidFill>
                  <a:srgbClr val="1B4965"/>
                </a:solidFill>
                <a:latin typeface="Atlas"/>
              </a:rPr>
              <a:t>דנהי</a:t>
            </a:r>
            <a:r>
              <a:rPr lang="he-IL" sz="2133" dirty="0">
                <a:solidFill>
                  <a:srgbClr val="1B4965"/>
                </a:solidFill>
                <a:latin typeface="Atlas"/>
              </a:rPr>
              <a:t> </a:t>
            </a:r>
            <a:r>
              <a:rPr lang="he-IL" sz="2133" dirty="0" err="1">
                <a:solidFill>
                  <a:srgbClr val="1B4965"/>
                </a:solidFill>
                <a:latin typeface="Atlas"/>
              </a:rPr>
              <a:t>דמדינא</a:t>
            </a:r>
            <a:r>
              <a:rPr lang="he-IL" sz="2133" dirty="0">
                <a:solidFill>
                  <a:srgbClr val="1B4965"/>
                </a:solidFill>
                <a:latin typeface="Atlas"/>
              </a:rPr>
              <a:t> היה לו לברך בשעת ראיה מ"מ העולם נהגו לברך בשעת אכילה משום דהוי עיקר ההנאה כמבואר </a:t>
            </a:r>
            <a:r>
              <a:rPr lang="he-IL" sz="2133" dirty="0" err="1">
                <a:solidFill>
                  <a:srgbClr val="1B4965"/>
                </a:solidFill>
                <a:latin typeface="Atlas"/>
              </a:rPr>
              <a:t>ברא"ש</a:t>
            </a:r>
            <a:r>
              <a:rPr lang="he-IL" sz="2133" dirty="0">
                <a:solidFill>
                  <a:srgbClr val="1B4965"/>
                </a:solidFill>
                <a:latin typeface="Atlas"/>
              </a:rPr>
              <a:t> וכו' </a:t>
            </a:r>
            <a:r>
              <a:rPr lang="he-IL" sz="2133" dirty="0" err="1">
                <a:solidFill>
                  <a:srgbClr val="1B4965"/>
                </a:solidFill>
                <a:latin typeface="Atlas"/>
              </a:rPr>
              <a:t>י"עוש</a:t>
            </a:r>
            <a:r>
              <a:rPr lang="he-IL" sz="2133" dirty="0">
                <a:solidFill>
                  <a:srgbClr val="1B4965"/>
                </a:solidFill>
                <a:latin typeface="Atlas"/>
              </a:rPr>
              <a:t> </a:t>
            </a:r>
            <a:r>
              <a:rPr lang="he-IL" sz="2133" dirty="0" err="1">
                <a:solidFill>
                  <a:srgbClr val="1B4965"/>
                </a:solidFill>
                <a:latin typeface="Atlas"/>
              </a:rPr>
              <a:t>וה"נ</a:t>
            </a:r>
            <a:r>
              <a:rPr lang="he-IL" sz="2133" dirty="0">
                <a:solidFill>
                  <a:srgbClr val="1B4965"/>
                </a:solidFill>
                <a:latin typeface="Atlas"/>
              </a:rPr>
              <a:t> ה"ה והוא הטעם. </a:t>
            </a:r>
            <a:endParaRPr lang="he-IL" sz="2400" dirty="0">
              <a:solidFill>
                <a:srgbClr val="1B4965"/>
              </a:solidFill>
              <a:latin typeface="Atlas"/>
            </a:endParaRPr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C17F06B7-17EE-4653-4FAC-A5C5A5FDE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1" y="16164"/>
            <a:ext cx="5851237" cy="58512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14120" y="6102350"/>
            <a:ext cx="3199715" cy="491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82"/>
              </a:lnSpc>
              <a:spcBef>
                <a:spcPct val="0"/>
              </a:spcBef>
            </a:pPr>
            <a:r>
              <a:rPr lang="he-IL" sz="2987" dirty="0">
                <a:solidFill>
                  <a:srgbClr val="000000"/>
                </a:solidFill>
                <a:latin typeface="Nehama"/>
                <a:ea typeface="Nehama"/>
                <a:cs typeface="Nehama"/>
                <a:sym typeface="Nehama"/>
                <a:rtl/>
              </a:rPr>
              <a:t>מתי אנשים שמחים?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9271" y="1126397"/>
            <a:ext cx="4829413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/>
            <a:r>
              <a:rPr lang="he-IL" sz="4000" dirty="0" err="1">
                <a:solidFill>
                  <a:srgbClr val="1B4965"/>
                </a:solidFill>
                <a:latin typeface="Atlas"/>
              </a:rPr>
              <a:t>וצ"ב</a:t>
            </a:r>
            <a:r>
              <a:rPr lang="he-IL" sz="4000" dirty="0">
                <a:solidFill>
                  <a:srgbClr val="1B4965"/>
                </a:solidFill>
                <a:latin typeface="Atlas"/>
              </a:rPr>
              <a:t> מדוע שינו את הדין מראיה לאכילה?</a:t>
            </a:r>
            <a:endParaRPr lang="he-IL" sz="4000" dirty="0"/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95AAE226-9874-DF82-00E5-C75EC7102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2309"/>
            <a:ext cx="6474691" cy="64746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69C608A6-3812-4553-2AEE-3937566B9F61}"/>
              </a:ext>
            </a:extLst>
          </p:cNvPr>
          <p:cNvSpPr txBox="1"/>
          <p:nvPr/>
        </p:nvSpPr>
        <p:spPr>
          <a:xfrm>
            <a:off x="6959600" y="381000"/>
            <a:ext cx="5080000" cy="526297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2400" dirty="0"/>
              <a:t>דעת ספר האשכול</a:t>
            </a:r>
          </a:p>
          <a:p>
            <a:pPr algn="r" rtl="1"/>
            <a:endParaRPr lang="he-IL" sz="2400" dirty="0"/>
          </a:p>
          <a:p>
            <a:pPr algn="r" rtl="1"/>
            <a:r>
              <a:rPr lang="he-IL" sz="2400" dirty="0"/>
              <a:t>כל מה שאמרו בגמ' שזה רשות </a:t>
            </a:r>
          </a:p>
          <a:p>
            <a:pPr algn="r" rtl="1"/>
            <a:endParaRPr lang="he-IL" sz="2400" dirty="0"/>
          </a:p>
          <a:p>
            <a:pPr algn="r" rtl="1"/>
            <a:endParaRPr lang="he-IL" sz="2400" dirty="0"/>
          </a:p>
          <a:p>
            <a:pPr algn="r" rtl="1"/>
            <a:r>
              <a:rPr lang="he-IL" sz="2400" dirty="0"/>
              <a:t>זה רק ללכת לחפש את הברכה</a:t>
            </a:r>
          </a:p>
          <a:p>
            <a:pPr algn="r" rtl="1"/>
            <a:r>
              <a:rPr lang="he-IL" sz="2400" dirty="0"/>
              <a:t>אבל אם בפועל הולך ורואה או אוכל אז לדעתו זה חובה.</a:t>
            </a:r>
          </a:p>
          <a:p>
            <a:pPr algn="r" rtl="1"/>
            <a:endParaRPr lang="he-IL" sz="2400" dirty="0"/>
          </a:p>
          <a:p>
            <a:pPr algn="r" rtl="1"/>
            <a:r>
              <a:rPr lang="he-IL" sz="2400" dirty="0"/>
              <a:t>שולחן ערוך </a:t>
            </a:r>
            <a:r>
              <a:rPr lang="he-IL" sz="1333" dirty="0"/>
              <a:t>אורח חיים הלכות ברכת הפירות סימן רכה סעיף ג</a:t>
            </a:r>
          </a:p>
          <a:p>
            <a:pPr algn="r" rtl="1"/>
            <a:r>
              <a:rPr lang="he-IL" sz="2400" dirty="0"/>
              <a:t>הרואה פרי חדש מתחדש משנה לשנה, מברך: שהחיינו, ואפילו רואהו ביד </a:t>
            </a:r>
            <a:r>
              <a:rPr lang="he-IL" sz="2400" dirty="0" err="1"/>
              <a:t>חבירו</a:t>
            </a:r>
            <a:r>
              <a:rPr lang="he-IL" sz="2400" dirty="0"/>
              <a:t> או על האילן, ונהגו שלא לברך עד שעת אכילה. </a:t>
            </a: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56B356A8-CDC3-BFB3-F17C-1E8FA6A3D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37" y="0"/>
            <a:ext cx="61722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AE73FED9-0B83-00F8-6D39-B239662A621D}"/>
              </a:ext>
            </a:extLst>
          </p:cNvPr>
          <p:cNvSpPr txBox="1"/>
          <p:nvPr/>
        </p:nvSpPr>
        <p:spPr>
          <a:xfrm>
            <a:off x="4267200" y="0"/>
            <a:ext cx="7823200" cy="621708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</a:pPr>
            <a:r>
              <a:rPr lang="he-IL" sz="2400" b="1" dirty="0">
                <a:latin typeface="D-DINExp"/>
              </a:rPr>
              <a:t>ברכת שהחיינו על פירות חדשים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lang="he-IL" sz="2400" b="1" dirty="0">
                <a:latin typeface="D-DINExp"/>
              </a:rPr>
              <a:t>רמב"ם ושולחן ערוך</a:t>
            </a:r>
          </a:p>
          <a:p>
            <a:pPr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he-IL" sz="2400" dirty="0">
                <a:latin typeface="D-DINExp"/>
              </a:rPr>
              <a:t>נפסק כי מברכים שהחיינו רק על פרי ש</a:t>
            </a:r>
            <a:r>
              <a:rPr lang="he-IL" sz="2400" b="1" dirty="0">
                <a:latin typeface="D-DINExp"/>
              </a:rPr>
              <a:t>מתחדש משנה לשנה</a:t>
            </a:r>
            <a:endParaRPr lang="he-IL" sz="2400" dirty="0">
              <a:latin typeface="D-DINExp"/>
            </a:endParaRPr>
          </a:p>
          <a:p>
            <a:pPr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he-IL" sz="2400" dirty="0">
                <a:latin typeface="D-DINExp"/>
              </a:rPr>
              <a:t>תנאי הכרחי: עונתיות קבועה בגידול הפרי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lang="he-IL" sz="2400" b="1" dirty="0" err="1">
                <a:latin typeface="D-DINExp"/>
              </a:rPr>
              <a:t>הרמ"א</a:t>
            </a:r>
            <a:r>
              <a:rPr lang="he-IL" sz="2400" b="1" dirty="0">
                <a:latin typeface="D-DINExp"/>
              </a:rPr>
              <a:t> - הרחבת ההלכה</a:t>
            </a:r>
          </a:p>
          <a:p>
            <a:pPr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he-IL" sz="2400" dirty="0">
                <a:latin typeface="D-DINExp"/>
              </a:rPr>
              <a:t>פרי שמתחדש </a:t>
            </a:r>
            <a:r>
              <a:rPr lang="he-IL" sz="2400" b="1" dirty="0">
                <a:latin typeface="D-DINExp"/>
              </a:rPr>
              <a:t>פעמיים בשנה</a:t>
            </a:r>
            <a:r>
              <a:rPr lang="he-IL" sz="2400" dirty="0">
                <a:latin typeface="D-DINExp"/>
              </a:rPr>
              <a:t> - מברכים עליו שהחיינו</a:t>
            </a:r>
          </a:p>
          <a:p>
            <a:pPr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he-IL" sz="2400" dirty="0">
                <a:latin typeface="D-DINExp"/>
              </a:rPr>
              <a:t>פרי ללא זמן קבוע לגידול - </a:t>
            </a:r>
            <a:r>
              <a:rPr lang="he-IL" sz="2400" b="1" dirty="0">
                <a:latin typeface="D-DINExp"/>
              </a:rPr>
              <a:t>אין</a:t>
            </a:r>
            <a:r>
              <a:rPr lang="he-IL" sz="2400" dirty="0">
                <a:latin typeface="D-DINExp"/>
              </a:rPr>
              <a:t> מברכים עליו שהחיינו</a:t>
            </a:r>
          </a:p>
          <a:p>
            <a:pPr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he-IL" sz="2400" dirty="0">
              <a:latin typeface="D-DINExp"/>
            </a:endParaRP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lang="he-IL" sz="2400" b="1" dirty="0">
                <a:latin typeface="D-DINExp"/>
              </a:rPr>
              <a:t>דוגמאות מעשיות - אין מברכים שהחיינו</a:t>
            </a:r>
          </a:p>
          <a:p>
            <a:pPr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he-IL" sz="2400" dirty="0">
                <a:latin typeface="D-DINExp"/>
              </a:rPr>
              <a:t>ירקות (כי גדלים כל השנה)</a:t>
            </a:r>
          </a:p>
          <a:p>
            <a:pPr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he-IL" sz="2400" dirty="0">
                <a:latin typeface="D-DINExp"/>
              </a:rPr>
              <a:t>פירות שגדלים ללא עונתיות קבועה</a:t>
            </a:r>
          </a:p>
          <a:p>
            <a:pPr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he-IL" sz="2400" dirty="0">
                <a:latin typeface="D-DINExp"/>
              </a:rPr>
              <a:t>פירות שזמינים כל השנה בחממות</a:t>
            </a:r>
            <a:endParaRPr lang="he-IL" sz="2400" dirty="0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E460A02B-E17E-B45A-64E4-1A4564ED2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1" y="6928"/>
            <a:ext cx="4742873" cy="47428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00BEE1F5-49ED-82C7-62A9-D38084B8AE91}"/>
              </a:ext>
            </a:extLst>
          </p:cNvPr>
          <p:cNvSpPr txBox="1"/>
          <p:nvPr/>
        </p:nvSpPr>
        <p:spPr>
          <a:xfrm>
            <a:off x="5994400" y="228600"/>
            <a:ext cx="5943600" cy="655660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</a:pPr>
            <a:r>
              <a:rPr lang="he-IL" sz="1867" b="1" dirty="0">
                <a:latin typeface="D-DINExp"/>
              </a:rPr>
              <a:t>ברכת שהחיינו על ירקות ופירות משומרים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lang="he-IL" sz="1867" b="1" dirty="0">
                <a:latin typeface="D-DINExp"/>
              </a:rPr>
              <a:t>הסבר דברי </a:t>
            </a:r>
            <a:r>
              <a:rPr lang="he-IL" sz="1867" b="1" dirty="0" err="1">
                <a:latin typeface="D-DINExp"/>
              </a:rPr>
              <a:t>הרמ"א</a:t>
            </a:r>
            <a:endParaRPr lang="he-IL" sz="1867" b="1" dirty="0">
              <a:latin typeface="D-DINExp"/>
            </a:endParaRPr>
          </a:p>
          <a:p>
            <a:pPr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he-IL" sz="1867" dirty="0">
                <a:latin typeface="D-DINExp"/>
              </a:rPr>
              <a:t>"עומד כל השנה בקרקע" - מתייחס ל:</a:t>
            </a:r>
          </a:p>
          <a:p>
            <a:pPr marL="495325" lvl="1" indent="-19051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he-IL" sz="1867" dirty="0">
                <a:latin typeface="D-DINExp"/>
              </a:rPr>
              <a:t>ירקות המוטמנים בבורות</a:t>
            </a:r>
          </a:p>
          <a:p>
            <a:pPr marL="495325" lvl="1" indent="-19051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he-IL" sz="1867" dirty="0">
                <a:latin typeface="D-DINExp"/>
              </a:rPr>
              <a:t>נשמרים לאורך כל השנה</a:t>
            </a:r>
          </a:p>
          <a:p>
            <a:pPr marL="495325" lvl="1" indent="-19051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he-IL" sz="1867" b="1" dirty="0">
                <a:highlight>
                  <a:srgbClr val="FFFF00"/>
                </a:highlight>
                <a:latin typeface="D-DINExp"/>
              </a:rPr>
              <a:t>אין הבדל ניכר בין חדש לישן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lang="he-IL" sz="1867" b="1" dirty="0">
                <a:latin typeface="D-DINExp"/>
              </a:rPr>
              <a:t>ההבדל בין ירקות לפירות</a:t>
            </a:r>
          </a:p>
          <a:p>
            <a:pPr>
              <a:spcBef>
                <a:spcPts val="8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he-IL" sz="1867" b="1" dirty="0">
                <a:latin typeface="D-DINExp"/>
              </a:rPr>
              <a:t>ירקות:</a:t>
            </a:r>
            <a:endParaRPr lang="he-IL" sz="1867" dirty="0">
              <a:latin typeface="D-DINExp"/>
            </a:endParaRPr>
          </a:p>
          <a:p>
            <a:pPr marL="495325" lvl="1" indent="-19051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he-IL" sz="1867" dirty="0">
                <a:latin typeface="D-DINExp"/>
              </a:rPr>
              <a:t>שכיח מאוד לשמור בקרקע</a:t>
            </a:r>
          </a:p>
          <a:p>
            <a:pPr marL="495325" lvl="1" indent="-19051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he-IL" sz="1867" dirty="0">
                <a:latin typeface="D-DINExp"/>
              </a:rPr>
              <a:t>קשה להבחין בין חדש לישן</a:t>
            </a:r>
          </a:p>
          <a:p>
            <a:pPr marL="495325" lvl="1" indent="-19051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he-IL" sz="1867" dirty="0">
                <a:latin typeface="D-DINExp"/>
              </a:rPr>
              <a:t>אין מברכים שהחיינו</a:t>
            </a:r>
          </a:p>
          <a:p>
            <a:pPr>
              <a:spcBef>
                <a:spcPts val="8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he-IL" sz="1867" b="1" dirty="0">
                <a:latin typeface="D-DINExp"/>
              </a:rPr>
              <a:t>פירות:</a:t>
            </a:r>
            <a:endParaRPr lang="he-IL" sz="1867" dirty="0">
              <a:latin typeface="D-DINExp"/>
            </a:endParaRPr>
          </a:p>
          <a:p>
            <a:pPr marL="495325" lvl="1" indent="-19051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he-IL" sz="1867" dirty="0">
                <a:latin typeface="D-DINExp"/>
              </a:rPr>
              <a:t>שימור בקרקע נדיר מאוד ("</a:t>
            </a:r>
            <a:r>
              <a:rPr lang="he-IL" sz="1867" dirty="0" err="1">
                <a:latin typeface="D-DINExp"/>
              </a:rPr>
              <a:t>מיעוטא</a:t>
            </a:r>
            <a:r>
              <a:rPr lang="he-IL" sz="1867" dirty="0">
                <a:latin typeface="D-DINExp"/>
              </a:rPr>
              <a:t> </a:t>
            </a:r>
            <a:r>
              <a:rPr lang="he-IL" sz="1867" dirty="0" err="1">
                <a:latin typeface="D-DINExp"/>
              </a:rPr>
              <a:t>דמיעוטא</a:t>
            </a:r>
            <a:r>
              <a:rPr lang="he-IL" sz="1867" dirty="0">
                <a:latin typeface="D-DINExp"/>
              </a:rPr>
              <a:t>")</a:t>
            </a:r>
          </a:p>
          <a:p>
            <a:pPr marL="495325" lvl="1" indent="-19051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he-IL" sz="1867" dirty="0">
                <a:latin typeface="D-DINExp"/>
              </a:rPr>
              <a:t>לא חוששים למיעוט המשומר</a:t>
            </a:r>
          </a:p>
          <a:p>
            <a:pPr marL="495325" lvl="1" indent="-19051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he-IL" sz="1867" dirty="0">
                <a:latin typeface="D-DINExp"/>
              </a:rPr>
              <a:t>מברכים שהחיינו</a:t>
            </a:r>
            <a:endParaRPr lang="he-IL" sz="1867" dirty="0"/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DF44372D-BA10-58BE-AFAE-D8CF7F81A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3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6350000" y="1"/>
            <a:ext cx="5842000" cy="6058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32"/>
              </a:lnSpc>
            </a:pPr>
            <a:r>
              <a:rPr lang="he-IL" sz="3808" dirty="0">
                <a:solidFill>
                  <a:srgbClr val="000000"/>
                </a:solidFill>
                <a:latin typeface="Hazilim"/>
                <a:ea typeface="Hazilim"/>
                <a:cs typeface="Hazilim"/>
                <a:sym typeface="Hazilim"/>
                <a:rtl/>
              </a:rPr>
              <a:t>בשביל לברך שהחיינו</a:t>
            </a:r>
          </a:p>
          <a:p>
            <a:pPr algn="ctr">
              <a:lnSpc>
                <a:spcPts val="5332"/>
              </a:lnSpc>
            </a:pPr>
            <a:r>
              <a:rPr lang="he-IL" sz="3808" dirty="0">
                <a:solidFill>
                  <a:srgbClr val="000000"/>
                </a:solidFill>
                <a:latin typeface="Hazilim"/>
                <a:ea typeface="Hazilim"/>
                <a:cs typeface="Hazilim"/>
                <a:sym typeface="Hazilim"/>
                <a:rtl/>
              </a:rPr>
              <a:t>צריך חידוש </a:t>
            </a:r>
            <a:r>
              <a:rPr lang="he-IL" sz="3808" dirty="0" err="1">
                <a:solidFill>
                  <a:srgbClr val="000000"/>
                </a:solidFill>
                <a:highlight>
                  <a:srgbClr val="FFFF00"/>
                </a:highlight>
                <a:latin typeface="Hazilim"/>
                <a:ea typeface="Hazilim"/>
                <a:cs typeface="Hazilim"/>
                <a:sym typeface="Hazilim"/>
                <a:rtl/>
              </a:rPr>
              <a:t>בגברא</a:t>
            </a:r>
            <a:r>
              <a:rPr lang="he-IL" sz="3808" dirty="0">
                <a:solidFill>
                  <a:srgbClr val="000000"/>
                </a:solidFill>
                <a:highlight>
                  <a:srgbClr val="FFFF00"/>
                </a:highlight>
                <a:latin typeface="Hazilim"/>
                <a:ea typeface="Hazilim"/>
                <a:cs typeface="Hazilim"/>
                <a:sym typeface="Hazilim"/>
                <a:rtl/>
              </a:rPr>
              <a:t> </a:t>
            </a:r>
            <a:r>
              <a:rPr lang="he-IL" sz="3808" dirty="0" err="1">
                <a:solidFill>
                  <a:srgbClr val="000000"/>
                </a:solidFill>
                <a:highlight>
                  <a:srgbClr val="FFFF00"/>
                </a:highlight>
                <a:latin typeface="Hazilim"/>
                <a:ea typeface="Hazilim"/>
                <a:cs typeface="Hazilim"/>
                <a:sym typeface="Hazilim"/>
                <a:rtl/>
              </a:rPr>
              <a:t>ובחפצא</a:t>
            </a:r>
            <a:r>
              <a:rPr lang="he-IL" sz="3808" dirty="0">
                <a:solidFill>
                  <a:srgbClr val="000000"/>
                </a:solidFill>
                <a:highlight>
                  <a:srgbClr val="FFFF00"/>
                </a:highlight>
                <a:latin typeface="Hazilim"/>
                <a:ea typeface="Hazilim"/>
                <a:cs typeface="Hazilim"/>
                <a:sym typeface="Hazilim"/>
                <a:rtl/>
              </a:rPr>
              <a:t> </a:t>
            </a:r>
          </a:p>
          <a:p>
            <a:pPr algn="ctr">
              <a:lnSpc>
                <a:spcPts val="5332"/>
              </a:lnSpc>
            </a:pPr>
            <a:endParaRPr lang="he-IL" sz="3808" dirty="0">
              <a:solidFill>
                <a:srgbClr val="000000"/>
              </a:solidFill>
              <a:highlight>
                <a:srgbClr val="FFFF00"/>
              </a:highlight>
              <a:latin typeface="Hazilim"/>
              <a:ea typeface="Hazilim"/>
              <a:cs typeface="Hazilim"/>
              <a:sym typeface="Hazilim"/>
              <a:rtl/>
            </a:endParaRPr>
          </a:p>
          <a:p>
            <a:pPr algn="ctr">
              <a:lnSpc>
                <a:spcPts val="5332"/>
              </a:lnSpc>
            </a:pPr>
            <a:r>
              <a:rPr lang="he-IL" sz="3808" dirty="0">
                <a:solidFill>
                  <a:srgbClr val="000000"/>
                </a:solidFill>
                <a:latin typeface="Hazilim"/>
                <a:ea typeface="Hazilim"/>
                <a:cs typeface="Hazilim"/>
                <a:sym typeface="Hazilim"/>
                <a:rtl/>
              </a:rPr>
              <a:t>א. שהפרי התחדש בעולם</a:t>
            </a:r>
          </a:p>
          <a:p>
            <a:pPr algn="ctr">
              <a:lnSpc>
                <a:spcPts val="5332"/>
              </a:lnSpc>
            </a:pPr>
            <a:r>
              <a:rPr lang="he-IL" sz="3808" dirty="0">
                <a:solidFill>
                  <a:srgbClr val="000000"/>
                </a:solidFill>
                <a:latin typeface="Hazilim"/>
                <a:ea typeface="Hazilim"/>
                <a:cs typeface="Hazilim"/>
                <a:sym typeface="Hazilim"/>
                <a:rtl/>
              </a:rPr>
              <a:t>ב. שהפרי שהתחדש אצל האדם</a:t>
            </a:r>
          </a:p>
          <a:p>
            <a:pPr algn="ctr">
              <a:lnSpc>
                <a:spcPts val="5332"/>
              </a:lnSpc>
            </a:pPr>
            <a:endParaRPr lang="he-IL" sz="3808" dirty="0">
              <a:solidFill>
                <a:srgbClr val="000000"/>
              </a:solidFill>
              <a:latin typeface="Hazilim"/>
              <a:ea typeface="Hazilim"/>
              <a:cs typeface="Hazilim"/>
              <a:sym typeface="Hazilim"/>
              <a:rtl/>
            </a:endParaRPr>
          </a:p>
          <a:p>
            <a:pPr algn="ctr">
              <a:lnSpc>
                <a:spcPts val="5332"/>
              </a:lnSpc>
            </a:pPr>
            <a:r>
              <a:rPr lang="he-IL" sz="3808" dirty="0">
                <a:solidFill>
                  <a:srgbClr val="000000"/>
                </a:solidFill>
                <a:latin typeface="Hazilim"/>
                <a:ea typeface="Hazilim"/>
                <a:cs typeface="Hazilim"/>
                <a:sym typeface="Hazilim"/>
                <a:rtl/>
              </a:rPr>
              <a:t>לכן </a:t>
            </a:r>
          </a:p>
          <a:p>
            <a:pPr algn="ctr">
              <a:lnSpc>
                <a:spcPts val="5332"/>
              </a:lnSpc>
            </a:pPr>
            <a:r>
              <a:rPr lang="he-IL" sz="3808" dirty="0">
                <a:solidFill>
                  <a:srgbClr val="000000"/>
                </a:solidFill>
                <a:latin typeface="Hazilim"/>
                <a:ea typeface="Hazilim"/>
                <a:cs typeface="Hazilim"/>
                <a:sym typeface="Hazilim"/>
                <a:rtl/>
              </a:rPr>
              <a:t>א. שלא אכל הרבה זמן – לא מברך</a:t>
            </a:r>
          </a:p>
          <a:p>
            <a:pPr algn="ctr">
              <a:lnSpc>
                <a:spcPts val="5332"/>
              </a:lnSpc>
            </a:pPr>
            <a:r>
              <a:rPr lang="he-IL" sz="3808" dirty="0">
                <a:solidFill>
                  <a:srgbClr val="000000"/>
                </a:solidFill>
                <a:latin typeface="Hazilim"/>
                <a:ea typeface="Hazilim"/>
                <a:cs typeface="Hazilim"/>
                <a:sym typeface="Hazilim"/>
                <a:rtl/>
              </a:rPr>
              <a:t>ב. שהיה מקירור כל השנה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514ABE0C-618D-C624-A4E0-4AF69F206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309"/>
            <a:ext cx="6223000" cy="6223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0800" y="-20782"/>
            <a:ext cx="6334805" cy="6334805"/>
          </a:xfrm>
          <a:custGeom>
            <a:avLst/>
            <a:gdLst/>
            <a:ahLst/>
            <a:cxnLst/>
            <a:rect l="l" t="t" r="r" b="b"/>
            <a:pathLst>
              <a:path w="9502208" h="9502208">
                <a:moveTo>
                  <a:pt x="0" y="0"/>
                </a:moveTo>
                <a:lnTo>
                  <a:pt x="9502208" y="0"/>
                </a:lnTo>
                <a:lnTo>
                  <a:pt x="9502208" y="9502208"/>
                </a:lnTo>
                <a:lnTo>
                  <a:pt x="0" y="95022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he-IL" sz="1200"/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50A93966-87D1-3693-40AA-2EE28BE8C3C8}"/>
              </a:ext>
            </a:extLst>
          </p:cNvPr>
          <p:cNvSpPr txBox="1"/>
          <p:nvPr/>
        </p:nvSpPr>
        <p:spPr>
          <a:xfrm>
            <a:off x="6045200" y="228600"/>
            <a:ext cx="5994400" cy="569938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</a:pPr>
            <a:r>
              <a:rPr lang="he-IL" sz="2400" b="1" dirty="0">
                <a:solidFill>
                  <a:srgbClr val="000000"/>
                </a:solidFill>
                <a:latin typeface="Arial" panose="020B0604020202020204" pitchFamily="34" charset="0"/>
              </a:rPr>
              <a:t>ברכת שהחיינו על ענבים ממקורות שונים</a:t>
            </a:r>
            <a:endParaRPr lang="he-IL" sz="2133" b="1" dirty="0"/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lang="he-IL" sz="1867" b="1" dirty="0">
                <a:solidFill>
                  <a:srgbClr val="000000"/>
                </a:solidFill>
                <a:latin typeface="Arial" panose="020B0604020202020204" pitchFamily="34" charset="0"/>
              </a:rPr>
              <a:t>המציאות כיום</a:t>
            </a:r>
            <a:endParaRPr lang="he-IL" sz="2133" b="1" dirty="0"/>
          </a:p>
          <a:p>
            <a:pPr algn="r" rtl="1" fontAlgn="base">
              <a:buFont typeface="Arial" panose="020B0604020202020204" pitchFamily="34" charset="0"/>
              <a:buChar char="•"/>
            </a:pPr>
            <a:r>
              <a:rPr lang="he-IL" sz="2133" dirty="0">
                <a:solidFill>
                  <a:srgbClr val="000000"/>
                </a:solidFill>
                <a:latin typeface="Arial" panose="020B0604020202020204" pitchFamily="34" charset="0"/>
              </a:rPr>
              <a:t>ענבי ארץ ישראל: זמינים מתמוז עד חשוון</a:t>
            </a:r>
          </a:p>
          <a:p>
            <a:pPr algn="r" rtl="1" fontAlgn="base">
              <a:buFont typeface="Arial" panose="020B0604020202020204" pitchFamily="34" charset="0"/>
              <a:buChar char="•"/>
            </a:pPr>
            <a:r>
              <a:rPr lang="he-IL" sz="2133" dirty="0">
                <a:solidFill>
                  <a:srgbClr val="000000"/>
                </a:solidFill>
                <a:latin typeface="Arial" panose="020B0604020202020204" pitchFamily="34" charset="0"/>
              </a:rPr>
              <a:t>ענבי אפריקה: מגיעים בחורף</a:t>
            </a:r>
          </a:p>
          <a:p>
            <a:pPr fontAlgn="base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he-IL" sz="2133" dirty="0">
                <a:solidFill>
                  <a:srgbClr val="000000"/>
                </a:solidFill>
                <a:latin typeface="Arial" panose="020B0604020202020204" pitchFamily="34" charset="0"/>
              </a:rPr>
              <a:t>רצף אספקה: לעיתים אין הפסקה בין סוגי הענבים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lang="he-IL" sz="1867" b="1" dirty="0">
                <a:solidFill>
                  <a:srgbClr val="000000"/>
                </a:solidFill>
                <a:latin typeface="Arial" panose="020B0604020202020204" pitchFamily="34" charset="0"/>
              </a:rPr>
              <a:t>השאלות ההלכתיות</a:t>
            </a:r>
            <a:endParaRPr lang="he-IL" sz="2133" b="1" dirty="0"/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lang="he-IL" sz="1867" b="1" dirty="0">
                <a:solidFill>
                  <a:srgbClr val="000000"/>
                </a:solidFill>
                <a:latin typeface="Arial" panose="020B0604020202020204" pitchFamily="34" charset="0"/>
              </a:rPr>
              <a:t>שאלה א': התחדשות ממקורות שונים</a:t>
            </a:r>
            <a:endParaRPr lang="he-IL" sz="2133" b="1" dirty="0"/>
          </a:p>
          <a:p>
            <a:pPr algn="r" rtl="1" fontAlgn="base">
              <a:buFont typeface="Arial" panose="020B0604020202020204" pitchFamily="34" charset="0"/>
              <a:buChar char="•"/>
            </a:pPr>
            <a:r>
              <a:rPr lang="he-IL" sz="1867" dirty="0">
                <a:solidFill>
                  <a:srgbClr val="000000"/>
                </a:solidFill>
                <a:latin typeface="Arial" panose="020B0604020202020204" pitchFamily="34" charset="0"/>
              </a:rPr>
              <a:t>הדין הידוע: פרי המתחדש פעמיים בשנה - מברכים עליו פעמיים שהחיינו</a:t>
            </a:r>
          </a:p>
          <a:p>
            <a:pPr algn="r" rtl="1" fontAlgn="base">
              <a:buFont typeface="Arial" panose="020B0604020202020204" pitchFamily="34" charset="0"/>
              <a:buChar char="•"/>
            </a:pPr>
            <a:r>
              <a:rPr lang="he-IL" sz="1867" dirty="0">
                <a:solidFill>
                  <a:srgbClr val="000000"/>
                </a:solidFill>
                <a:latin typeface="Arial" panose="020B0604020202020204" pitchFamily="34" charset="0"/>
              </a:rPr>
              <a:t>ההסתייגות: דין זה נאמר בפרי המתחדש פעמיים באותה ארץ</a:t>
            </a:r>
          </a:p>
          <a:p>
            <a:pPr algn="r" rtl="1" fontAlgn="base">
              <a:buFont typeface="Arial" panose="020B0604020202020204" pitchFamily="34" charset="0"/>
              <a:buChar char="•"/>
            </a:pPr>
            <a:r>
              <a:rPr lang="he-IL" sz="1867" dirty="0">
                <a:solidFill>
                  <a:srgbClr val="000000"/>
                </a:solidFill>
                <a:latin typeface="Arial" panose="020B0604020202020204" pitchFamily="34" charset="0"/>
              </a:rPr>
              <a:t>השאלה: האם מברכים שהחיינו כשההתחדשות היא בארצות שונות?</a:t>
            </a:r>
          </a:p>
          <a:p>
            <a:pPr marL="495325" lvl="1" indent="-190510" fontAlgn="base">
              <a:buFont typeface="Arial" panose="020B0604020202020204" pitchFamily="34" charset="0"/>
              <a:buChar char="•"/>
            </a:pPr>
            <a:r>
              <a:rPr lang="he-IL" sz="1867" dirty="0">
                <a:solidFill>
                  <a:srgbClr val="000000"/>
                </a:solidFill>
                <a:latin typeface="Arial" panose="020B0604020202020204" pitchFamily="34" charset="0"/>
              </a:rPr>
              <a:t>פעם ראשונה: ארץ ישראל</a:t>
            </a:r>
          </a:p>
          <a:p>
            <a:pPr marL="495325" lvl="1" indent="-190510" fontAlgn="base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he-IL" sz="1867" dirty="0">
                <a:solidFill>
                  <a:srgbClr val="000000"/>
                </a:solidFill>
                <a:latin typeface="Arial" panose="020B0604020202020204" pitchFamily="34" charset="0"/>
              </a:rPr>
              <a:t>פעם שנייה: אפריקה</a:t>
            </a:r>
          </a:p>
          <a:p>
            <a:endParaRPr lang="he-IL" sz="2133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618" y="-25400"/>
            <a:ext cx="6563274" cy="656327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8087" y="0"/>
                  </a:moveTo>
                  <a:lnTo>
                    <a:pt x="794713" y="0"/>
                  </a:lnTo>
                  <a:cubicBezTo>
                    <a:pt x="799510" y="0"/>
                    <a:pt x="804111" y="1906"/>
                    <a:pt x="807502" y="5298"/>
                  </a:cubicBezTo>
                  <a:cubicBezTo>
                    <a:pt x="810894" y="8689"/>
                    <a:pt x="812800" y="13290"/>
                    <a:pt x="812800" y="18087"/>
                  </a:cubicBezTo>
                  <a:lnTo>
                    <a:pt x="812800" y="794713"/>
                  </a:lnTo>
                  <a:cubicBezTo>
                    <a:pt x="812800" y="799510"/>
                    <a:pt x="810894" y="804111"/>
                    <a:pt x="807502" y="807502"/>
                  </a:cubicBezTo>
                  <a:cubicBezTo>
                    <a:pt x="804111" y="810894"/>
                    <a:pt x="799510" y="812800"/>
                    <a:pt x="794713" y="812800"/>
                  </a:cubicBezTo>
                  <a:lnTo>
                    <a:pt x="18087" y="812800"/>
                  </a:lnTo>
                  <a:cubicBezTo>
                    <a:pt x="13290" y="812800"/>
                    <a:pt x="8689" y="810894"/>
                    <a:pt x="5298" y="807502"/>
                  </a:cubicBezTo>
                  <a:cubicBezTo>
                    <a:pt x="1906" y="804111"/>
                    <a:pt x="0" y="799510"/>
                    <a:pt x="0" y="794713"/>
                  </a:cubicBezTo>
                  <a:lnTo>
                    <a:pt x="0" y="18087"/>
                  </a:lnTo>
                  <a:cubicBezTo>
                    <a:pt x="0" y="13290"/>
                    <a:pt x="1906" y="8689"/>
                    <a:pt x="5298" y="5298"/>
                  </a:cubicBezTo>
                  <a:cubicBezTo>
                    <a:pt x="8689" y="1906"/>
                    <a:pt x="13290" y="0"/>
                    <a:pt x="18087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he-IL" sz="1200"/>
            </a:p>
          </p:txBody>
        </p:sp>
      </p:grp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A09AAAB5-0F7F-77EE-7C1F-60F8F0F989BC}"/>
              </a:ext>
            </a:extLst>
          </p:cNvPr>
          <p:cNvSpPr txBox="1"/>
          <p:nvPr/>
        </p:nvSpPr>
        <p:spPr>
          <a:xfrm>
            <a:off x="6705600" y="127001"/>
            <a:ext cx="5435600" cy="562109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</a:pPr>
            <a:r>
              <a:rPr lang="he-IL" sz="1533" b="1" dirty="0">
                <a:solidFill>
                  <a:srgbClr val="000000"/>
                </a:solidFill>
                <a:latin typeface="Arial" panose="020B0604020202020204" pitchFamily="34" charset="0"/>
              </a:rPr>
              <a:t>הלכה למעשה: ברכת שהחיינו על ענבים מארץ ישראל ומאפריקה</a:t>
            </a:r>
            <a:endParaRPr lang="he-IL" sz="1200" b="1" dirty="0"/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lang="he-IL" sz="1133" b="1" dirty="0">
                <a:solidFill>
                  <a:srgbClr val="000000"/>
                </a:solidFill>
                <a:latin typeface="Arial" panose="020B0604020202020204" pitchFamily="34" charset="0"/>
              </a:rPr>
              <a:t>פסק ההלכה מאת הרב </a:t>
            </a:r>
            <a:r>
              <a:rPr lang="he-IL" sz="1133" b="1" dirty="0" err="1">
                <a:solidFill>
                  <a:srgbClr val="000000"/>
                </a:solidFill>
                <a:latin typeface="Arial" panose="020B0604020202020204" pitchFamily="34" charset="0"/>
              </a:rPr>
              <a:t>מדלבוים</a:t>
            </a:r>
            <a:endParaRPr lang="he-IL" sz="1200" b="1" dirty="0"/>
          </a:p>
          <a:p>
            <a:pPr algn="r" rtl="1" fontAlgn="base">
              <a:buFont typeface="+mj-lt"/>
              <a:buAutoNum type="arabicPeriod"/>
            </a:pPr>
            <a:r>
              <a:rPr lang="he-IL" sz="2133" dirty="0">
                <a:solidFill>
                  <a:srgbClr val="000000"/>
                </a:solidFill>
                <a:latin typeface="Arial" panose="020B0604020202020204" pitchFamily="34" charset="0"/>
              </a:rPr>
              <a:t>אם יש הפסקה בין ענבים מארץ ישראל לענבים מאפריקה:</a:t>
            </a:r>
          </a:p>
          <a:p>
            <a:pPr marL="495325" lvl="1" indent="-190510" fontAlgn="base">
              <a:buFont typeface="Arial" panose="020B0604020202020204" pitchFamily="34" charset="0"/>
              <a:buChar char="•"/>
            </a:pPr>
            <a:r>
              <a:rPr lang="he-IL" sz="2133" dirty="0">
                <a:solidFill>
                  <a:srgbClr val="000000"/>
                </a:solidFill>
                <a:latin typeface="Arial" panose="020B0604020202020204" pitchFamily="34" charset="0"/>
              </a:rPr>
              <a:t>ניתן לברך שהחיינו פעם נוספת.</a:t>
            </a:r>
          </a:p>
          <a:p>
            <a:pPr marL="495325" lvl="1" indent="-190510" fontAlgn="base">
              <a:buFont typeface="Arial" panose="020B0604020202020204" pitchFamily="34" charset="0"/>
              <a:buChar char="•"/>
            </a:pPr>
            <a:r>
              <a:rPr lang="he-IL" sz="2133" dirty="0">
                <a:solidFill>
                  <a:srgbClr val="000000"/>
                </a:solidFill>
                <a:latin typeface="Arial" panose="020B0604020202020204" pitchFamily="34" charset="0"/>
              </a:rPr>
              <a:t>ההפסקה יוצרת תחושת חידוש, ולכן יש לברך על הענבים המגיעים לאחר ההפסקה.</a:t>
            </a:r>
          </a:p>
          <a:p>
            <a:pPr lvl="1" algn="r" rtl="1" fontAlgn="base"/>
            <a:endParaRPr lang="he-IL" sz="2133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495325" lvl="1" indent="-190510" fontAlgn="base">
              <a:buFont typeface="Arial" panose="020B0604020202020204" pitchFamily="34" charset="0"/>
              <a:buChar char="•"/>
            </a:pPr>
            <a:endParaRPr lang="he-IL" sz="2133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r" rtl="1" fontAlgn="base">
              <a:buFont typeface="+mj-lt"/>
              <a:buAutoNum type="arabicPeriod"/>
            </a:pPr>
            <a:r>
              <a:rPr lang="he-IL" sz="2133" dirty="0">
                <a:solidFill>
                  <a:srgbClr val="000000"/>
                </a:solidFill>
                <a:latin typeface="Arial" panose="020B0604020202020204" pitchFamily="34" charset="0"/>
              </a:rPr>
              <a:t>אם אין הפסקה בין סוגי הענבים:</a:t>
            </a:r>
          </a:p>
          <a:p>
            <a:pPr marL="495325" lvl="1" indent="-190510" fontAlgn="base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he-IL" sz="2133" dirty="0">
                <a:solidFill>
                  <a:srgbClr val="000000"/>
                </a:solidFill>
                <a:latin typeface="Arial" panose="020B0604020202020204" pitchFamily="34" charset="0"/>
              </a:rPr>
              <a:t>אין לברך שהחיינו כלל, אפילו לא על ענבים מארץ ישראל.</a:t>
            </a:r>
          </a:p>
          <a:p>
            <a:pPr marL="495325" lvl="1" indent="-190510" fontAlgn="base">
              <a:spcBef>
                <a:spcPts val="4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he-IL" sz="2133" dirty="0">
                <a:solidFill>
                  <a:srgbClr val="000000"/>
                </a:solidFill>
                <a:latin typeface="Arial" panose="020B0604020202020204" pitchFamily="34" charset="0"/>
              </a:rPr>
              <a:t>הסיבה: ההבדל בין הענבים קטן מדי, וקשה לעין הרגילה להבחין בו. לכן, אין תחושת חידוש המצדיקה ברכת שהחיינו.</a:t>
            </a:r>
          </a:p>
          <a:p>
            <a:endParaRPr lang="he-IL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A76982DD-49C6-2590-D7A7-CB4C94615384}"/>
              </a:ext>
            </a:extLst>
          </p:cNvPr>
          <p:cNvSpPr txBox="1"/>
          <p:nvPr/>
        </p:nvSpPr>
        <p:spPr>
          <a:xfrm>
            <a:off x="7061200" y="177800"/>
            <a:ext cx="5130800" cy="583839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2667" b="1" dirty="0">
                <a:solidFill>
                  <a:srgbClr val="3D3929"/>
                </a:solidFill>
                <a:latin typeface="__styreneB_5d855b"/>
              </a:rPr>
              <a:t>המציאות בשנים האחרונות</a:t>
            </a:r>
            <a:endParaRPr lang="he-IL" sz="2667" dirty="0">
              <a:solidFill>
                <a:srgbClr val="3D3929"/>
              </a:solidFill>
              <a:latin typeface="__styreneB_5d855b"/>
            </a:endParaRPr>
          </a:p>
          <a:p>
            <a:pPr algn="r" rtl="1"/>
            <a:endParaRPr lang="he-IL" sz="2667" dirty="0">
              <a:solidFill>
                <a:srgbClr val="3D3929"/>
              </a:solidFill>
              <a:latin typeface="__styreneB_5d855b"/>
            </a:endParaRPr>
          </a:p>
          <a:p>
            <a:pPr algn="r" rtl="1"/>
            <a:r>
              <a:rPr lang="he-IL" sz="2667" dirty="0">
                <a:solidFill>
                  <a:srgbClr val="3D3929"/>
                </a:solidFill>
                <a:latin typeface="__styreneB_5d855b"/>
              </a:rPr>
              <a:t>שנה שעברה (תשפ"ד):  לא הייתה הפסקה בין ענבים מארץ ישראל לענבים מאפריקה. * כתוצאה מכך, לא ניתן היה לברך שהחיינו כלל. </a:t>
            </a:r>
          </a:p>
          <a:p>
            <a:pPr algn="r" rtl="1"/>
            <a:endParaRPr lang="he-IL" sz="2667" dirty="0">
              <a:solidFill>
                <a:srgbClr val="3D3929"/>
              </a:solidFill>
              <a:latin typeface="__styreneB_5d855b"/>
            </a:endParaRPr>
          </a:p>
          <a:p>
            <a:pPr algn="r" rtl="1"/>
            <a:r>
              <a:rPr lang="he-IL" sz="2667" dirty="0">
                <a:solidFill>
                  <a:srgbClr val="3D3929"/>
                </a:solidFill>
                <a:latin typeface="__styreneB_5d855b"/>
              </a:rPr>
              <a:t>השנה (תשפ"ה): * הסוחרים החליטו ליצור הפסקה מלאכותית בין הענבים: * הפסיקו לייבא ענבים מאפריקה לזמן מה. לאחר מכן חידשו את הייבוא. </a:t>
            </a:r>
          </a:p>
          <a:p>
            <a:pPr algn="r" rtl="1"/>
            <a:endParaRPr lang="he-IL" sz="2667" dirty="0">
              <a:solidFill>
                <a:srgbClr val="3D3929"/>
              </a:solidFill>
              <a:latin typeface="__styreneB_5d855b"/>
            </a:endParaRPr>
          </a:p>
          <a:p>
            <a:pPr algn="r" rtl="1"/>
            <a:r>
              <a:rPr lang="he-IL" sz="2667" dirty="0">
                <a:solidFill>
                  <a:srgbClr val="3D3929"/>
                </a:solidFill>
                <a:highlight>
                  <a:srgbClr val="FFFF00"/>
                </a:highlight>
                <a:latin typeface="__styreneB_5d855b"/>
              </a:rPr>
              <a:t>האם הפסקה מלאכותית מחייבת ברכה חדשה?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33064A57-D805-1CCD-98E6-2053F6B4F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09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A94C1-8F13-A26D-6758-1641EA47C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50A1CF17-5427-72CD-CC96-EA901D8F4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63"/>
            <a:ext cx="6858000" cy="6858000"/>
          </a:xfrm>
          <a:prstGeom prst="rect">
            <a:avLst/>
          </a:prstGeom>
        </p:spPr>
      </p:pic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5D074591-916B-CCF5-C348-DCA07451E7D6}"/>
              </a:ext>
            </a:extLst>
          </p:cNvPr>
          <p:cNvSpPr txBox="1"/>
          <p:nvPr/>
        </p:nvSpPr>
        <p:spPr>
          <a:xfrm>
            <a:off x="6654800" y="177800"/>
            <a:ext cx="5537200" cy="665925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2667" dirty="0"/>
              <a:t>🕯️ חקירה: גדר ברכת שהחיינו על פירות בעונות שונות</a:t>
            </a:r>
          </a:p>
          <a:p>
            <a:pPr algn="r" rtl="1"/>
            <a:endParaRPr lang="he-IL" sz="2667" dirty="0"/>
          </a:p>
          <a:p>
            <a:pPr algn="r" rtl="1"/>
            <a:r>
              <a:rPr lang="he-IL" sz="2667" dirty="0">
                <a:highlight>
                  <a:srgbClr val="FFFF00"/>
                </a:highlight>
              </a:rPr>
              <a:t>נקודת החקירה המרכזית: האם חיוב ברכת שהחיינו תלוי בהפסקה טבעית בין העונות, או בתחושת החידוש הסובייקטיבית של האדם?</a:t>
            </a:r>
          </a:p>
          <a:p>
            <a:pPr algn="r" rtl="1"/>
            <a:endParaRPr lang="he-IL" sz="2667" dirty="0">
              <a:highlight>
                <a:srgbClr val="FFFF00"/>
              </a:highlight>
            </a:endParaRPr>
          </a:p>
          <a:p>
            <a:pPr algn="r" rtl="1"/>
            <a:r>
              <a:rPr lang="he-IL" sz="2667" dirty="0">
                <a:highlight>
                  <a:srgbClr val="00FF00"/>
                </a:highlight>
              </a:rPr>
              <a:t>נתיב א': </a:t>
            </a:r>
            <a:r>
              <a:rPr lang="he-IL" sz="2667" dirty="0"/>
              <a:t>נדרשת הפסקה טבעית ומציאותית </a:t>
            </a:r>
          </a:p>
          <a:p>
            <a:pPr algn="r" rtl="1"/>
            <a:r>
              <a:rPr lang="he-IL" sz="2667" dirty="0">
                <a:highlight>
                  <a:srgbClr val="00FF00"/>
                </a:highlight>
              </a:rPr>
              <a:t>צד ב': </a:t>
            </a:r>
            <a:r>
              <a:rPr lang="he-IL" sz="2667" dirty="0"/>
              <a:t>די בהפסקה הנראית לעיני האדם והשוק</a:t>
            </a:r>
          </a:p>
          <a:p>
            <a:pPr algn="r" rtl="1"/>
            <a:r>
              <a:rPr lang="he-IL" sz="2667" dirty="0">
                <a:highlight>
                  <a:srgbClr val="00FF00"/>
                </a:highlight>
              </a:rPr>
              <a:t>יסוד החיוב צד א': </a:t>
            </a:r>
            <a:r>
              <a:rPr lang="he-IL" sz="2667" dirty="0"/>
              <a:t>החיוב נובע מהמציאות האובייקטיבית של חידוש הפרי </a:t>
            </a:r>
          </a:p>
          <a:p>
            <a:pPr algn="r" rtl="1"/>
            <a:r>
              <a:rPr lang="he-IL" sz="2667" dirty="0">
                <a:highlight>
                  <a:srgbClr val="00FF00"/>
                </a:highlight>
              </a:rPr>
              <a:t>צד ב': </a:t>
            </a:r>
            <a:r>
              <a:rPr lang="he-IL" sz="2667" dirty="0"/>
              <a:t>החיוב תלוי בתחושת ההתחדשות של האדם</a:t>
            </a:r>
          </a:p>
        </p:txBody>
      </p:sp>
    </p:spTree>
    <p:extLst>
      <p:ext uri="{BB962C8B-B14F-4D97-AF65-F5344CB8AC3E}">
        <p14:creationId xmlns:p14="http://schemas.microsoft.com/office/powerpoint/2010/main" val="3797109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1600" y="3175"/>
            <a:ext cx="8346495" cy="6858000"/>
          </a:xfrm>
          <a:custGeom>
            <a:avLst/>
            <a:gdLst/>
            <a:ahLst/>
            <a:cxnLst/>
            <a:rect l="l" t="t" r="r" b="b"/>
            <a:pathLst>
              <a:path w="12519742" h="10287000">
                <a:moveTo>
                  <a:pt x="0" y="0"/>
                </a:moveTo>
                <a:lnTo>
                  <a:pt x="12519742" y="0"/>
                </a:lnTo>
                <a:lnTo>
                  <a:pt x="1251974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713" r="-22713"/>
            </a:stretch>
          </a:blipFill>
        </p:spPr>
        <p:txBody>
          <a:bodyPr/>
          <a:lstStyle/>
          <a:p>
            <a:endParaRPr lang="he-IL" sz="1200"/>
          </a:p>
        </p:txBody>
      </p:sp>
      <p:sp>
        <p:nvSpPr>
          <p:cNvPr id="3" name="Freeform 3"/>
          <p:cNvSpPr/>
          <p:nvPr/>
        </p:nvSpPr>
        <p:spPr>
          <a:xfrm>
            <a:off x="5638800" y="-15875"/>
            <a:ext cx="6858000" cy="6858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e-IL" sz="1200"/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AAC12538-259E-4556-1164-C1A9F87C5A67}"/>
              </a:ext>
            </a:extLst>
          </p:cNvPr>
          <p:cNvSpPr txBox="1"/>
          <p:nvPr/>
        </p:nvSpPr>
        <p:spPr>
          <a:xfrm>
            <a:off x="5842000" y="177800"/>
            <a:ext cx="6553200" cy="706969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2667" b="1" dirty="0">
                <a:highlight>
                  <a:srgbClr val="00FF00"/>
                </a:highlight>
                <a:latin typeface="OriyaLitmanRicardo" pitchFamily="50" charset="-79"/>
                <a:cs typeface="OriyaLitmanRicardo" pitchFamily="50" charset="-79"/>
              </a:rPr>
              <a:t>נדרים שני היסודות – טבעית ואצל האדם</a:t>
            </a:r>
          </a:p>
          <a:p>
            <a:pPr algn="ctr" rtl="1"/>
            <a:endParaRPr lang="he-IL" sz="2667" dirty="0"/>
          </a:p>
          <a:p>
            <a:pPr algn="r" rtl="1">
              <a:buFont typeface="+mj-lt"/>
              <a:buAutoNum type="arabicPeriod"/>
            </a:pPr>
            <a:r>
              <a:rPr lang="he-IL" sz="2667" dirty="0"/>
              <a:t>התחדשות טבעית - הנובעת מזמן גידול חדש</a:t>
            </a:r>
          </a:p>
          <a:p>
            <a:pPr algn="r" rtl="1">
              <a:buFont typeface="+mj-lt"/>
              <a:buAutoNum type="arabicPeriod"/>
            </a:pPr>
            <a:r>
              <a:rPr lang="he-IL" sz="2667" dirty="0"/>
              <a:t>תחושת התחדשות אצל האדם - הנוצרת על ידי הפסקה</a:t>
            </a:r>
          </a:p>
          <a:p>
            <a:pPr algn="r" rtl="1">
              <a:buFont typeface="+mj-lt"/>
              <a:buAutoNum type="arabicPeriod"/>
            </a:pPr>
            <a:endParaRPr lang="he-IL" sz="2667" dirty="0"/>
          </a:p>
          <a:p>
            <a:pPr algn="r" rtl="1"/>
            <a:r>
              <a:rPr lang="he-IL" sz="2667" dirty="0"/>
              <a:t>לכן בענבי אפריקה מתקיימים שני התנאים כאשר:</a:t>
            </a:r>
          </a:p>
          <a:p>
            <a:pPr algn="r" rtl="1"/>
            <a:endParaRPr lang="he-IL" sz="2667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2667" dirty="0"/>
              <a:t>יש התחדשות טבעית כי מגיעים מזמן גידול חדש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2667" dirty="0"/>
              <a:t>יש הפסקה היוצרת תחושת התחדשות אצל האדם. 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2667" dirty="0"/>
              <a:t>ולכן </a:t>
            </a:r>
            <a:r>
              <a:rPr lang="he-IL" sz="2667" dirty="0" err="1"/>
              <a:t>בכהאי</a:t>
            </a:r>
            <a:r>
              <a:rPr lang="he-IL" sz="2667" dirty="0"/>
              <a:t> </a:t>
            </a:r>
            <a:r>
              <a:rPr lang="he-IL" sz="2667" dirty="0" err="1"/>
              <a:t>גוונא</a:t>
            </a:r>
            <a:r>
              <a:rPr lang="he-IL" sz="2667" dirty="0"/>
              <a:t> יש לברך שהחיינו.</a:t>
            </a:r>
          </a:p>
          <a:p>
            <a:pPr algn="r" rtl="1">
              <a:buFont typeface="Arial" panose="020B0604020202020204" pitchFamily="34" charset="0"/>
              <a:buChar char="•"/>
            </a:pPr>
            <a:endParaRPr lang="he-IL" sz="2667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2667" dirty="0"/>
              <a:t>אבל אם הענבים מאפריקה היו גדלים באותו זמן של ישראל ורק היו יכולים להמשיך יותר זמן לא היו מברכים שוב שהחיינו – כמו על פרי מקירור.</a:t>
            </a:r>
          </a:p>
          <a:p>
            <a:pPr algn="r" rtl="1"/>
            <a:endParaRPr lang="he-IL" sz="2667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F3D17-FF52-3CAD-4D6C-810FC085E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FEAC4097-9230-9C1D-0A7B-5E194D8F4113}"/>
              </a:ext>
            </a:extLst>
          </p:cNvPr>
          <p:cNvSpPr/>
          <p:nvPr/>
        </p:nvSpPr>
        <p:spPr>
          <a:xfrm>
            <a:off x="5638800" y="-15875"/>
            <a:ext cx="6858000" cy="6858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he-IL" sz="1200"/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5C26DBA3-9CE9-D047-6399-00D2C56F6194}"/>
              </a:ext>
            </a:extLst>
          </p:cNvPr>
          <p:cNvSpPr txBox="1"/>
          <p:nvPr/>
        </p:nvSpPr>
        <p:spPr>
          <a:xfrm>
            <a:off x="5842000" y="177800"/>
            <a:ext cx="6553200" cy="29653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2667" b="1" dirty="0">
                <a:highlight>
                  <a:srgbClr val="00FF00"/>
                </a:highlight>
                <a:latin typeface="OriyaLitmanRicardo" pitchFamily="50" charset="-79"/>
                <a:cs typeface="OriyaLitmanRicardo" pitchFamily="50" charset="-79"/>
              </a:rPr>
              <a:t>השנה מברכים – פעמיים שהחיינו</a:t>
            </a:r>
          </a:p>
          <a:p>
            <a:pPr algn="r" rtl="1"/>
            <a:endParaRPr lang="he-IL" sz="2667" dirty="0"/>
          </a:p>
          <a:p>
            <a:pPr algn="r" rtl="1"/>
            <a:r>
              <a:rPr lang="he-IL" sz="2667" dirty="0"/>
              <a:t>השנה ניתן לברך פעמיים שהחיינו</a:t>
            </a:r>
          </a:p>
          <a:p>
            <a:pPr algn="r" rtl="1"/>
            <a:r>
              <a:rPr lang="he-IL" sz="2667" dirty="0"/>
              <a:t>גם בענבים של החורף מאפריקה</a:t>
            </a:r>
          </a:p>
          <a:p>
            <a:pPr algn="r" rtl="1"/>
            <a:r>
              <a:rPr lang="he-IL" sz="2667" dirty="0"/>
              <a:t>וגם בענבים של </a:t>
            </a:r>
            <a:r>
              <a:rPr lang="he-IL" sz="2667" dirty="0" err="1"/>
              <a:t>הקייץ</a:t>
            </a:r>
            <a:r>
              <a:rPr lang="he-IL" sz="2667" dirty="0"/>
              <a:t> מישראל</a:t>
            </a:r>
          </a:p>
          <a:p>
            <a:pPr algn="r" rtl="1"/>
            <a:r>
              <a:rPr lang="he-IL" sz="2667" dirty="0"/>
              <a:t>היות ויהיה ביניהם הפסקה.</a:t>
            </a:r>
          </a:p>
          <a:p>
            <a:pPr algn="r" rtl="1"/>
            <a:endParaRPr lang="he-IL" sz="2667" dirty="0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5DDFB9FA-E4A4-4E33-BDD7-51FD265E4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840782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1061</Words>
  <Application>Microsoft Office PowerPoint</Application>
  <PresentationFormat>מסך רחב</PresentationFormat>
  <Paragraphs>144</Paragraphs>
  <Slides>15</Slides>
  <Notes>3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14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15</vt:i4>
      </vt:variant>
    </vt:vector>
  </HeadingPairs>
  <TitlesOfParts>
    <vt:vector size="30" baseType="lpstr">
      <vt:lpstr>__styreneB_5d855b</vt:lpstr>
      <vt:lpstr>Aptos</vt:lpstr>
      <vt:lpstr>Aptos Display</vt:lpstr>
      <vt:lpstr>Arial</vt:lpstr>
      <vt:lpstr>Atlas</vt:lpstr>
      <vt:lpstr>D-DINExp</vt:lpstr>
      <vt:lpstr>Guttman Vilna</vt:lpstr>
      <vt:lpstr>Hazilim</vt:lpstr>
      <vt:lpstr>Nehama</vt:lpstr>
      <vt:lpstr>OriyaLitmanRicardo</vt:lpstr>
      <vt:lpstr>Rubik Dirt</vt:lpstr>
      <vt:lpstr>Rubik Distressed</vt:lpstr>
      <vt:lpstr>Suez One</vt:lpstr>
      <vt:lpstr>var( --e-global-typography-primary-font-family )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יהודה טאוב</dc:creator>
  <cp:lastModifiedBy>יהודה טאוב</cp:lastModifiedBy>
  <cp:revision>1</cp:revision>
  <dcterms:created xsi:type="dcterms:W3CDTF">2025-02-17T09:34:38Z</dcterms:created>
  <dcterms:modified xsi:type="dcterms:W3CDTF">2026-10-15T18:05:26Z</dcterms:modified>
</cp:coreProperties>
</file>