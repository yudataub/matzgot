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4.jpg" ContentType="image/jpeg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46E616-955A-474F-82B3-8D87D487F5EB}" v="13" dt="2025-01-20T16:28:31.1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79" d="100"/>
          <a:sy n="79" d="100"/>
        </p:scale>
        <p:origin x="82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87FD8F5-0B2A-F48F-90F7-55B8AF708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D076A6C0-CD8A-62C4-3FC0-23E564C62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6A4B956-6A9A-8101-0912-C82AC6C9F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7A327-B98F-4EEB-A7BB-8070DB67F38B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7CEFCE2-6499-5626-8CA3-51E58826B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D9A1016-9D4B-07B0-B976-CDAE89E00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0EDF-9732-4293-9BE0-B34ECBA3F8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7941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2E4AA8A-AB74-D3E2-7179-80E5DBEAA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6E9AAFF-767F-F8E2-EA77-83DF00538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484FFDB-0148-DF24-95F8-92FF24F4F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7A327-B98F-4EEB-A7BB-8070DB67F38B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D3FE178-0C70-309E-B829-811C7A5B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458EC95-0ACE-30B8-3E5D-5FB3CD74D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0EDF-9732-4293-9BE0-B34ECBA3F8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43640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C8A585F-4FEF-7617-59BC-FCB2DA519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474527A-1824-8734-E8D5-7876C7E1D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4E4CF2E-2B07-6FB9-66D0-37C6E429A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7A327-B98F-4EEB-A7BB-8070DB67F38B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86EE147-9A44-AAE2-ADAB-CCC526277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9C7D119-98CA-F907-9B09-C472C8E5B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0EDF-9732-4293-9BE0-B34ECBA3F8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25554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A56FE77-1ED9-B515-EA38-AACED693D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694E251-AE5C-84D7-F7AD-D0656512E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C4665A0-4210-EB71-6A2C-019A4E4B9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53570D3-02C8-6BED-389B-E1C538755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7A327-B98F-4EEB-A7BB-8070DB67F38B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5E99A0B-B4F4-CA45-D3B4-8A29D9593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5EDF7E3-EC9B-D800-C28D-D7A48AB6F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0EDF-9732-4293-9BE0-B34ECBA3F8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90831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BE050C3-1171-DA54-88E8-52E773155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86C193A-EFA4-B50F-E9AB-829F2420D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74A1401-2091-22C4-BC6C-E4D740EE4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BA9C2C67-6EC6-F13D-006F-452256050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DDE64862-2571-1AE2-30D6-4895D5512D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DD9FCD28-F0FF-C748-DA51-1B75256D3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7A327-B98F-4EEB-A7BB-8070DB67F38B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F9898AA-334B-933F-728D-7FBE48ABD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89BECA56-E62C-E25D-D3C4-24B3853FA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0EDF-9732-4293-9BE0-B34ECBA3F8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86544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79FAB4D-60BE-ECCB-5B90-047D5C7B6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3AB15CEC-165F-2FA5-DA41-0E0DCC6E5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7A327-B98F-4EEB-A7BB-8070DB67F38B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F674BA7-2BA8-2670-F8AF-8A1F21D43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228FC95-9980-1179-7CC7-C07C8C793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0EDF-9732-4293-9BE0-B34ECBA3F8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04435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C8A35863-8691-45BB-638B-0A231655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7A327-B98F-4EEB-A7BB-8070DB67F38B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D9CA0532-A996-D7A4-259A-EC3D0F1FC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C1B7A3D-C701-C5EE-92F8-124B11107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0EDF-9732-4293-9BE0-B34ECBA3F8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7741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71920B4-56A9-79E1-451F-966F013EE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1E581B9-4456-E511-E7A5-3725A7142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B821EE2-4EDF-729B-9A8B-51EE178A5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24071AB-BAE9-D137-599A-0762A21FF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7A327-B98F-4EEB-A7BB-8070DB67F38B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0B2B20D-F8F3-075F-A60D-3E2661016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094A52C-726A-0DE3-B7EF-1275E1B8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0EDF-9732-4293-9BE0-B34ECBA3F8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4579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204ECCE-B5C7-F02D-A761-746C1D3A9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ACBDA52A-7770-6814-C03D-E8848EBD8F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D6F0B0A-3B12-EF49-ABAC-37345A3A4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E7267EB-3D20-91F3-F407-76336765C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7A327-B98F-4EEB-A7BB-8070DB67F38B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BF679DE-E08B-2B6C-8435-7714976D6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D448A18-0D9A-75E8-005D-4FC695364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0EDF-9732-4293-9BE0-B34ECBA3F8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41842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C8D6F4E-52DC-CD57-35B6-E76CD25FC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8A77B25-D630-6933-F9C2-A6D857652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73DD048-FBC3-D1CD-CC0B-1C1B873E0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7A327-B98F-4EEB-A7BB-8070DB67F38B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81EE180-956E-BA6C-5CA7-3B4FB8F63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941898F-AD67-90BB-C9CF-5D4D7C15D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0EDF-9732-4293-9BE0-B34ECBA3F8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81964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E109001A-37B2-69B2-44A5-3529034DF9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5933E74-2A53-0D26-7DB3-83DB972318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9F6C21C-248A-ECD2-1490-1B6F84A8F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7A327-B98F-4EEB-A7BB-8070DB67F38B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80F0514-1CF2-9B49-1C35-2942BCD26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DD3B018-F65F-EE9D-9ECC-75E06DA6F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0EDF-9732-4293-9BE0-B34ECBA3F8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59730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כותר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30C76B-AD3E-F2EB-96E2-5810A0F14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FD5BC6F-8852-214D-B0D4-CECFF3938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3FD62BD-01D6-BD20-8613-8C26CE6BD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7A327-B98F-4EEB-A7BB-8070DB67F38B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90D9EEA-5C4E-051A-088B-AA90EDFB2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09A139A-8BB9-5D82-6542-F4D744A09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0EDF-9732-4293-9BE0-B34ECBA3F8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6609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64BE277-1138-D903-740C-04A3D3428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F216423-70DD-5E18-3B09-97FCF1E03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D452065-CB42-792F-D9A4-4A7AE68FA5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7A327-B98F-4EEB-A7BB-8070DB67F38B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EC7D7F2-1BA9-1C21-F229-D352C2366A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ADE52E8-1216-372A-84C9-5E12DD085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B70EDF-9732-4293-9BE0-B34ECBA3F8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2171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42B776A-21F3-8890-FD1B-03A6A326FCCA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9525">
            <a:solidFill>
              <a:srgbClr val="C8C8C8"/>
            </a:solidFill>
          </a:ln>
        </p:spPr>
        <p:txBody>
          <a:bodyPr>
            <a:normAutofit/>
          </a:bodyPr>
          <a:lstStyle/>
          <a:p>
            <a:r>
              <a:rPr lang="he-IL" sz="4000">
                <a:solidFill>
                  <a:srgbClr val="003399"/>
                </a:solidFill>
                <a:latin typeface="David" panose="020E0502060401010101" pitchFamily="34" charset="-79"/>
              </a:rPr>
              <a:t>דרך הלימוד: שאלה ותשובה כמפתח להצלחה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6744A1C-9F65-9C64-28C3-D76DE57DE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 w="9525">
            <a:solidFill>
              <a:srgbClr val="C8C8C8"/>
            </a:solidFill>
          </a:ln>
        </p:spPr>
        <p:txBody>
          <a:bodyPr>
            <a:normAutofit/>
          </a:bodyPr>
          <a:lstStyle/>
          <a:p>
            <a:endParaRPr lang="he-IL"/>
          </a:p>
        </p:txBody>
      </p:sp>
      <p:pic>
        <p:nvPicPr>
          <p:cNvPr id="5" name="תמונה 4" descr="תמונה שמכילה לבוש, ציור, סרט מצויר, שרטוט&#10;&#10;התיאור נוצר באופן אוטומטי">
            <a:extLst>
              <a:ext uri="{FF2B5EF4-FFF2-40B4-BE49-F238E27FC236}">
                <a16:creationId xmlns:a16="http://schemas.microsoft.com/office/drawing/2014/main" id="{9EFE3593-E64C-8DBF-5B4D-1ABBAF12A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301" y="1833138"/>
            <a:ext cx="4761905" cy="4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050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BFEBB55-E5F6-DBD2-268F-F2AF29E39048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9525">
            <a:solidFill>
              <a:srgbClr val="C8C8C8"/>
            </a:solidFill>
          </a:ln>
        </p:spPr>
        <p:txBody>
          <a:bodyPr>
            <a:normAutofit/>
          </a:bodyPr>
          <a:lstStyle/>
          <a:p>
            <a:r>
              <a:rPr lang="he-IL" sz="4000">
                <a:solidFill>
                  <a:srgbClr val="993300"/>
                </a:solidFill>
                <a:latin typeface="David" panose="020E0502060401010101" pitchFamily="34" charset="-79"/>
              </a:rPr>
              <a:t>יסוד הדברים - התפארת ישראל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AB7084C-6090-F9E5-3BF0-8FD796A99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 w="9525">
            <a:solidFill>
              <a:srgbClr val="C8C8C8"/>
            </a:solidFill>
          </a:ln>
        </p:spPr>
        <p:txBody>
          <a:bodyPr>
            <a:normAutofit/>
          </a:bodyPr>
          <a:lstStyle/>
          <a:p>
            <a:r>
              <a:rPr lang="he-IL">
                <a:solidFill>
                  <a:srgbClr val="006633"/>
                </a:solidFill>
              </a:rPr>
              <a:t>• שואל ומשיב - מקנייני התורה</a:t>
            </a:r>
          </a:p>
          <a:p>
            <a:r>
              <a:rPr lang="he-IL">
                <a:solidFill>
                  <a:srgbClr val="006633"/>
                </a:solidFill>
              </a:rPr>
              <a:t>• רק דרך שאלות ותשובות נחקקים הדברים</a:t>
            </a:r>
          </a:p>
          <a:p>
            <a:r>
              <a:rPr lang="he-IL">
                <a:solidFill>
                  <a:srgbClr val="006633"/>
                </a:solidFill>
              </a:rPr>
              <a:t>• השאלה מעוררת את החושים</a:t>
            </a:r>
          </a:p>
          <a:p>
            <a:r>
              <a:rPr lang="he-IL">
                <a:solidFill>
                  <a:srgbClr val="006633"/>
                </a:solidFill>
              </a:rPr>
              <a:t>• יוצרת סקרנות ורצון לדעת</a:t>
            </a:r>
          </a:p>
        </p:txBody>
      </p:sp>
      <p:pic>
        <p:nvPicPr>
          <p:cNvPr id="5" name="תמונה 4" descr="תמונה שמכילה אדם, בתוך מבנה, רהיטים, פני אדם&#10;&#10;התיאור נוצר באופן אוטומטי">
            <a:extLst>
              <a:ext uri="{FF2B5EF4-FFF2-40B4-BE49-F238E27FC236}">
                <a16:creationId xmlns:a16="http://schemas.microsoft.com/office/drawing/2014/main" id="{50B2CF5C-D5D0-6D7A-9639-1689A4EEE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3" y="1962448"/>
            <a:ext cx="4803122" cy="402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99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1CAB0C4-2C68-D695-9CE8-75ED79748E3B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9525">
            <a:solidFill>
              <a:srgbClr val="C8C8C8"/>
            </a:solidFill>
          </a:ln>
        </p:spPr>
        <p:txBody>
          <a:bodyPr>
            <a:normAutofit/>
          </a:bodyPr>
          <a:lstStyle/>
          <a:p>
            <a:r>
              <a:rPr lang="he-IL" sz="4000">
                <a:solidFill>
                  <a:srgbClr val="006600"/>
                </a:solidFill>
                <a:latin typeface="David" panose="020E0502060401010101" pitchFamily="34" charset="-79"/>
              </a:rPr>
              <a:t>עדות רבי חיים מבריסק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45BB3DE-2017-0714-3DB1-EF5897528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 w="9525">
            <a:solidFill>
              <a:srgbClr val="C8C8C8"/>
            </a:solidFill>
          </a:ln>
        </p:spPr>
        <p:txBody>
          <a:bodyPr>
            <a:normAutofit/>
          </a:bodyPr>
          <a:lstStyle/>
          <a:p>
            <a:r>
              <a:rPr lang="he-IL">
                <a:solidFill>
                  <a:srgbClr val="333399"/>
                </a:solidFill>
              </a:rPr>
              <a:t>• מצוות סיפור יציאת מצרים בדרך שאלה ותשובה</a:t>
            </a:r>
          </a:p>
          <a:p>
            <a:r>
              <a:rPr lang="he-IL">
                <a:solidFill>
                  <a:srgbClr val="333399"/>
                </a:solidFill>
              </a:rPr>
              <a:t>• הדרך להתפעלות אמיתית</a:t>
            </a:r>
          </a:p>
          <a:p>
            <a:r>
              <a:rPr lang="he-IL">
                <a:solidFill>
                  <a:srgbClr val="333399"/>
                </a:solidFill>
              </a:rPr>
              <a:t>• הבדל בין סיפור 'יבש' לסיפור מעורר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877B0B13-6432-4BBA-8C7E-82C281F92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503974"/>
            <a:ext cx="4414982" cy="435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30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265923D-30AA-6C43-9BA6-3734E46D8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>
                <a:solidFill>
                  <a:srgbClr val="003399"/>
                </a:solidFill>
                <a:latin typeface="David" panose="020E0502060401010101" pitchFamily="34" charset="-79"/>
              </a:rPr>
              <a:t>דרך השאלה והתשובה במשנה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28CCA15-3763-64BB-F93A-3CB111013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333399"/>
                </a:solidFill>
              </a:rPr>
              <a:t>חכמת התנאים בעירור הלומד</a:t>
            </a:r>
          </a:p>
          <a:p>
            <a:r>
              <a:rPr lang="he-IL">
                <a:solidFill>
                  <a:srgbClr val="333399"/>
                </a:solidFill>
              </a:rPr>
              <a:t>דוגמאות מרתקות מהש"ס</a:t>
            </a:r>
          </a:p>
          <a:p>
            <a:r>
              <a:rPr lang="he-IL">
                <a:solidFill>
                  <a:srgbClr val="333399"/>
                </a:solidFill>
              </a:rPr>
              <a:t>שיטה שעמדה במבחן הדורות</a:t>
            </a:r>
          </a:p>
        </p:txBody>
      </p:sp>
    </p:spTree>
    <p:extLst>
      <p:ext uri="{BB962C8B-B14F-4D97-AF65-F5344CB8AC3E}">
        <p14:creationId xmlns:p14="http://schemas.microsoft.com/office/powerpoint/2010/main" val="421544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ACB458C-6D19-6ED7-E235-AC6D440F9B69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9525">
            <a:solidFill>
              <a:srgbClr val="C8C8C8"/>
            </a:solidFill>
          </a:ln>
        </p:spPr>
        <p:txBody>
          <a:bodyPr>
            <a:normAutofit/>
          </a:bodyPr>
          <a:lstStyle/>
          <a:p>
            <a:r>
              <a:rPr lang="he-IL" sz="4000">
                <a:solidFill>
                  <a:srgbClr val="660066"/>
                </a:solidFill>
                <a:latin typeface="David" panose="020E0502060401010101" pitchFamily="34" charset="-79"/>
              </a:rPr>
              <a:t>תהליך הלמידה האפקטיבי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7C6F302-1450-0119-377F-6258E0887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 w="9525">
            <a:solidFill>
              <a:srgbClr val="C8C8C8"/>
            </a:solidFill>
          </a:ln>
        </p:spPr>
        <p:txBody>
          <a:bodyPr>
            <a:normAutofit/>
          </a:bodyPr>
          <a:lstStyle/>
          <a:p>
            <a:r>
              <a:rPr lang="he-IL">
                <a:solidFill>
                  <a:srgbClr val="333366"/>
                </a:solidFill>
              </a:rPr>
              <a:t>1. שמיעת השאלה</a:t>
            </a:r>
          </a:p>
          <a:p>
            <a:r>
              <a:rPr lang="he-IL">
                <a:solidFill>
                  <a:srgbClr val="333366"/>
                </a:solidFill>
              </a:rPr>
              <a:t>2. התעוררות הסקרנות</a:t>
            </a:r>
          </a:p>
          <a:p>
            <a:r>
              <a:rPr lang="he-IL">
                <a:solidFill>
                  <a:srgbClr val="333366"/>
                </a:solidFill>
              </a:rPr>
              <a:t>3. חיפוש התשובה</a:t>
            </a:r>
          </a:p>
          <a:p>
            <a:r>
              <a:rPr lang="he-IL">
                <a:solidFill>
                  <a:srgbClr val="333366"/>
                </a:solidFill>
              </a:rPr>
              <a:t>4. מציאת התשובה</a:t>
            </a:r>
          </a:p>
          <a:p>
            <a:r>
              <a:rPr lang="he-IL">
                <a:solidFill>
                  <a:srgbClr val="333366"/>
                </a:solidFill>
              </a:rPr>
              <a:t>5. חקיקה בלב</a:t>
            </a:r>
          </a:p>
        </p:txBody>
      </p:sp>
      <p:pic>
        <p:nvPicPr>
          <p:cNvPr id="5" name="תמונה 4" descr="תמונה שמכילה פני אדם, לבוש, אדם, איש&#10;&#10;התיאור נוצר באופן אוטומטי">
            <a:extLst>
              <a:ext uri="{FF2B5EF4-FFF2-40B4-BE49-F238E27FC236}">
                <a16:creationId xmlns:a16="http://schemas.microsoft.com/office/drawing/2014/main" id="{CB73B987-9C81-E4D4-5FE1-65AF6EC22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550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50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3370064-B474-A749-F31F-9C7F81A4F6BF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9525">
            <a:solidFill>
              <a:srgbClr val="C8C8C8"/>
            </a:solidFill>
          </a:ln>
        </p:spPr>
        <p:txBody>
          <a:bodyPr>
            <a:normAutofit/>
          </a:bodyPr>
          <a:lstStyle/>
          <a:p>
            <a:r>
              <a:rPr lang="he-IL" sz="4000">
                <a:solidFill>
                  <a:srgbClr val="996600"/>
                </a:solidFill>
                <a:latin typeface="David" panose="020E0502060401010101" pitchFamily="34" charset="-79"/>
              </a:rPr>
              <a:t>יישום בלימוד עצמי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2493850-0825-8E62-EC20-F11787605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 w="9525">
            <a:solidFill>
              <a:srgbClr val="C8C8C8"/>
            </a:solidFill>
          </a:ln>
        </p:spPr>
        <p:txBody>
          <a:bodyPr>
            <a:normAutofit/>
          </a:bodyPr>
          <a:lstStyle/>
          <a:p>
            <a:r>
              <a:rPr lang="he-IL">
                <a:solidFill>
                  <a:srgbClr val="006666"/>
                </a:solidFill>
              </a:rPr>
              <a:t>שאלות מפתח:</a:t>
            </a:r>
          </a:p>
          <a:p>
            <a:r>
              <a:rPr lang="he-IL">
                <a:solidFill>
                  <a:srgbClr val="006666"/>
                </a:solidFill>
              </a:rPr>
              <a:t>• מה המקור לדין?</a:t>
            </a:r>
          </a:p>
          <a:p>
            <a:r>
              <a:rPr lang="he-IL">
                <a:solidFill>
                  <a:srgbClr val="006666"/>
                </a:solidFill>
              </a:rPr>
              <a:t>• האם זה דאורייתא או דרבנן?</a:t>
            </a:r>
          </a:p>
          <a:p>
            <a:r>
              <a:rPr lang="he-IL">
                <a:solidFill>
                  <a:srgbClr val="006666"/>
                </a:solidFill>
              </a:rPr>
              <a:t>• האם יש בזה מחלוקת?</a:t>
            </a:r>
          </a:p>
          <a:p>
            <a:r>
              <a:rPr lang="he-IL">
                <a:solidFill>
                  <a:srgbClr val="006666"/>
                </a:solidFill>
              </a:rPr>
              <a:t>• מדוע הדין כך?</a:t>
            </a:r>
          </a:p>
          <a:p>
            <a:r>
              <a:rPr lang="he-IL">
                <a:solidFill>
                  <a:srgbClr val="006666"/>
                </a:solidFill>
              </a:rPr>
              <a:t>• מתי זה נוהג?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07DE2BAC-C05D-CCAD-8BB9-CC6F61422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550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537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5058677-F326-465D-9DBB-57E764714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>
                <a:latin typeface="David" panose="020E0502060401010101" pitchFamily="34" charset="-79"/>
              </a:rPr>
              <a:t>סיכום והמלצות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56426EC-72F8-6FA8-B431-D33425F4C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• שאלה ותשובה - לא רק טכניקה, אלא דרך עמוקה</a:t>
            </a:r>
          </a:p>
          <a:p>
            <a:r>
              <a:rPr lang="he-IL" dirty="0"/>
              <a:t>• מביאה להתעוררות והתפעלות</a:t>
            </a:r>
          </a:p>
          <a:p>
            <a:r>
              <a:rPr lang="he-IL" dirty="0"/>
              <a:t>• מעמיקה את ההבנה</a:t>
            </a:r>
          </a:p>
          <a:p>
            <a:r>
              <a:rPr lang="he-IL" dirty="0"/>
              <a:t>• משפרת את הזיכרון</a:t>
            </a:r>
          </a:p>
          <a:p>
            <a:r>
              <a:rPr lang="he-IL" dirty="0"/>
              <a:t>• יוצרת חיבור אמיתי לתורה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E99B30EF-5BD8-B9B7-6EBE-E86D00766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4472"/>
            <a:ext cx="4553527" cy="455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700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תרשים, צילום מסך&#10;&#10;התיאור נוצר באופן אוטומטי">
            <a:extLst>
              <a:ext uri="{FF2B5EF4-FFF2-40B4-BE49-F238E27FC236}">
                <a16:creationId xmlns:a16="http://schemas.microsoft.com/office/drawing/2014/main" id="{B07C4504-8102-5E69-7548-6C5C1559A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93" y="0"/>
            <a:ext cx="97058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7298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161</Words>
  <Application>Microsoft Office PowerPoint</Application>
  <PresentationFormat>מסך רחב</PresentationFormat>
  <Paragraphs>33</Paragraphs>
  <Slides>8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David</vt:lpstr>
      <vt:lpstr>ערכת נושא Office</vt:lpstr>
      <vt:lpstr>דרך הלימוד: שאלה ותשובה כמפתח להצלחה</vt:lpstr>
      <vt:lpstr>יסוד הדברים - התפארת ישראל</vt:lpstr>
      <vt:lpstr>עדות רבי חיים מבריסק</vt:lpstr>
      <vt:lpstr>דרך השאלה והתשובה במשנה</vt:lpstr>
      <vt:lpstr>תהליך הלמידה האפקטיבי</vt:lpstr>
      <vt:lpstr>יישום בלימוד עצמי</vt:lpstr>
      <vt:lpstr>סיכום והמלצות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יהודה טאוב</dc:creator>
  <cp:lastModifiedBy>יהודה טאוב</cp:lastModifiedBy>
  <cp:revision>2</cp:revision>
  <dcterms:created xsi:type="dcterms:W3CDTF">2025-01-20T15:50:43Z</dcterms:created>
  <dcterms:modified xsi:type="dcterms:W3CDTF">2026-10-15T18:05:26Z</dcterms:modified>
</cp:coreProperties>
</file>