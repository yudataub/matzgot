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79" d="100"/>
          <a:sy n="79" d="100"/>
        </p:scale>
        <p:origin x="821"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90C694A-E1A2-30CD-6D78-95092912EEFF}"/>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C2D9A142-9692-90A3-47FB-E0838B4636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EEAEB13D-024E-CCDF-0D59-9B58FFF57821}"/>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CE60D31C-C7E5-D8A0-98B2-DD98C9C9647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4E87CC2-A7B0-2E9C-92F4-987AF97F4EA6}"/>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873942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C5C854F-0C6E-56D7-7F44-79D4D2B02C6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937F7DD-2980-50E6-55AF-7E4A1141A4C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6278D90-EAD7-B063-8C18-0CCECCBC4E7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D9D9E30-09A8-28D7-B6C8-442E4F6183E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CA819AE-468D-8078-6482-8E8D2BD5CD60}"/>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733034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EC25D28-4B01-33E4-A417-1DD0AA12D045}"/>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00637B2-D15A-8008-9DE4-2647548A8E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32AE9F3-8FF5-607E-364C-FFFB7114E49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7356C2CB-D728-4E65-4C7B-2CDFF86CAAC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6D2DA2CB-87FD-0325-1E0B-F9FBAF0FCA61}"/>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285102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91B567-CD1F-A9EB-9016-3F4CBFB8689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B04F50F-709F-1A5D-3B0F-618526376BA4}"/>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86F13290-DDE8-FE5C-C4A5-254C1D1C02F9}"/>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7AD1FAF-81CF-BDAD-49E7-8ADBF05AF886}"/>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9BC36541-C5B6-A237-5E2B-C7D8373E427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9A0E553-2342-DC06-A659-3328ECAC80BD}"/>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718784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CB4E0BE-041F-4C06-B174-2441A64E869D}"/>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34D7DA35-11AA-A6C1-920A-AE59CE2FA0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FFA7BEB-0F25-02CC-8AF3-71B3D3390046}"/>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65EED566-DD61-1176-B626-423657BA55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F330FAB3-F539-11D4-376E-CF476EAFDF61}"/>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B8EE1A59-C3A1-2EEE-405F-73B1274956E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25D71C99-02C7-0A97-61DB-BB2B5DAD5563}"/>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319AB741-A818-C7C6-4B86-5CC66A2EA1F8}"/>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971819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57597A-B5AB-91A2-AB39-FFAC485132E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00A5A73B-0A92-4A43-C766-F238437B77F4}"/>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07B8707B-5E72-473B-33D6-19382AA98348}"/>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98BA3B50-B6D2-EBA0-931D-401DC38657F3}"/>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773894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295478DD-86ED-13BC-06D8-97EC8CE81164}"/>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7D5CF6C8-BFC3-2351-CA89-207A347AC9F4}"/>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128334AA-4371-29BA-DE88-EE16671DBFF8}"/>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189158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48D7D3-9CDD-587A-2FE2-A07D513C4A9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B897E43-28C0-72E7-9B2D-90B2280D11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EC2277AC-D4B8-7013-0BB8-8344DF7457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C4E9AA8-8D79-DD7F-C461-59D6E1A638FB}"/>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F0CEA983-C206-453F-FAD6-470450A79F6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686BFAD-315F-43D2-2FA5-255CD7539A3F}"/>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686515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A6969F5-B439-6B36-8B53-350D1DCE352A}"/>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C667CF71-4383-228F-5B47-A3D750E48D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F32B09A0-8E95-F3A3-74C9-97A368C03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FAB5E6B-E33D-62DA-25F7-AD4B58FFCBDD}"/>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51B1DB0C-186E-2617-E292-66B49638BBD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691AF20-54FB-7ABC-3688-DA54B7DE5BDA}"/>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132854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894104-D717-32E1-6D19-C3DF7EB51D9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7461A37-E07E-5D13-B814-5ADFCEA3FA7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26504C8-2411-661A-2345-7AEC7C489646}"/>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12A7B571-2FCC-D558-DE89-053FAE9402A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BA7A190-ACE8-D53A-3768-12ED80C55D89}"/>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3279222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D3EAD7E-E5BD-704A-9025-F4B104D1BDA3}"/>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0234AE61-0B28-5E1A-505C-1E93B1CFE5DD}"/>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3319EDD-809C-972F-0FDF-B38B2AE1DE92}"/>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CF5BA57F-32A4-CBBA-D2BE-15B5557F74E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BAF12C0-931C-75EA-0659-13CA93936DFB}"/>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2087021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כותרת וטקסט">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7EBD4A7-ADC1-7119-FB84-C4DB4EB15E0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728C73DE-77B2-9666-CE66-E33B8E44B021}"/>
              </a:ext>
            </a:extLst>
          </p:cNvPr>
          <p:cNvSpPr>
            <a:spLocks noGrp="1"/>
          </p:cNvSpPr>
          <p:nvPr>
            <p:ph type="body"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47592D9-8E99-1E1B-E2F5-051F0F8F65FF}"/>
              </a:ext>
            </a:extLst>
          </p:cNvPr>
          <p:cNvSpPr>
            <a:spLocks noGrp="1"/>
          </p:cNvSpPr>
          <p:nvPr>
            <p:ph type="dt" sz="half" idx="10"/>
          </p:nvPr>
        </p:nvSpPr>
        <p:spPr/>
        <p:txBody>
          <a:body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A0478E14-F1D3-91EF-6EF1-205E6D54A8B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BB08B66-AA5C-30F9-C9D5-AC7F38720FE9}"/>
              </a:ext>
            </a:extLst>
          </p:cNvPr>
          <p:cNvSpPr>
            <a:spLocks noGrp="1"/>
          </p:cNvSpPr>
          <p:nvPr>
            <p:ph type="sldNum" sz="quarter" idx="12"/>
          </p:nvPr>
        </p:nvSpPr>
        <p:spPr/>
        <p:txBody>
          <a:bodyPr/>
          <a:lstStyle/>
          <a:p>
            <a:fld id="{0CE3DF40-38FA-4D65-98E4-39A214A6EED4}" type="slidenum">
              <a:rPr lang="he-IL" smtClean="0"/>
              <a:t>‹#›</a:t>
            </a:fld>
            <a:endParaRPr lang="he-IL"/>
          </a:p>
        </p:txBody>
      </p:sp>
    </p:spTree>
    <p:extLst>
      <p:ext uri="{BB962C8B-B14F-4D97-AF65-F5344CB8AC3E}">
        <p14:creationId xmlns:p14="http://schemas.microsoft.com/office/powerpoint/2010/main" val="513197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4CFF2815-1F46-879E-7ECA-5A4D2E05CBA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A0696C4-2EFA-FA38-F36C-6FF076CC7A3A}"/>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18F14F5-6C96-DE0D-CFA4-983B579B6899}"/>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20D38297-E8D8-4B61-9F8E-85A901B77A3B}"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31B19FD-0773-DF94-B9A0-82D935ECC8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8409E2DF-B126-5BFE-01A5-9F335E2B15C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0CE3DF40-38FA-4D65-98E4-39A214A6EED4}" type="slidenum">
              <a:rPr lang="he-IL" smtClean="0"/>
              <a:t>‹#›</a:t>
            </a:fld>
            <a:endParaRPr lang="he-IL"/>
          </a:p>
        </p:txBody>
      </p:sp>
    </p:spTree>
    <p:extLst>
      <p:ext uri="{BB962C8B-B14F-4D97-AF65-F5344CB8AC3E}">
        <p14:creationId xmlns:p14="http://schemas.microsoft.com/office/powerpoint/2010/main" val="3414951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520BAB7-DEEE-F1A3-9D16-1856087C6AE3}"/>
              </a:ext>
            </a:extLst>
          </p:cNvPr>
          <p:cNvSpPr>
            <a:spLocks noGrp="1"/>
          </p:cNvSpPr>
          <p:nvPr>
            <p:ph type="title"/>
          </p:nvPr>
        </p:nvSpPr>
        <p:spPr/>
        <p:txBody>
          <a:bodyPr>
            <a:normAutofit/>
          </a:bodyPr>
          <a:lstStyle/>
          <a:p>
            <a:r>
              <a:rPr lang="he-IL">
                <a:solidFill>
                  <a:srgbClr val="000080"/>
                </a:solidFill>
                <a:latin typeface="David" panose="020E0502060401010101" pitchFamily="34" charset="-79"/>
              </a:rPr>
              <a:t>מאה ברכות - מסע רוחני יומי</a:t>
            </a:r>
          </a:p>
        </p:txBody>
      </p:sp>
      <p:sp>
        <p:nvSpPr>
          <p:cNvPr id="3" name="מציין מיקום טקסט 2">
            <a:extLst>
              <a:ext uri="{FF2B5EF4-FFF2-40B4-BE49-F238E27FC236}">
                <a16:creationId xmlns:a16="http://schemas.microsoft.com/office/drawing/2014/main" id="{1FFD66BC-5C83-76C4-4DE9-77BB877E31DC}"/>
              </a:ext>
            </a:extLst>
          </p:cNvPr>
          <p:cNvSpPr>
            <a:spLocks noGrp="1"/>
          </p:cNvSpPr>
          <p:nvPr>
            <p:ph type="body" idx="1"/>
          </p:nvPr>
        </p:nvSpPr>
        <p:spPr/>
        <p:txBody>
          <a:bodyPr>
            <a:normAutofit/>
          </a:bodyPr>
          <a:lstStyle/>
          <a:p>
            <a:r>
              <a:rPr lang="he-IL">
                <a:latin typeface="David" panose="020E0502060401010101" pitchFamily="34" charset="-79"/>
              </a:rPr>
              <a:t>תקנת דוד המלך שמלווה אותנו עד היום</a:t>
            </a:r>
          </a:p>
        </p:txBody>
      </p:sp>
    </p:spTree>
    <p:extLst>
      <p:ext uri="{BB962C8B-B14F-4D97-AF65-F5344CB8AC3E}">
        <p14:creationId xmlns:p14="http://schemas.microsoft.com/office/powerpoint/2010/main" val="2256232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74A8D9A-6C54-EF73-8BC4-62BA8A1BE134}"/>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הרקע ההיסטורי</a:t>
            </a:r>
          </a:p>
        </p:txBody>
      </p:sp>
      <p:sp>
        <p:nvSpPr>
          <p:cNvPr id="3" name="מציין מיקום טקסט 2">
            <a:extLst>
              <a:ext uri="{FF2B5EF4-FFF2-40B4-BE49-F238E27FC236}">
                <a16:creationId xmlns:a16="http://schemas.microsoft.com/office/drawing/2014/main" id="{9DD03415-2171-B592-5E59-0EEDE4F1DDB8}"/>
              </a:ext>
            </a:extLst>
          </p:cNvPr>
          <p:cNvSpPr>
            <a:spLocks noGrp="1"/>
          </p:cNvSpPr>
          <p:nvPr>
            <p:ph type="body" idx="1"/>
          </p:nvPr>
        </p:nvSpPr>
        <p:spPr/>
        <p:txBody>
          <a:bodyPr>
            <a:normAutofit/>
          </a:bodyPr>
          <a:lstStyle/>
          <a:p>
            <a:r>
              <a:rPr lang="he-IL" sz="2400">
                <a:latin typeface="David" panose="020E0502060401010101" pitchFamily="34" charset="-79"/>
              </a:rPr>
              <a:t>• בימי דוד המלך - מגפה קשה</a:t>
            </a:r>
          </a:p>
          <a:p>
            <a:r>
              <a:rPr lang="he-IL" sz="2400">
                <a:latin typeface="David" panose="020E0502060401010101" pitchFamily="34" charset="-79"/>
              </a:rPr>
              <a:t>• תקנת מאה ברכות ביום</a:t>
            </a:r>
          </a:p>
          <a:p>
            <a:r>
              <a:rPr lang="he-IL" sz="2400">
                <a:latin typeface="David" panose="020E0502060401010101" pitchFamily="34" charset="-79"/>
              </a:rPr>
              <a:t>• הפסקת המגפה</a:t>
            </a:r>
          </a:p>
          <a:p>
            <a:r>
              <a:rPr lang="he-IL" sz="2400">
                <a:latin typeface="David" panose="020E0502060401010101" pitchFamily="34" charset="-79"/>
              </a:rPr>
              <a:t>• הפיכת התקנה לחלק מחיי היהדות</a:t>
            </a:r>
          </a:p>
        </p:txBody>
      </p:sp>
    </p:spTree>
    <p:extLst>
      <p:ext uri="{BB962C8B-B14F-4D97-AF65-F5344CB8AC3E}">
        <p14:creationId xmlns:p14="http://schemas.microsoft.com/office/powerpoint/2010/main" val="2959807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BFCBAC0-7DDE-95FF-3E56-D0D0AA3BEDA8}"/>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התפתחות התקנה</a:t>
            </a:r>
          </a:p>
        </p:txBody>
      </p:sp>
      <p:sp>
        <p:nvSpPr>
          <p:cNvPr id="3" name="מציין מיקום טקסט 2">
            <a:extLst>
              <a:ext uri="{FF2B5EF4-FFF2-40B4-BE49-F238E27FC236}">
                <a16:creationId xmlns:a16="http://schemas.microsoft.com/office/drawing/2014/main" id="{343AC8F9-A0AE-4398-2CC7-42D2DFDD4F4D}"/>
              </a:ext>
            </a:extLst>
          </p:cNvPr>
          <p:cNvSpPr>
            <a:spLocks noGrp="1"/>
          </p:cNvSpPr>
          <p:nvPr>
            <p:ph type="body" idx="1"/>
          </p:nvPr>
        </p:nvSpPr>
        <p:spPr/>
        <p:txBody>
          <a:bodyPr>
            <a:normAutofit/>
          </a:bodyPr>
          <a:lstStyle/>
          <a:p>
            <a:r>
              <a:rPr lang="he-IL" sz="2400">
                <a:latin typeface="David" panose="020E0502060401010101" pitchFamily="34" charset="-79"/>
              </a:rPr>
              <a:t>1. תקופת משה עד דוד:</a:t>
            </a:r>
          </a:p>
          <a:p>
            <a:r>
              <a:rPr lang="he-IL" sz="2400">
                <a:latin typeface="David" panose="020E0502060401010101" pitchFamily="34" charset="-79"/>
              </a:rPr>
              <a:t>   ברכות לפי צחות הלשון</a:t>
            </a:r>
          </a:p>
          <a:p>
            <a:endParaRPr lang="he-IL" sz="2400">
              <a:latin typeface="David" panose="020E0502060401010101" pitchFamily="34" charset="-79"/>
            </a:endParaRPr>
          </a:p>
          <a:p>
            <a:r>
              <a:rPr lang="he-IL" sz="2400">
                <a:latin typeface="David" panose="020E0502060401010101" pitchFamily="34" charset="-79"/>
              </a:rPr>
              <a:t>2. תקופת דוד עד אנשי כנסת הגדולה:</a:t>
            </a:r>
          </a:p>
          <a:p>
            <a:r>
              <a:rPr lang="he-IL" sz="2400">
                <a:latin typeface="David" panose="020E0502060401010101" pitchFamily="34" charset="-79"/>
              </a:rPr>
              <a:t>   חיוב מאה ברכות בנוסח אישי</a:t>
            </a:r>
          </a:p>
          <a:p>
            <a:endParaRPr lang="he-IL" sz="2400">
              <a:latin typeface="David" panose="020E0502060401010101" pitchFamily="34" charset="-79"/>
            </a:endParaRPr>
          </a:p>
          <a:p>
            <a:r>
              <a:rPr lang="he-IL" sz="2400">
                <a:latin typeface="David" panose="020E0502060401010101" pitchFamily="34" charset="-79"/>
              </a:rPr>
              <a:t>3. מאנשי כנסת הגדולה עד היום:</a:t>
            </a:r>
          </a:p>
          <a:p>
            <a:r>
              <a:rPr lang="he-IL" sz="2400">
                <a:latin typeface="David" panose="020E0502060401010101" pitchFamily="34" charset="-79"/>
              </a:rPr>
              <a:t>   נוסח קבוע למאה ברכות</a:t>
            </a:r>
          </a:p>
        </p:txBody>
      </p:sp>
    </p:spTree>
    <p:extLst>
      <p:ext uri="{BB962C8B-B14F-4D97-AF65-F5344CB8AC3E}">
        <p14:creationId xmlns:p14="http://schemas.microsoft.com/office/powerpoint/2010/main" val="4032433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F028594-C9FE-58E0-74B9-EB4A857F57E8}"/>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חיוב נשים במאה ברכות</a:t>
            </a:r>
          </a:p>
        </p:txBody>
      </p:sp>
      <p:sp>
        <p:nvSpPr>
          <p:cNvPr id="3" name="מציין מיקום טקסט 2">
            <a:extLst>
              <a:ext uri="{FF2B5EF4-FFF2-40B4-BE49-F238E27FC236}">
                <a16:creationId xmlns:a16="http://schemas.microsoft.com/office/drawing/2014/main" id="{A400C80D-0D5B-5477-4D56-9219A876C0FE}"/>
              </a:ext>
            </a:extLst>
          </p:cNvPr>
          <p:cNvSpPr>
            <a:spLocks noGrp="1"/>
          </p:cNvSpPr>
          <p:nvPr>
            <p:ph type="body" idx="1"/>
          </p:nvPr>
        </p:nvSpPr>
        <p:spPr/>
        <p:txBody>
          <a:bodyPr>
            <a:normAutofit/>
          </a:bodyPr>
          <a:lstStyle/>
          <a:p>
            <a:r>
              <a:rPr lang="he-IL" sz="2400">
                <a:latin typeface="David" panose="020E0502060401010101" pitchFamily="34" charset="-79"/>
              </a:rPr>
              <a:t>שתי גישות מרכזיות:</a:t>
            </a:r>
          </a:p>
          <a:p>
            <a:endParaRPr lang="he-IL" sz="2400">
              <a:latin typeface="David" panose="020E0502060401010101" pitchFamily="34" charset="-79"/>
            </a:endParaRPr>
          </a:p>
          <a:p>
            <a:r>
              <a:rPr lang="he-IL" sz="2400">
                <a:latin typeface="David" panose="020E0502060401010101" pitchFamily="34" charset="-79"/>
              </a:rPr>
              <a:t>המחייבים:</a:t>
            </a:r>
          </a:p>
          <a:p>
            <a:r>
              <a:rPr lang="he-IL" sz="2400">
                <a:latin typeface="David" panose="020E0502060401010101" pitchFamily="34" charset="-79"/>
              </a:rPr>
              <a:t>• נשים צריכות חיים כמו גברים</a:t>
            </a:r>
          </a:p>
          <a:p>
            <a:r>
              <a:rPr lang="he-IL" sz="2400">
                <a:latin typeface="David" panose="020E0502060401010101" pitchFamily="34" charset="-79"/>
              </a:rPr>
              <a:t>• סכנת המגפה שייכת לכולם</a:t>
            </a:r>
          </a:p>
          <a:p>
            <a:endParaRPr lang="he-IL" sz="2400">
              <a:latin typeface="David" panose="020E0502060401010101" pitchFamily="34" charset="-79"/>
            </a:endParaRPr>
          </a:p>
          <a:p>
            <a:r>
              <a:rPr lang="he-IL" sz="2400">
                <a:latin typeface="David" panose="020E0502060401010101" pitchFamily="34" charset="-79"/>
              </a:rPr>
              <a:t>הפוטרים:</a:t>
            </a:r>
          </a:p>
          <a:p>
            <a:r>
              <a:rPr lang="he-IL" sz="2400">
                <a:latin typeface="David" panose="020E0502060401010101" pitchFamily="34" charset="-79"/>
              </a:rPr>
              <a:t>• קושי מעשי בהשגת מאה ברכות</a:t>
            </a:r>
          </a:p>
          <a:p>
            <a:r>
              <a:rPr lang="he-IL" sz="2400">
                <a:latin typeface="David" panose="020E0502060401010101" pitchFamily="34" charset="-79"/>
              </a:rPr>
              <a:t>• אין חיוב בתפילות קבועות</a:t>
            </a:r>
          </a:p>
        </p:txBody>
      </p:sp>
    </p:spTree>
    <p:extLst>
      <p:ext uri="{BB962C8B-B14F-4D97-AF65-F5344CB8AC3E}">
        <p14:creationId xmlns:p14="http://schemas.microsoft.com/office/powerpoint/2010/main" val="592041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27777B2-5E21-B2BD-B7CD-6858EE3842BC}"/>
              </a:ext>
            </a:extLst>
          </p:cNvPr>
          <p:cNvSpPr>
            <a:spLocks noGrp="1"/>
          </p:cNvSpPr>
          <p:nvPr>
            <p:ph type="title"/>
          </p:nvPr>
        </p:nvSpPr>
        <p:spPr/>
        <p:txBody>
          <a:bodyPr>
            <a:normAutofit/>
          </a:bodyPr>
          <a:lstStyle/>
          <a:p>
            <a:r>
              <a:rPr lang="he-IL" sz="4000">
                <a:solidFill>
                  <a:srgbClr val="000080"/>
                </a:solidFill>
                <a:latin typeface="David" panose="020E0502060401010101" pitchFamily="34" charset="-79"/>
              </a:rPr>
              <a:t>הלכה למעשה</a:t>
            </a:r>
          </a:p>
        </p:txBody>
      </p:sp>
      <p:sp>
        <p:nvSpPr>
          <p:cNvPr id="3" name="מציין מיקום טקסט 2">
            <a:extLst>
              <a:ext uri="{FF2B5EF4-FFF2-40B4-BE49-F238E27FC236}">
                <a16:creationId xmlns:a16="http://schemas.microsoft.com/office/drawing/2014/main" id="{50656DD6-8816-3BB7-75A7-57315DCD9B8F}"/>
              </a:ext>
            </a:extLst>
          </p:cNvPr>
          <p:cNvSpPr>
            <a:spLocks noGrp="1"/>
          </p:cNvSpPr>
          <p:nvPr>
            <p:ph type="body" idx="1"/>
          </p:nvPr>
        </p:nvSpPr>
        <p:spPr/>
        <p:txBody>
          <a:bodyPr>
            <a:normAutofit/>
          </a:bodyPr>
          <a:lstStyle/>
          <a:p>
            <a:r>
              <a:rPr lang="he-IL" sz="2400">
                <a:latin typeface="David" panose="020E0502060401010101" pitchFamily="34" charset="-79"/>
              </a:rPr>
              <a:t>הצעה מעשית:</a:t>
            </a:r>
          </a:p>
          <a:p>
            <a:endParaRPr lang="he-IL" sz="2400">
              <a:latin typeface="David" panose="020E0502060401010101" pitchFamily="34" charset="-79"/>
            </a:endParaRPr>
          </a:p>
          <a:p>
            <a:r>
              <a:rPr lang="he-IL" sz="2400">
                <a:latin typeface="David" panose="020E0502060401010101" pitchFamily="34" charset="-79"/>
              </a:rPr>
              <a:t>• נשים יכולות לקיים בדרך של הודאה ושבח</a:t>
            </a:r>
          </a:p>
          <a:p>
            <a:r>
              <a:rPr lang="he-IL" sz="2400">
                <a:latin typeface="David" panose="020E0502060401010101" pitchFamily="34" charset="-79"/>
              </a:rPr>
              <a:t>• אין צורך בנוסח קבוע</a:t>
            </a:r>
          </a:p>
          <a:p>
            <a:r>
              <a:rPr lang="he-IL" sz="2400">
                <a:latin typeface="David" panose="020E0502060401010101" pitchFamily="34" charset="-79"/>
              </a:rPr>
              <a:t>• כל ביטוי הודיה נחשב</a:t>
            </a:r>
          </a:p>
          <a:p>
            <a:r>
              <a:rPr lang="he-IL" sz="2400">
                <a:latin typeface="David" panose="020E0502060401010101" pitchFamily="34" charset="-79"/>
              </a:rPr>
              <a:t>• שילוב טבעי בחיי היומיום</a:t>
            </a:r>
          </a:p>
          <a:p>
            <a:r>
              <a:rPr lang="he-IL" sz="2400">
                <a:latin typeface="David" panose="020E0502060401010101" pitchFamily="34" charset="-79"/>
              </a:rPr>
              <a:t>• שמירה על מהות התקנה</a:t>
            </a:r>
          </a:p>
        </p:txBody>
      </p:sp>
    </p:spTree>
    <p:extLst>
      <p:ext uri="{BB962C8B-B14F-4D97-AF65-F5344CB8AC3E}">
        <p14:creationId xmlns:p14="http://schemas.microsoft.com/office/powerpoint/2010/main" val="1846891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CD494DEA-A03B-BAB5-3B28-EBC0B61F4D56}"/>
              </a:ext>
            </a:extLst>
          </p:cNvPr>
          <p:cNvSpPr txBox="1"/>
          <p:nvPr/>
        </p:nvSpPr>
        <p:spPr>
          <a:xfrm>
            <a:off x="165370" y="165370"/>
            <a:ext cx="11945566" cy="5632311"/>
          </a:xfrm>
          <a:prstGeom prst="rect">
            <a:avLst/>
          </a:prstGeom>
          <a:noFill/>
        </p:spPr>
        <p:txBody>
          <a:bodyPr wrap="square" rtlCol="1">
            <a:spAutoFit/>
          </a:bodyPr>
          <a:lstStyle/>
          <a:p>
            <a:r>
              <a:rPr lang="he-IL" b="1" dirty="0"/>
              <a:t>תְּפִלַּת הַמֵּאָה בְּרָכוֹת</a:t>
            </a:r>
          </a:p>
          <a:p>
            <a:pPr algn="r" rtl="1"/>
            <a:r>
              <a:rPr lang="he-IL" dirty="0" err="1">
                <a:effectLst/>
              </a:rPr>
              <a:t>רִבּוֹנו</a:t>
            </a:r>
            <a:r>
              <a:rPr lang="he-IL" dirty="0">
                <a:effectLst/>
              </a:rPr>
              <a:t>ֹ שֶׁל עוֹלָם, אָבִי שֶׁבַּשָּׁמַיִם, מְקוֹר כָּל הַבְּרָכוֹת וְהַטּוֹב,</a:t>
            </a:r>
          </a:p>
          <a:p>
            <a:pPr algn="r" rtl="1"/>
            <a:r>
              <a:rPr lang="he-IL" dirty="0">
                <a:effectLst/>
              </a:rPr>
              <a:t>בְּלֵב נִרְגָּשׁ וְנֶפֶשׁ מִשְׁתּוֹקֶקֶת אֲנִי עוֹמֵד לְפָנֶיךָ הַיּוֹם. בְּחַסְדְּךָ הַגָּדוֹל פָּתַחְתָּ בְּפָנֵינוּ שַׁעַר מֻפְלָא - שַׁעַר הַמֵּאָה בְּרָכוֹת, דֶּרֶךְ בָּהּ כָּל יְהוּדִי יָכוֹל לְהִתְחַבֵּר אֵלֶיךָ בְּכָל רֶגַע מֵחָדָשׁ.</a:t>
            </a:r>
          </a:p>
          <a:p>
            <a:pPr algn="r" rtl="1"/>
            <a:r>
              <a:rPr lang="he-IL" dirty="0">
                <a:effectLst/>
              </a:rPr>
              <a:t>אָבִינוּ מַלְכֵּנוּ, כַּמָּה עֲמֻקָּה </a:t>
            </a:r>
            <a:r>
              <a:rPr lang="he-IL" dirty="0" err="1">
                <a:effectLst/>
              </a:rPr>
              <a:t>חָכְמָתְך</a:t>
            </a:r>
            <a:r>
              <a:rPr lang="he-IL" dirty="0">
                <a:effectLst/>
              </a:rPr>
              <a:t>ָ! בִּימֵי דָּוִד הַמֶּלֶךְ, כְּשֶׁפָּקְדָה מַגֵּפָה אֶת עַמְּךָ, לֹא נָתַתָּ לָנוּ תְּרוּפָה שֶׁל מִרְקַחַת אוֹ סַם מַרְפֵּא, אֶלָּא פָּתַחְתָּ בְּפָנֵינוּ אֶת הַדֶּרֶךְ לְהוֹדוֹת, לְבָרֵךְ, לְהַכִּיר בְּטוּבְךָ.</a:t>
            </a:r>
          </a:p>
          <a:p>
            <a:pPr algn="r" rtl="1"/>
            <a:r>
              <a:rPr lang="he-IL" dirty="0" err="1">
                <a:effectLst/>
              </a:rPr>
              <a:t>רִבּוֹן</a:t>
            </a:r>
            <a:r>
              <a:rPr lang="he-IL" dirty="0">
                <a:effectLst/>
              </a:rPr>
              <a:t> הָעוֹלָמִים, אֲנִי מוֹדֶה לְפָנֶיךָ עַל שֶׁבָּחַרְתָּ בָּנוּ לִהְיוֹת עַם הַמְבָרְכִים. עַל שֶׁנָּתַתָּ לָנוּ אֶת </a:t>
            </a:r>
            <a:r>
              <a:rPr lang="he-IL" dirty="0" err="1">
                <a:effectLst/>
              </a:rPr>
              <a:t>הַיְּכֹלֶת</a:t>
            </a:r>
            <a:r>
              <a:rPr lang="he-IL" dirty="0">
                <a:effectLst/>
              </a:rPr>
              <a:t> לִרְאוֹת בְּכָל פְּרָט קָטָן בַּחַיִּים אֶת יָדְךָ </a:t>
            </a:r>
            <a:r>
              <a:rPr lang="he-IL" dirty="0" err="1">
                <a:effectLst/>
              </a:rPr>
              <a:t>הַמְכַוֶּנֶת</a:t>
            </a:r>
            <a:r>
              <a:rPr lang="he-IL" dirty="0">
                <a:effectLst/>
              </a:rPr>
              <a:t>, אֶת אַהֲבָתְךָ הָאֵינְסוֹפִית.</a:t>
            </a:r>
          </a:p>
          <a:p>
            <a:pPr algn="r" rtl="1"/>
            <a:r>
              <a:rPr lang="he-IL" dirty="0">
                <a:effectLst/>
              </a:rPr>
              <a:t>אָנָּא, פְּתַח אֶת לִבִּי שֶׁאֶזְכֶּה לְהַרְגִּישׁ אֶת עֹמֶק הַבְּרָכָה בְּכָל פַּעַם שֶׁאֲנִי מְבָרֵךְ. שֶׁלֹּא תְהִיֶה בְּרָכָה שְׁגוּרָה עַל שְׂפָתַי מִתּוֹךְ הֶרְגֵּל, אֶלָּא שֶׁכָּל בְּרָכָה תִּהְיֶה הִתְחַדְּשׁוּת שֶׁל הַקֶּשֶׁר בֵּינֵינוּ, הִזְדַּמְּנוּת לְהוֹדוֹת, לְהִתְבּוֹנֵן, לְהִתְרַגֵּשׁ מֵחָדָשׁ מִכָּל הַחֶסֶד שֶׁאַתָּה מַשְׁפִּיעַ עָלֵינוּ.</a:t>
            </a:r>
          </a:p>
          <a:p>
            <a:pPr algn="r" rtl="1"/>
            <a:r>
              <a:rPr lang="he-IL" dirty="0">
                <a:effectLst/>
              </a:rPr>
              <a:t>עֲזֹר לִי, אָבִי, לִזְכֹּר שֶׁבְּכָל בְּרָכָה אֲנִי בּוֹנֶה עוֹד קוֹמָה </a:t>
            </a:r>
            <a:r>
              <a:rPr lang="he-IL" dirty="0" err="1">
                <a:effectLst/>
              </a:rPr>
              <a:t>בַּבִּנְיָן</a:t>
            </a:r>
            <a:r>
              <a:rPr lang="he-IL" dirty="0">
                <a:effectLst/>
              </a:rPr>
              <a:t> הָרוּחָנִי שֶׁל הַיּוֹם. שֶׁבְּכָל הוֹדָיָה אֲנִי מִתְקָרֵב אֵלֶיךָ עוֹד קְצָת. </a:t>
            </a:r>
          </a:p>
          <a:p>
            <a:pPr algn="r" rtl="1"/>
            <a:r>
              <a:rPr lang="he-IL" dirty="0">
                <a:effectLst/>
              </a:rPr>
              <a:t>שֶׁבְּכָל "בָּרוּךְ אַתָּה ה'" אֲנִי מְחַזֵּק אֶת הַחִבּוּר הַנִּצְחִי בֵּינֵינוּ.</a:t>
            </a:r>
          </a:p>
          <a:p>
            <a:pPr algn="r" rtl="1"/>
            <a:r>
              <a:rPr lang="he-IL" dirty="0">
                <a:effectLst/>
              </a:rPr>
              <a:t>תֵּן </a:t>
            </a:r>
            <a:r>
              <a:rPr lang="he-IL" dirty="0" err="1">
                <a:effectLst/>
              </a:rPr>
              <a:t>בְּלִבִּי</a:t>
            </a:r>
            <a:r>
              <a:rPr lang="he-IL" dirty="0">
                <a:effectLst/>
              </a:rPr>
              <a:t> אֶת </a:t>
            </a:r>
            <a:r>
              <a:rPr lang="he-IL" dirty="0" err="1">
                <a:effectLst/>
              </a:rPr>
              <a:t>הַכֹּח</a:t>
            </a:r>
            <a:r>
              <a:rPr lang="he-IL" dirty="0">
                <a:effectLst/>
              </a:rPr>
              <a:t>ַ לְהִתְעוֹרֵר בַּבֹּקֶר בְּהִתְלַהֲבוּת, לומר "מוֹדֶה אֲנִי" בְּשִׂמְחָה </a:t>
            </a:r>
            <a:r>
              <a:rPr lang="he-IL" dirty="0" err="1">
                <a:effectLst/>
              </a:rPr>
              <a:t>אֲמִתִּית</a:t>
            </a:r>
            <a:r>
              <a:rPr lang="he-IL" dirty="0">
                <a:effectLst/>
              </a:rPr>
              <a:t>. תֵּן לִי אֶת </a:t>
            </a:r>
            <a:r>
              <a:rPr lang="he-IL" dirty="0" err="1">
                <a:effectLst/>
              </a:rPr>
              <a:t>הַיְּכֹלֶת</a:t>
            </a:r>
            <a:r>
              <a:rPr lang="he-IL" dirty="0">
                <a:effectLst/>
              </a:rPr>
              <a:t> לִרְאוֹת בְּכָל דָּבָר קָטָן - בְּכוֹס הַמַּיִם, בְּפַת לֶחֶם, בַּבֶּגֶד שֶׁאֲנִי לוֹבֵשׁ - הִזְדַּמְּנוּת לְהוֹדוֹת וּלְהִתְקָרֵב.</a:t>
            </a:r>
          </a:p>
          <a:p>
            <a:pPr algn="r" rtl="1"/>
            <a:r>
              <a:rPr lang="he-IL" dirty="0">
                <a:effectLst/>
              </a:rPr>
              <a:t>וּבְעִקָּר, אָבִי הַיָּקָר, עֲזֹר לִי לְהָבִין שֶׁמֵּאָה הַבְּרָכוֹת הֵן לֹא רַק חוֹבָה, לֹא רַק מִצְוָה, אֶלָּא מַתָּנָה נִפְלָאָה שֶׁנָּתַתָּ לָנוּ. </a:t>
            </a:r>
          </a:p>
          <a:p>
            <a:pPr algn="r" rtl="1"/>
            <a:r>
              <a:rPr lang="he-IL" dirty="0">
                <a:effectLst/>
              </a:rPr>
              <a:t>הִזְדַּמְּנוּת לִחְיוֹת חַיִּים שֶׁל קְדֻשָּׁה, שֶׁל הוֹדָיָה, שֶׁל קֶשֶׁר תְּמִידִי אִתְּךָ.</a:t>
            </a:r>
          </a:p>
          <a:p>
            <a:pPr algn="r" rtl="1"/>
            <a:r>
              <a:rPr lang="he-IL" dirty="0">
                <a:effectLst/>
              </a:rPr>
              <a:t>יְהִי רָצוֹן מִלְּפָנֶיךָ, ה' </a:t>
            </a:r>
            <a:r>
              <a:rPr lang="he-IL" dirty="0" err="1">
                <a:effectLst/>
              </a:rPr>
              <a:t>אֱלֹקֵינו</a:t>
            </a:r>
            <a:r>
              <a:rPr lang="he-IL" dirty="0">
                <a:effectLst/>
              </a:rPr>
              <a:t>ּ </a:t>
            </a:r>
            <a:r>
              <a:rPr lang="he-IL" dirty="0" err="1">
                <a:effectLst/>
              </a:rPr>
              <a:t>וֵאלֹקֵי</a:t>
            </a:r>
            <a:r>
              <a:rPr lang="he-IL" dirty="0">
                <a:effectLst/>
              </a:rPr>
              <a:t> אֲבוֹתֵינוּ, שֶׁתִּהְיֶינָה כָּל בִּרְכוֹתַי רְצוּיוֹת לְפָנֶיךָ, שֶׁיַּעֲלוּ כְּרֵיחַ נִיחוֹחַ </a:t>
            </a:r>
            <a:r>
              <a:rPr lang="he-IL" dirty="0" err="1">
                <a:effectLst/>
              </a:rPr>
              <a:t>לְכִסֵּא</a:t>
            </a:r>
            <a:r>
              <a:rPr lang="he-IL" dirty="0">
                <a:effectLst/>
              </a:rPr>
              <a:t> כְבוֹדֶךָ, וְשֶׁאֶזְכֶּה לִהְיוֹת מֵאֵלֶּה שֶׁמְּבָרְכִים אוֹתְךָ בְּכָל לֵב וּבְכָל נֶפֶשׁ.</a:t>
            </a:r>
          </a:p>
          <a:p>
            <a:pPr algn="r" rtl="1"/>
            <a:r>
              <a:rPr lang="he-IL" dirty="0">
                <a:effectLst/>
              </a:rPr>
              <a:t>אָמֵן כֵּן יְהִי רָצוֹן.</a:t>
            </a:r>
          </a:p>
          <a:p>
            <a:endParaRPr lang="he-IL" dirty="0"/>
          </a:p>
        </p:txBody>
      </p:sp>
    </p:spTree>
    <p:extLst>
      <p:ext uri="{BB962C8B-B14F-4D97-AF65-F5344CB8AC3E}">
        <p14:creationId xmlns:p14="http://schemas.microsoft.com/office/powerpoint/2010/main" val="165882592"/>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459</Words>
  <Application>Microsoft Office PowerPoint</Application>
  <PresentationFormat>מסך רחב</PresentationFormat>
  <Paragraphs>47</Paragraphs>
  <Slides>6</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6</vt:i4>
      </vt:variant>
    </vt:vector>
  </HeadingPairs>
  <TitlesOfParts>
    <vt:vector size="11" baseType="lpstr">
      <vt:lpstr>Aptos</vt:lpstr>
      <vt:lpstr>Aptos Display</vt:lpstr>
      <vt:lpstr>Arial</vt:lpstr>
      <vt:lpstr>David</vt:lpstr>
      <vt:lpstr>ערכת נושא Office</vt:lpstr>
      <vt:lpstr>מאה ברכות - מסע רוחני יומי</vt:lpstr>
      <vt:lpstr>הרקע ההיסטורי</vt:lpstr>
      <vt:lpstr>התפתחות התקנה</vt:lpstr>
      <vt:lpstr>חיוב נשים במאה ברכות</vt:lpstr>
      <vt:lpstr>הלכה למעשה</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2</cp:revision>
  <dcterms:created xsi:type="dcterms:W3CDTF">2025-01-10T02:08:42Z</dcterms:created>
  <dcterms:modified xsi:type="dcterms:W3CDTF">2026-10-15T18:05:30Z</dcterms:modified>
</cp:coreProperties>
</file>