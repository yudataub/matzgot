
<file path=[Content_Types].xml><?xml version="1.0" encoding="utf-8"?>
<Types xmlns="http://schemas.openxmlformats.org/package/2006/content-types">
  <Default Extension="jpeg" ContentType="image/jpeg"/>
  <Default Extension="mp3" ContentType="audio/m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48" r:id="rId1"/>
  </p:sldMasterIdLst>
  <p:notesMasterIdLst>
    <p:notesMasterId r:id="rId23"/>
  </p:notesMasterIdLst>
  <p:sldIdLst>
    <p:sldId id="256" r:id="rId2"/>
    <p:sldId id="258" r:id="rId3"/>
    <p:sldId id="259" r:id="rId4"/>
    <p:sldId id="260" r:id="rId5"/>
    <p:sldId id="261" r:id="rId6"/>
    <p:sldId id="262" r:id="rId7"/>
    <p:sldId id="270" r:id="rId8"/>
    <p:sldId id="271" r:id="rId9"/>
    <p:sldId id="272" r:id="rId10"/>
    <p:sldId id="273" r:id="rId11"/>
    <p:sldId id="274" r:id="rId12"/>
    <p:sldId id="275" r:id="rId13"/>
    <p:sldId id="276" r:id="rId14"/>
    <p:sldId id="277" r:id="rId15"/>
    <p:sldId id="263" r:id="rId16"/>
    <p:sldId id="264" r:id="rId17"/>
    <p:sldId id="265" r:id="rId18"/>
    <p:sldId id="266" r:id="rId19"/>
    <p:sldId id="267" r:id="rId20"/>
    <p:sldId id="268" r:id="rId21"/>
    <p:sldId id="269" r:id="rId22"/>
  </p:sldIdLst>
  <p:sldSz cx="12192000" cy="6858000"/>
  <p:notesSz cx="6858000" cy="9144000"/>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4013" autoAdjust="0"/>
    <p:restoredTop sz="94660"/>
  </p:normalViewPr>
  <p:slideViewPr>
    <p:cSldViewPr snapToGrid="0">
      <p:cViewPr varScale="1">
        <p:scale>
          <a:sx n="83" d="100"/>
          <a:sy n="83" d="100"/>
        </p:scale>
        <p:origin x="643" y="2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886200" y="0"/>
            <a:ext cx="2971800" cy="458788"/>
          </a:xfrm>
          <a:prstGeom prst="rect">
            <a:avLst/>
          </a:prstGeom>
        </p:spPr>
        <p:txBody>
          <a:bodyPr vert="horz" lIns="91440" tIns="45720" rIns="91440" bIns="45720" rtlCol="1"/>
          <a:lstStyle>
            <a:lvl1pPr algn="r">
              <a:defRPr sz="1200"/>
            </a:lvl1pPr>
          </a:lstStyle>
          <a:p>
            <a:endParaRPr lang="he-IL"/>
          </a:p>
        </p:txBody>
      </p:sp>
      <p:sp>
        <p:nvSpPr>
          <p:cNvPr id="3" name="מציין מיקום של תאריך 2"/>
          <p:cNvSpPr>
            <a:spLocks noGrp="1"/>
          </p:cNvSpPr>
          <p:nvPr>
            <p:ph type="dt" idx="1"/>
          </p:nvPr>
        </p:nvSpPr>
        <p:spPr>
          <a:xfrm>
            <a:off x="1588" y="0"/>
            <a:ext cx="2971800" cy="458788"/>
          </a:xfrm>
          <a:prstGeom prst="rect">
            <a:avLst/>
          </a:prstGeom>
        </p:spPr>
        <p:txBody>
          <a:bodyPr vert="horz" lIns="91440" tIns="45720" rIns="91440" bIns="45720" rtlCol="1"/>
          <a:lstStyle>
            <a:lvl1pPr algn="l">
              <a:defRPr sz="1200"/>
            </a:lvl1pPr>
          </a:lstStyle>
          <a:p>
            <a:fld id="{515439D9-91C5-49CB-8057-325AAEEB61E2}" type="datetimeFigureOut">
              <a:rPr lang="he-IL" smtClean="0"/>
              <a:t>ד'/חשון/תשפ"ז</a:t>
            </a:fld>
            <a:endParaRPr lang="he-IL"/>
          </a:p>
        </p:txBody>
      </p:sp>
      <p:sp>
        <p:nvSpPr>
          <p:cNvPr id="4" name="מציין מיקום של תמונת שקופית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1" anchor="ctr"/>
          <a:lstStyle/>
          <a:p>
            <a:endParaRPr lang="he-IL"/>
          </a:p>
        </p:txBody>
      </p:sp>
      <p:sp>
        <p:nvSpPr>
          <p:cNvPr id="5" name="מציין מיקום של הערות 4"/>
          <p:cNvSpPr>
            <a:spLocks noGrp="1"/>
          </p:cNvSpPr>
          <p:nvPr>
            <p:ph type="body" sz="quarter" idx="3"/>
          </p:nvPr>
        </p:nvSpPr>
        <p:spPr>
          <a:xfrm>
            <a:off x="685800" y="4400550"/>
            <a:ext cx="5486400" cy="3600450"/>
          </a:xfrm>
          <a:prstGeom prst="rect">
            <a:avLst/>
          </a:prstGeom>
        </p:spPr>
        <p:txBody>
          <a:bodyPr vert="horz" lIns="91440" tIns="45720" rIns="91440" bIns="45720" rtlCol="1"/>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6" name="מציין מיקום של כותרת תחתונה 5"/>
          <p:cNvSpPr>
            <a:spLocks noGrp="1"/>
          </p:cNvSpPr>
          <p:nvPr>
            <p:ph type="ftr" sz="quarter" idx="4"/>
          </p:nvPr>
        </p:nvSpPr>
        <p:spPr>
          <a:xfrm>
            <a:off x="3886200" y="8685213"/>
            <a:ext cx="2971800" cy="458787"/>
          </a:xfrm>
          <a:prstGeom prst="rect">
            <a:avLst/>
          </a:prstGeom>
        </p:spPr>
        <p:txBody>
          <a:bodyPr vert="horz" lIns="91440" tIns="45720" rIns="91440" bIns="45720" rtlCol="1" anchor="b"/>
          <a:lstStyle>
            <a:lvl1pPr algn="r">
              <a:defRPr sz="1200"/>
            </a:lvl1pPr>
          </a:lstStyle>
          <a:p>
            <a:endParaRPr lang="he-IL"/>
          </a:p>
        </p:txBody>
      </p:sp>
      <p:sp>
        <p:nvSpPr>
          <p:cNvPr id="7" name="מציין מיקום של מספר שקופית 6"/>
          <p:cNvSpPr>
            <a:spLocks noGrp="1"/>
          </p:cNvSpPr>
          <p:nvPr>
            <p:ph type="sldNum" sz="quarter" idx="5"/>
          </p:nvPr>
        </p:nvSpPr>
        <p:spPr>
          <a:xfrm>
            <a:off x="1588" y="8685213"/>
            <a:ext cx="2971800" cy="458787"/>
          </a:xfrm>
          <a:prstGeom prst="rect">
            <a:avLst/>
          </a:prstGeom>
        </p:spPr>
        <p:txBody>
          <a:bodyPr vert="horz" lIns="91440" tIns="45720" rIns="91440" bIns="45720" rtlCol="1" anchor="b"/>
          <a:lstStyle>
            <a:lvl1pPr algn="l">
              <a:defRPr sz="1200"/>
            </a:lvl1pPr>
          </a:lstStyle>
          <a:p>
            <a:fld id="{636BC8DE-4F3B-4AF7-AACF-D2CE55ABEB1B}" type="slidenum">
              <a:rPr lang="he-IL" smtClean="0"/>
              <a:t>‹#›</a:t>
            </a:fld>
            <a:endParaRPr lang="he-IL"/>
          </a:p>
        </p:txBody>
      </p:sp>
    </p:spTree>
    <p:extLst>
      <p:ext uri="{BB962C8B-B14F-4D97-AF65-F5344CB8AC3E}">
        <p14:creationId xmlns:p14="http://schemas.microsoft.com/office/powerpoint/2010/main" val="3728012821"/>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b="0" i="0" dirty="0">
                <a:effectLst/>
                <a:latin typeface="D-DINExp"/>
              </a:rPr>
              <a:t>בואו מהר להיכנס (ביחד יהודים)</a:t>
            </a:r>
            <a:br>
              <a:rPr lang="he-IL" dirty="0"/>
            </a:br>
            <a:r>
              <a:rPr lang="he-IL" b="0" i="0" dirty="0">
                <a:effectLst/>
                <a:latin typeface="D-DINExp"/>
              </a:rPr>
              <a:t>שישמחו (ביחד בשמחה)</a:t>
            </a:r>
            <a:br>
              <a:rPr lang="he-IL" dirty="0"/>
            </a:br>
            <a:r>
              <a:rPr lang="he-IL" b="0" i="0" dirty="0">
                <a:effectLst/>
                <a:latin typeface="D-DINExp"/>
              </a:rPr>
              <a:t>ללכת לבית המקדש</a:t>
            </a:r>
            <a:br>
              <a:rPr lang="he-IL" dirty="0"/>
            </a:br>
            <a:r>
              <a:rPr lang="he-IL" b="0" i="0" dirty="0">
                <a:effectLst/>
                <a:latin typeface="D-DINExp"/>
              </a:rPr>
              <a:t>עם משיח צדקנו הביתה!</a:t>
            </a:r>
            <a:endParaRPr lang="he-IL" dirty="0"/>
          </a:p>
        </p:txBody>
      </p:sp>
      <p:sp>
        <p:nvSpPr>
          <p:cNvPr id="4" name="מציין מיקום של מספר שקופית 3"/>
          <p:cNvSpPr>
            <a:spLocks noGrp="1"/>
          </p:cNvSpPr>
          <p:nvPr>
            <p:ph type="sldNum" sz="quarter" idx="5"/>
          </p:nvPr>
        </p:nvSpPr>
        <p:spPr/>
        <p:txBody>
          <a:bodyPr/>
          <a:lstStyle/>
          <a:p>
            <a:fld id="{9EDEAA0F-1AC4-4261-80DA-C4D47F9E7E17}" type="slidenum">
              <a:rPr lang="he-IL" smtClean="0"/>
              <a:t>2</a:t>
            </a:fld>
            <a:endParaRPr lang="he-IL"/>
          </a:p>
        </p:txBody>
      </p:sp>
    </p:spTree>
    <p:extLst>
      <p:ext uri="{BB962C8B-B14F-4D97-AF65-F5344CB8AC3E}">
        <p14:creationId xmlns:p14="http://schemas.microsoft.com/office/powerpoint/2010/main" val="6876468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6F3262F-B644-0323-9ED9-3A3E3216EC93}"/>
              </a:ext>
            </a:extLst>
          </p:cNvPr>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a:extLst>
              <a:ext uri="{FF2B5EF4-FFF2-40B4-BE49-F238E27FC236}">
                <a16:creationId xmlns:a16="http://schemas.microsoft.com/office/drawing/2014/main" id="{90531A83-A4FD-57E9-9FC2-862A316456A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a:extLst>
              <a:ext uri="{FF2B5EF4-FFF2-40B4-BE49-F238E27FC236}">
                <a16:creationId xmlns:a16="http://schemas.microsoft.com/office/drawing/2014/main" id="{5861A2FB-7E2E-097C-AEEA-D19DEC2D1173}"/>
              </a:ext>
            </a:extLst>
          </p:cNvPr>
          <p:cNvSpPr>
            <a:spLocks noGrp="1"/>
          </p:cNvSpPr>
          <p:nvPr>
            <p:ph type="dt" sz="half" idx="10"/>
          </p:nvPr>
        </p:nvSpPr>
        <p:spPr/>
        <p:txBody>
          <a:bodyPr/>
          <a:lstStyle/>
          <a:p>
            <a:fld id="{3E1C497D-CBCB-4013-AB64-3F7756BF2CD9}" type="datetimeFigureOut">
              <a:rPr lang="he-IL" smtClean="0"/>
              <a:t>ד'/חשון/תשפ"ז</a:t>
            </a:fld>
            <a:endParaRPr lang="he-IL"/>
          </a:p>
        </p:txBody>
      </p:sp>
      <p:sp>
        <p:nvSpPr>
          <p:cNvPr id="5" name="מציין מיקום של כותרת תחתונה 4">
            <a:extLst>
              <a:ext uri="{FF2B5EF4-FFF2-40B4-BE49-F238E27FC236}">
                <a16:creationId xmlns:a16="http://schemas.microsoft.com/office/drawing/2014/main" id="{36F2B2DE-6F38-0A7F-4760-5AB9FE4FDFAF}"/>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36E6048C-2C0D-A2E9-E53E-CA75A690B8D1}"/>
              </a:ext>
            </a:extLst>
          </p:cNvPr>
          <p:cNvSpPr>
            <a:spLocks noGrp="1"/>
          </p:cNvSpPr>
          <p:nvPr>
            <p:ph type="sldNum" sz="quarter" idx="12"/>
          </p:nvPr>
        </p:nvSpPr>
        <p:spPr/>
        <p:txBody>
          <a:bodyPr/>
          <a:lstStyle/>
          <a:p>
            <a:fld id="{8E4390B2-936D-412C-BF9A-A563A14C371B}" type="slidenum">
              <a:rPr lang="he-IL" smtClean="0"/>
              <a:t>‹#›</a:t>
            </a:fld>
            <a:endParaRPr lang="he-IL"/>
          </a:p>
        </p:txBody>
      </p:sp>
    </p:spTree>
    <p:extLst>
      <p:ext uri="{BB962C8B-B14F-4D97-AF65-F5344CB8AC3E}">
        <p14:creationId xmlns:p14="http://schemas.microsoft.com/office/powerpoint/2010/main" val="17341352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FA7E9165-0AD0-759E-EA19-6ED96B014428}"/>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084C8CB6-3C1F-11C9-E3B9-32D5A00D614C}"/>
              </a:ext>
            </a:extLst>
          </p:cNvPr>
          <p:cNvSpPr>
            <a:spLocks noGrp="1"/>
          </p:cNvSpPr>
          <p:nvPr>
            <p:ph idx="1"/>
          </p:nvPr>
        </p:nvSpPr>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D0C221DE-DDCF-B86B-9A4B-84F4939A9C5D}"/>
              </a:ext>
            </a:extLst>
          </p:cNvPr>
          <p:cNvSpPr>
            <a:spLocks noGrp="1"/>
          </p:cNvSpPr>
          <p:nvPr>
            <p:ph type="dt" sz="half" idx="10"/>
          </p:nvPr>
        </p:nvSpPr>
        <p:spPr/>
        <p:txBody>
          <a:bodyPr/>
          <a:lstStyle/>
          <a:p>
            <a:fld id="{3E1C497D-CBCB-4013-AB64-3F7756BF2CD9}" type="datetimeFigureOut">
              <a:rPr lang="he-IL" smtClean="0"/>
              <a:t>ד'/חשון/תשפ"ז</a:t>
            </a:fld>
            <a:endParaRPr lang="he-IL"/>
          </a:p>
        </p:txBody>
      </p:sp>
      <p:sp>
        <p:nvSpPr>
          <p:cNvPr id="5" name="מציין מיקום של כותרת תחתונה 4">
            <a:extLst>
              <a:ext uri="{FF2B5EF4-FFF2-40B4-BE49-F238E27FC236}">
                <a16:creationId xmlns:a16="http://schemas.microsoft.com/office/drawing/2014/main" id="{B70A77B2-887C-ADAC-6A4E-8E1C8687EB90}"/>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7E6D5F5B-AF19-B432-DE1B-1B2D395CD3B6}"/>
              </a:ext>
            </a:extLst>
          </p:cNvPr>
          <p:cNvSpPr>
            <a:spLocks noGrp="1"/>
          </p:cNvSpPr>
          <p:nvPr>
            <p:ph type="sldNum" sz="quarter" idx="12"/>
          </p:nvPr>
        </p:nvSpPr>
        <p:spPr/>
        <p:txBody>
          <a:bodyPr/>
          <a:lstStyle/>
          <a:p>
            <a:fld id="{8E4390B2-936D-412C-BF9A-A563A14C371B}" type="slidenum">
              <a:rPr lang="he-IL" smtClean="0"/>
              <a:t>‹#›</a:t>
            </a:fld>
            <a:endParaRPr lang="he-IL"/>
          </a:p>
        </p:txBody>
      </p:sp>
    </p:spTree>
    <p:extLst>
      <p:ext uri="{BB962C8B-B14F-4D97-AF65-F5344CB8AC3E}">
        <p14:creationId xmlns:p14="http://schemas.microsoft.com/office/powerpoint/2010/main" val="35364820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29A2CBE-50F9-4815-FAE3-787281C07271}"/>
              </a:ext>
            </a:extLst>
          </p:cNvPr>
          <p:cNvSpPr>
            <a:spLocks noGrp="1"/>
          </p:cNvSpPr>
          <p:nvPr>
            <p:ph type="title"/>
          </p:nvPr>
        </p:nvSpPr>
        <p:spPr>
          <a:xfrm>
            <a:off x="831850" y="1709738"/>
            <a:ext cx="10515600" cy="2852737"/>
          </a:xfrm>
        </p:spPr>
        <p:txBody>
          <a:bodyPr anchor="b"/>
          <a:lstStyle>
            <a:lvl1pPr>
              <a:defRPr sz="6000"/>
            </a:lvl1p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AC69FA66-4CCF-73AC-D5E6-BA5BFFEAE6E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he-IL"/>
              <a:t>לחץ כדי לערוך סגנונות טקסט של תבנית בסיס</a:t>
            </a:r>
          </a:p>
        </p:txBody>
      </p:sp>
      <p:sp>
        <p:nvSpPr>
          <p:cNvPr id="4" name="מציין מיקום של תאריך 3">
            <a:extLst>
              <a:ext uri="{FF2B5EF4-FFF2-40B4-BE49-F238E27FC236}">
                <a16:creationId xmlns:a16="http://schemas.microsoft.com/office/drawing/2014/main" id="{24BB7DA1-A2C8-72BC-BE56-24959E2101A3}"/>
              </a:ext>
            </a:extLst>
          </p:cNvPr>
          <p:cNvSpPr>
            <a:spLocks noGrp="1"/>
          </p:cNvSpPr>
          <p:nvPr>
            <p:ph type="dt" sz="half" idx="10"/>
          </p:nvPr>
        </p:nvSpPr>
        <p:spPr/>
        <p:txBody>
          <a:bodyPr/>
          <a:lstStyle/>
          <a:p>
            <a:fld id="{3E1C497D-CBCB-4013-AB64-3F7756BF2CD9}" type="datetimeFigureOut">
              <a:rPr lang="he-IL" smtClean="0"/>
              <a:t>ד'/חשון/תשפ"ז</a:t>
            </a:fld>
            <a:endParaRPr lang="he-IL"/>
          </a:p>
        </p:txBody>
      </p:sp>
      <p:sp>
        <p:nvSpPr>
          <p:cNvPr id="5" name="מציין מיקום של כותרת תחתונה 4">
            <a:extLst>
              <a:ext uri="{FF2B5EF4-FFF2-40B4-BE49-F238E27FC236}">
                <a16:creationId xmlns:a16="http://schemas.microsoft.com/office/drawing/2014/main" id="{FAAAE573-E2BE-69DA-69CA-3CBA233F69B1}"/>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02299959-EC73-993D-7096-0C7A897AA3AD}"/>
              </a:ext>
            </a:extLst>
          </p:cNvPr>
          <p:cNvSpPr>
            <a:spLocks noGrp="1"/>
          </p:cNvSpPr>
          <p:nvPr>
            <p:ph type="sldNum" sz="quarter" idx="12"/>
          </p:nvPr>
        </p:nvSpPr>
        <p:spPr/>
        <p:txBody>
          <a:bodyPr/>
          <a:lstStyle/>
          <a:p>
            <a:fld id="{8E4390B2-936D-412C-BF9A-A563A14C371B}" type="slidenum">
              <a:rPr lang="he-IL" smtClean="0"/>
              <a:t>‹#›</a:t>
            </a:fld>
            <a:endParaRPr lang="he-IL"/>
          </a:p>
        </p:txBody>
      </p:sp>
    </p:spTree>
    <p:extLst>
      <p:ext uri="{BB962C8B-B14F-4D97-AF65-F5344CB8AC3E}">
        <p14:creationId xmlns:p14="http://schemas.microsoft.com/office/powerpoint/2010/main" val="31294119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98AF0F61-EB8C-BD73-6584-8B1FF5419254}"/>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537BE281-EF22-6A68-B030-77C5A3838C0B}"/>
              </a:ext>
            </a:extLst>
          </p:cNvPr>
          <p:cNvSpPr>
            <a:spLocks noGrp="1"/>
          </p:cNvSpPr>
          <p:nvPr>
            <p:ph sz="half" idx="1"/>
          </p:nvPr>
        </p:nvSpPr>
        <p:spPr>
          <a:xfrm>
            <a:off x="838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תוכן 3">
            <a:extLst>
              <a:ext uri="{FF2B5EF4-FFF2-40B4-BE49-F238E27FC236}">
                <a16:creationId xmlns:a16="http://schemas.microsoft.com/office/drawing/2014/main" id="{9C638191-4A5A-0C81-B0B9-4F21A2219DCB}"/>
              </a:ext>
            </a:extLst>
          </p:cNvPr>
          <p:cNvSpPr>
            <a:spLocks noGrp="1"/>
          </p:cNvSpPr>
          <p:nvPr>
            <p:ph sz="half" idx="2"/>
          </p:nvPr>
        </p:nvSpPr>
        <p:spPr>
          <a:xfrm>
            <a:off x="6172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של תאריך 4">
            <a:extLst>
              <a:ext uri="{FF2B5EF4-FFF2-40B4-BE49-F238E27FC236}">
                <a16:creationId xmlns:a16="http://schemas.microsoft.com/office/drawing/2014/main" id="{E74B9B0E-768B-7421-E22B-9682040900B2}"/>
              </a:ext>
            </a:extLst>
          </p:cNvPr>
          <p:cNvSpPr>
            <a:spLocks noGrp="1"/>
          </p:cNvSpPr>
          <p:nvPr>
            <p:ph type="dt" sz="half" idx="10"/>
          </p:nvPr>
        </p:nvSpPr>
        <p:spPr/>
        <p:txBody>
          <a:bodyPr/>
          <a:lstStyle/>
          <a:p>
            <a:fld id="{3E1C497D-CBCB-4013-AB64-3F7756BF2CD9}" type="datetimeFigureOut">
              <a:rPr lang="he-IL" smtClean="0"/>
              <a:t>ד'/חשון/תשפ"ז</a:t>
            </a:fld>
            <a:endParaRPr lang="he-IL"/>
          </a:p>
        </p:txBody>
      </p:sp>
      <p:sp>
        <p:nvSpPr>
          <p:cNvPr id="6" name="מציין מיקום של כותרת תחתונה 5">
            <a:extLst>
              <a:ext uri="{FF2B5EF4-FFF2-40B4-BE49-F238E27FC236}">
                <a16:creationId xmlns:a16="http://schemas.microsoft.com/office/drawing/2014/main" id="{F3DC29D6-330F-9AC4-102F-091497787EC8}"/>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5B531B36-0ED9-17D4-5F8B-7CD0CDC84634}"/>
              </a:ext>
            </a:extLst>
          </p:cNvPr>
          <p:cNvSpPr>
            <a:spLocks noGrp="1"/>
          </p:cNvSpPr>
          <p:nvPr>
            <p:ph type="sldNum" sz="quarter" idx="12"/>
          </p:nvPr>
        </p:nvSpPr>
        <p:spPr/>
        <p:txBody>
          <a:bodyPr/>
          <a:lstStyle/>
          <a:p>
            <a:fld id="{8E4390B2-936D-412C-BF9A-A563A14C371B}" type="slidenum">
              <a:rPr lang="he-IL" smtClean="0"/>
              <a:t>‹#›</a:t>
            </a:fld>
            <a:endParaRPr lang="he-IL"/>
          </a:p>
        </p:txBody>
      </p:sp>
    </p:spTree>
    <p:extLst>
      <p:ext uri="{BB962C8B-B14F-4D97-AF65-F5344CB8AC3E}">
        <p14:creationId xmlns:p14="http://schemas.microsoft.com/office/powerpoint/2010/main" val="19858069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1D4D0033-45AB-27B1-CC67-927BF3B0F874}"/>
              </a:ext>
            </a:extLst>
          </p:cNvPr>
          <p:cNvSpPr>
            <a:spLocks noGrp="1"/>
          </p:cNvSpPr>
          <p:nvPr>
            <p:ph type="title"/>
          </p:nvPr>
        </p:nvSpPr>
        <p:spPr>
          <a:xfrm>
            <a:off x="839788" y="365125"/>
            <a:ext cx="10515600" cy="1325563"/>
          </a:xfrm>
        </p:spPr>
        <p:txBody>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692D77B0-975C-B879-D889-89A9AF05FA2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4" name="מציין מיקום תוכן 3">
            <a:extLst>
              <a:ext uri="{FF2B5EF4-FFF2-40B4-BE49-F238E27FC236}">
                <a16:creationId xmlns:a16="http://schemas.microsoft.com/office/drawing/2014/main" id="{3AC64EE9-CFB5-E5C9-CEF5-8484399AAAEE}"/>
              </a:ext>
            </a:extLst>
          </p:cNvPr>
          <p:cNvSpPr>
            <a:spLocks noGrp="1"/>
          </p:cNvSpPr>
          <p:nvPr>
            <p:ph sz="half" idx="2"/>
          </p:nvPr>
        </p:nvSpPr>
        <p:spPr>
          <a:xfrm>
            <a:off x="839788" y="2505075"/>
            <a:ext cx="5157787"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טקסט 4">
            <a:extLst>
              <a:ext uri="{FF2B5EF4-FFF2-40B4-BE49-F238E27FC236}">
                <a16:creationId xmlns:a16="http://schemas.microsoft.com/office/drawing/2014/main" id="{AAC17F55-444B-5DE2-BAD7-B149A521673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6" name="מציין מיקום תוכן 5">
            <a:extLst>
              <a:ext uri="{FF2B5EF4-FFF2-40B4-BE49-F238E27FC236}">
                <a16:creationId xmlns:a16="http://schemas.microsoft.com/office/drawing/2014/main" id="{2724AB5F-3F89-50A2-E7B4-A4069E58C996}"/>
              </a:ext>
            </a:extLst>
          </p:cNvPr>
          <p:cNvSpPr>
            <a:spLocks noGrp="1"/>
          </p:cNvSpPr>
          <p:nvPr>
            <p:ph sz="quarter" idx="4"/>
          </p:nvPr>
        </p:nvSpPr>
        <p:spPr>
          <a:xfrm>
            <a:off x="6172200" y="2505075"/>
            <a:ext cx="5183188"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7" name="מציין מיקום של תאריך 6">
            <a:extLst>
              <a:ext uri="{FF2B5EF4-FFF2-40B4-BE49-F238E27FC236}">
                <a16:creationId xmlns:a16="http://schemas.microsoft.com/office/drawing/2014/main" id="{85B7BFDC-B926-5068-EB29-17BB78E5865C}"/>
              </a:ext>
            </a:extLst>
          </p:cNvPr>
          <p:cNvSpPr>
            <a:spLocks noGrp="1"/>
          </p:cNvSpPr>
          <p:nvPr>
            <p:ph type="dt" sz="half" idx="10"/>
          </p:nvPr>
        </p:nvSpPr>
        <p:spPr/>
        <p:txBody>
          <a:bodyPr/>
          <a:lstStyle/>
          <a:p>
            <a:fld id="{3E1C497D-CBCB-4013-AB64-3F7756BF2CD9}" type="datetimeFigureOut">
              <a:rPr lang="he-IL" smtClean="0"/>
              <a:t>ד'/חשון/תשפ"ז</a:t>
            </a:fld>
            <a:endParaRPr lang="he-IL"/>
          </a:p>
        </p:txBody>
      </p:sp>
      <p:sp>
        <p:nvSpPr>
          <p:cNvPr id="8" name="מציין מיקום של כותרת תחתונה 7">
            <a:extLst>
              <a:ext uri="{FF2B5EF4-FFF2-40B4-BE49-F238E27FC236}">
                <a16:creationId xmlns:a16="http://schemas.microsoft.com/office/drawing/2014/main" id="{2FADEEBE-8C2A-4AE0-2A40-F40F93EF0EB9}"/>
              </a:ext>
            </a:extLst>
          </p:cNvPr>
          <p:cNvSpPr>
            <a:spLocks noGrp="1"/>
          </p:cNvSpPr>
          <p:nvPr>
            <p:ph type="ftr" sz="quarter" idx="11"/>
          </p:nvPr>
        </p:nvSpPr>
        <p:spPr/>
        <p:txBody>
          <a:bodyPr/>
          <a:lstStyle/>
          <a:p>
            <a:endParaRPr lang="he-IL"/>
          </a:p>
        </p:txBody>
      </p:sp>
      <p:sp>
        <p:nvSpPr>
          <p:cNvPr id="9" name="מציין מיקום של מספר שקופית 8">
            <a:extLst>
              <a:ext uri="{FF2B5EF4-FFF2-40B4-BE49-F238E27FC236}">
                <a16:creationId xmlns:a16="http://schemas.microsoft.com/office/drawing/2014/main" id="{1CE24795-9D53-5A0D-7E45-CC07B15E21D1}"/>
              </a:ext>
            </a:extLst>
          </p:cNvPr>
          <p:cNvSpPr>
            <a:spLocks noGrp="1"/>
          </p:cNvSpPr>
          <p:nvPr>
            <p:ph type="sldNum" sz="quarter" idx="12"/>
          </p:nvPr>
        </p:nvSpPr>
        <p:spPr/>
        <p:txBody>
          <a:bodyPr/>
          <a:lstStyle/>
          <a:p>
            <a:fld id="{8E4390B2-936D-412C-BF9A-A563A14C371B}" type="slidenum">
              <a:rPr lang="he-IL" smtClean="0"/>
              <a:t>‹#›</a:t>
            </a:fld>
            <a:endParaRPr lang="he-IL"/>
          </a:p>
        </p:txBody>
      </p:sp>
    </p:spTree>
    <p:extLst>
      <p:ext uri="{BB962C8B-B14F-4D97-AF65-F5344CB8AC3E}">
        <p14:creationId xmlns:p14="http://schemas.microsoft.com/office/powerpoint/2010/main" val="6787474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5AEF6DB-7814-146A-F4CE-BA6DC1A32FAF}"/>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a:extLst>
              <a:ext uri="{FF2B5EF4-FFF2-40B4-BE49-F238E27FC236}">
                <a16:creationId xmlns:a16="http://schemas.microsoft.com/office/drawing/2014/main" id="{ED370888-4946-3224-21F6-E6671BF62AEA}"/>
              </a:ext>
            </a:extLst>
          </p:cNvPr>
          <p:cNvSpPr>
            <a:spLocks noGrp="1"/>
          </p:cNvSpPr>
          <p:nvPr>
            <p:ph type="dt" sz="half" idx="10"/>
          </p:nvPr>
        </p:nvSpPr>
        <p:spPr/>
        <p:txBody>
          <a:bodyPr/>
          <a:lstStyle/>
          <a:p>
            <a:fld id="{3E1C497D-CBCB-4013-AB64-3F7756BF2CD9}" type="datetimeFigureOut">
              <a:rPr lang="he-IL" smtClean="0"/>
              <a:t>ד'/חשון/תשפ"ז</a:t>
            </a:fld>
            <a:endParaRPr lang="he-IL"/>
          </a:p>
        </p:txBody>
      </p:sp>
      <p:sp>
        <p:nvSpPr>
          <p:cNvPr id="4" name="מציין מיקום של כותרת תחתונה 3">
            <a:extLst>
              <a:ext uri="{FF2B5EF4-FFF2-40B4-BE49-F238E27FC236}">
                <a16:creationId xmlns:a16="http://schemas.microsoft.com/office/drawing/2014/main" id="{2C1574E8-350D-9C45-08BF-E001938FC2BC}"/>
              </a:ext>
            </a:extLst>
          </p:cNvPr>
          <p:cNvSpPr>
            <a:spLocks noGrp="1"/>
          </p:cNvSpPr>
          <p:nvPr>
            <p:ph type="ftr" sz="quarter" idx="11"/>
          </p:nvPr>
        </p:nvSpPr>
        <p:spPr/>
        <p:txBody>
          <a:bodyPr/>
          <a:lstStyle/>
          <a:p>
            <a:endParaRPr lang="he-IL"/>
          </a:p>
        </p:txBody>
      </p:sp>
      <p:sp>
        <p:nvSpPr>
          <p:cNvPr id="5" name="מציין מיקום של מספר שקופית 4">
            <a:extLst>
              <a:ext uri="{FF2B5EF4-FFF2-40B4-BE49-F238E27FC236}">
                <a16:creationId xmlns:a16="http://schemas.microsoft.com/office/drawing/2014/main" id="{C9D87D07-1598-2665-B991-7E72E3502FEC}"/>
              </a:ext>
            </a:extLst>
          </p:cNvPr>
          <p:cNvSpPr>
            <a:spLocks noGrp="1"/>
          </p:cNvSpPr>
          <p:nvPr>
            <p:ph type="sldNum" sz="quarter" idx="12"/>
          </p:nvPr>
        </p:nvSpPr>
        <p:spPr/>
        <p:txBody>
          <a:bodyPr/>
          <a:lstStyle/>
          <a:p>
            <a:fld id="{8E4390B2-936D-412C-BF9A-A563A14C371B}" type="slidenum">
              <a:rPr lang="he-IL" smtClean="0"/>
              <a:t>‹#›</a:t>
            </a:fld>
            <a:endParaRPr lang="he-IL"/>
          </a:p>
        </p:txBody>
      </p:sp>
    </p:spTree>
    <p:extLst>
      <p:ext uri="{BB962C8B-B14F-4D97-AF65-F5344CB8AC3E}">
        <p14:creationId xmlns:p14="http://schemas.microsoft.com/office/powerpoint/2010/main" val="114313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a:extLst>
              <a:ext uri="{FF2B5EF4-FFF2-40B4-BE49-F238E27FC236}">
                <a16:creationId xmlns:a16="http://schemas.microsoft.com/office/drawing/2014/main" id="{AE5F7DF2-C9FC-1354-C862-177105C2F316}"/>
              </a:ext>
            </a:extLst>
          </p:cNvPr>
          <p:cNvSpPr>
            <a:spLocks noGrp="1"/>
          </p:cNvSpPr>
          <p:nvPr>
            <p:ph type="dt" sz="half" idx="10"/>
          </p:nvPr>
        </p:nvSpPr>
        <p:spPr/>
        <p:txBody>
          <a:bodyPr/>
          <a:lstStyle/>
          <a:p>
            <a:fld id="{3E1C497D-CBCB-4013-AB64-3F7756BF2CD9}" type="datetimeFigureOut">
              <a:rPr lang="he-IL" smtClean="0"/>
              <a:t>ד'/חשון/תשפ"ז</a:t>
            </a:fld>
            <a:endParaRPr lang="he-IL"/>
          </a:p>
        </p:txBody>
      </p:sp>
      <p:sp>
        <p:nvSpPr>
          <p:cNvPr id="3" name="מציין מיקום של כותרת תחתונה 2">
            <a:extLst>
              <a:ext uri="{FF2B5EF4-FFF2-40B4-BE49-F238E27FC236}">
                <a16:creationId xmlns:a16="http://schemas.microsoft.com/office/drawing/2014/main" id="{A53DBAD7-99A8-5386-283D-22328AF38BF3}"/>
              </a:ext>
            </a:extLst>
          </p:cNvPr>
          <p:cNvSpPr>
            <a:spLocks noGrp="1"/>
          </p:cNvSpPr>
          <p:nvPr>
            <p:ph type="ftr" sz="quarter" idx="11"/>
          </p:nvPr>
        </p:nvSpPr>
        <p:spPr/>
        <p:txBody>
          <a:bodyPr/>
          <a:lstStyle/>
          <a:p>
            <a:endParaRPr lang="he-IL"/>
          </a:p>
        </p:txBody>
      </p:sp>
      <p:sp>
        <p:nvSpPr>
          <p:cNvPr id="4" name="מציין מיקום של מספר שקופית 3">
            <a:extLst>
              <a:ext uri="{FF2B5EF4-FFF2-40B4-BE49-F238E27FC236}">
                <a16:creationId xmlns:a16="http://schemas.microsoft.com/office/drawing/2014/main" id="{2A64B7BF-5B90-1B1B-3FE1-E6F04B73206A}"/>
              </a:ext>
            </a:extLst>
          </p:cNvPr>
          <p:cNvSpPr>
            <a:spLocks noGrp="1"/>
          </p:cNvSpPr>
          <p:nvPr>
            <p:ph type="sldNum" sz="quarter" idx="12"/>
          </p:nvPr>
        </p:nvSpPr>
        <p:spPr/>
        <p:txBody>
          <a:bodyPr/>
          <a:lstStyle/>
          <a:p>
            <a:fld id="{8E4390B2-936D-412C-BF9A-A563A14C371B}" type="slidenum">
              <a:rPr lang="he-IL" smtClean="0"/>
              <a:t>‹#›</a:t>
            </a:fld>
            <a:endParaRPr lang="he-IL"/>
          </a:p>
        </p:txBody>
      </p:sp>
    </p:spTree>
    <p:extLst>
      <p:ext uri="{BB962C8B-B14F-4D97-AF65-F5344CB8AC3E}">
        <p14:creationId xmlns:p14="http://schemas.microsoft.com/office/powerpoint/2010/main" val="40128786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804C2889-CBE5-9B7A-3022-A27EEB18FC54}"/>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CE25F3E6-BBD2-8877-2168-3691348B775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טקסט 3">
            <a:extLst>
              <a:ext uri="{FF2B5EF4-FFF2-40B4-BE49-F238E27FC236}">
                <a16:creationId xmlns:a16="http://schemas.microsoft.com/office/drawing/2014/main" id="{CDF07949-1B0B-5344-827E-9F0E1C1CA3B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BF1DBB11-05B3-B748-28C6-D95BBC4AAE9C}"/>
              </a:ext>
            </a:extLst>
          </p:cNvPr>
          <p:cNvSpPr>
            <a:spLocks noGrp="1"/>
          </p:cNvSpPr>
          <p:nvPr>
            <p:ph type="dt" sz="half" idx="10"/>
          </p:nvPr>
        </p:nvSpPr>
        <p:spPr/>
        <p:txBody>
          <a:bodyPr/>
          <a:lstStyle/>
          <a:p>
            <a:fld id="{3E1C497D-CBCB-4013-AB64-3F7756BF2CD9}" type="datetimeFigureOut">
              <a:rPr lang="he-IL" smtClean="0"/>
              <a:t>ד'/חשון/תשפ"ז</a:t>
            </a:fld>
            <a:endParaRPr lang="he-IL"/>
          </a:p>
        </p:txBody>
      </p:sp>
      <p:sp>
        <p:nvSpPr>
          <p:cNvPr id="6" name="מציין מיקום של כותרת תחתונה 5">
            <a:extLst>
              <a:ext uri="{FF2B5EF4-FFF2-40B4-BE49-F238E27FC236}">
                <a16:creationId xmlns:a16="http://schemas.microsoft.com/office/drawing/2014/main" id="{09862999-32BF-73D0-0F03-E045EDB29F6B}"/>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176B6093-F4B9-4C92-6784-F1C84CEE74F0}"/>
              </a:ext>
            </a:extLst>
          </p:cNvPr>
          <p:cNvSpPr>
            <a:spLocks noGrp="1"/>
          </p:cNvSpPr>
          <p:nvPr>
            <p:ph type="sldNum" sz="quarter" idx="12"/>
          </p:nvPr>
        </p:nvSpPr>
        <p:spPr/>
        <p:txBody>
          <a:bodyPr/>
          <a:lstStyle/>
          <a:p>
            <a:fld id="{8E4390B2-936D-412C-BF9A-A563A14C371B}" type="slidenum">
              <a:rPr lang="he-IL" smtClean="0"/>
              <a:t>‹#›</a:t>
            </a:fld>
            <a:endParaRPr lang="he-IL"/>
          </a:p>
        </p:txBody>
      </p:sp>
    </p:spTree>
    <p:extLst>
      <p:ext uri="{BB962C8B-B14F-4D97-AF65-F5344CB8AC3E}">
        <p14:creationId xmlns:p14="http://schemas.microsoft.com/office/powerpoint/2010/main" val="34577701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3C6ABAB-B237-1131-C54D-C529DF51364A}"/>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של תמונה 2">
            <a:extLst>
              <a:ext uri="{FF2B5EF4-FFF2-40B4-BE49-F238E27FC236}">
                <a16:creationId xmlns:a16="http://schemas.microsoft.com/office/drawing/2014/main" id="{19F5DF64-5C88-5DF7-D712-0802F5B0C50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a:extLst>
              <a:ext uri="{FF2B5EF4-FFF2-40B4-BE49-F238E27FC236}">
                <a16:creationId xmlns:a16="http://schemas.microsoft.com/office/drawing/2014/main" id="{EA3F041D-BBDD-9658-457C-38F86A9D2E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E90A1E0E-FD45-E7F0-885E-B83E51E07FA1}"/>
              </a:ext>
            </a:extLst>
          </p:cNvPr>
          <p:cNvSpPr>
            <a:spLocks noGrp="1"/>
          </p:cNvSpPr>
          <p:nvPr>
            <p:ph type="dt" sz="half" idx="10"/>
          </p:nvPr>
        </p:nvSpPr>
        <p:spPr/>
        <p:txBody>
          <a:bodyPr/>
          <a:lstStyle/>
          <a:p>
            <a:fld id="{3E1C497D-CBCB-4013-AB64-3F7756BF2CD9}" type="datetimeFigureOut">
              <a:rPr lang="he-IL" smtClean="0"/>
              <a:t>ד'/חשון/תשפ"ז</a:t>
            </a:fld>
            <a:endParaRPr lang="he-IL"/>
          </a:p>
        </p:txBody>
      </p:sp>
      <p:sp>
        <p:nvSpPr>
          <p:cNvPr id="6" name="מציין מיקום של כותרת תחתונה 5">
            <a:extLst>
              <a:ext uri="{FF2B5EF4-FFF2-40B4-BE49-F238E27FC236}">
                <a16:creationId xmlns:a16="http://schemas.microsoft.com/office/drawing/2014/main" id="{DFC3F692-B548-007E-3F67-4F5429A6644E}"/>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ADBBCBDE-BA2C-F26D-C9E4-227430F4DE3B}"/>
              </a:ext>
            </a:extLst>
          </p:cNvPr>
          <p:cNvSpPr>
            <a:spLocks noGrp="1"/>
          </p:cNvSpPr>
          <p:nvPr>
            <p:ph type="sldNum" sz="quarter" idx="12"/>
          </p:nvPr>
        </p:nvSpPr>
        <p:spPr/>
        <p:txBody>
          <a:bodyPr/>
          <a:lstStyle/>
          <a:p>
            <a:fld id="{8E4390B2-936D-412C-BF9A-A563A14C371B}" type="slidenum">
              <a:rPr lang="he-IL" smtClean="0"/>
              <a:t>‹#›</a:t>
            </a:fld>
            <a:endParaRPr lang="he-IL"/>
          </a:p>
        </p:txBody>
      </p:sp>
    </p:spTree>
    <p:extLst>
      <p:ext uri="{BB962C8B-B14F-4D97-AF65-F5344CB8AC3E}">
        <p14:creationId xmlns:p14="http://schemas.microsoft.com/office/powerpoint/2010/main" val="14674659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84A5BB17-1B82-852E-8D16-D818C4943225}"/>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של טקסט אנכי 2">
            <a:extLst>
              <a:ext uri="{FF2B5EF4-FFF2-40B4-BE49-F238E27FC236}">
                <a16:creationId xmlns:a16="http://schemas.microsoft.com/office/drawing/2014/main" id="{71ED6410-80D2-C6B5-2411-915AC0C104B4}"/>
              </a:ext>
            </a:extLst>
          </p:cNvPr>
          <p:cNvSpPr>
            <a:spLocks noGrp="1"/>
          </p:cNvSpPr>
          <p:nvPr>
            <p:ph type="body" orient="vert" idx="1"/>
          </p:nvPr>
        </p:nvSpPr>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CC845529-2D7B-1A15-3C2B-DC545EB80FD4}"/>
              </a:ext>
            </a:extLst>
          </p:cNvPr>
          <p:cNvSpPr>
            <a:spLocks noGrp="1"/>
          </p:cNvSpPr>
          <p:nvPr>
            <p:ph type="dt" sz="half" idx="10"/>
          </p:nvPr>
        </p:nvSpPr>
        <p:spPr/>
        <p:txBody>
          <a:bodyPr/>
          <a:lstStyle/>
          <a:p>
            <a:fld id="{3E1C497D-CBCB-4013-AB64-3F7756BF2CD9}" type="datetimeFigureOut">
              <a:rPr lang="he-IL" smtClean="0"/>
              <a:t>ד'/חשון/תשפ"ז</a:t>
            </a:fld>
            <a:endParaRPr lang="he-IL"/>
          </a:p>
        </p:txBody>
      </p:sp>
      <p:sp>
        <p:nvSpPr>
          <p:cNvPr id="5" name="מציין מיקום של כותרת תחתונה 4">
            <a:extLst>
              <a:ext uri="{FF2B5EF4-FFF2-40B4-BE49-F238E27FC236}">
                <a16:creationId xmlns:a16="http://schemas.microsoft.com/office/drawing/2014/main" id="{D0300911-6B6F-658F-ACBC-7A761E21CA95}"/>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76B30097-82D3-C411-B804-915D0C085C3A}"/>
              </a:ext>
            </a:extLst>
          </p:cNvPr>
          <p:cNvSpPr>
            <a:spLocks noGrp="1"/>
          </p:cNvSpPr>
          <p:nvPr>
            <p:ph type="sldNum" sz="quarter" idx="12"/>
          </p:nvPr>
        </p:nvSpPr>
        <p:spPr/>
        <p:txBody>
          <a:bodyPr/>
          <a:lstStyle/>
          <a:p>
            <a:fld id="{8E4390B2-936D-412C-BF9A-A563A14C371B}" type="slidenum">
              <a:rPr lang="he-IL" smtClean="0"/>
              <a:t>‹#›</a:t>
            </a:fld>
            <a:endParaRPr lang="he-IL"/>
          </a:p>
        </p:txBody>
      </p:sp>
    </p:spTree>
    <p:extLst>
      <p:ext uri="{BB962C8B-B14F-4D97-AF65-F5344CB8AC3E}">
        <p14:creationId xmlns:p14="http://schemas.microsoft.com/office/powerpoint/2010/main" val="25673651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a:extLst>
              <a:ext uri="{FF2B5EF4-FFF2-40B4-BE49-F238E27FC236}">
                <a16:creationId xmlns:a16="http://schemas.microsoft.com/office/drawing/2014/main" id="{5A50B548-2153-8A46-CCBD-27A2756C9CE7}"/>
              </a:ext>
            </a:extLst>
          </p:cNvPr>
          <p:cNvSpPr>
            <a:spLocks noGrp="1"/>
          </p:cNvSpPr>
          <p:nvPr>
            <p:ph type="title" orient="vert"/>
          </p:nvPr>
        </p:nvSpPr>
        <p:spPr>
          <a:xfrm>
            <a:off x="8724900" y="365125"/>
            <a:ext cx="2628900" cy="5811838"/>
          </a:xfrm>
        </p:spPr>
        <p:txBody>
          <a:bodyPr vert="eaVert"/>
          <a:lstStyle/>
          <a:p>
            <a:r>
              <a:rPr lang="he-IL"/>
              <a:t>לחץ כדי לערוך סגנון כותרת של תבנית בסיס</a:t>
            </a:r>
          </a:p>
        </p:txBody>
      </p:sp>
      <p:sp>
        <p:nvSpPr>
          <p:cNvPr id="3" name="מציין מיקום של טקסט אנכי 2">
            <a:extLst>
              <a:ext uri="{FF2B5EF4-FFF2-40B4-BE49-F238E27FC236}">
                <a16:creationId xmlns:a16="http://schemas.microsoft.com/office/drawing/2014/main" id="{C9BA067E-F574-2104-1AF2-F6ACE16C15DC}"/>
              </a:ext>
            </a:extLst>
          </p:cNvPr>
          <p:cNvSpPr>
            <a:spLocks noGrp="1"/>
          </p:cNvSpPr>
          <p:nvPr>
            <p:ph type="body" orient="vert" idx="1"/>
          </p:nvPr>
        </p:nvSpPr>
        <p:spPr>
          <a:xfrm>
            <a:off x="838200" y="365125"/>
            <a:ext cx="7734300" cy="5811838"/>
          </a:xfrm>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2E9E2371-9D6D-7A21-16F6-C969498EB049}"/>
              </a:ext>
            </a:extLst>
          </p:cNvPr>
          <p:cNvSpPr>
            <a:spLocks noGrp="1"/>
          </p:cNvSpPr>
          <p:nvPr>
            <p:ph type="dt" sz="half" idx="10"/>
          </p:nvPr>
        </p:nvSpPr>
        <p:spPr/>
        <p:txBody>
          <a:bodyPr/>
          <a:lstStyle/>
          <a:p>
            <a:fld id="{3E1C497D-CBCB-4013-AB64-3F7756BF2CD9}" type="datetimeFigureOut">
              <a:rPr lang="he-IL" smtClean="0"/>
              <a:t>ד'/חשון/תשפ"ז</a:t>
            </a:fld>
            <a:endParaRPr lang="he-IL"/>
          </a:p>
        </p:txBody>
      </p:sp>
      <p:sp>
        <p:nvSpPr>
          <p:cNvPr id="5" name="מציין מיקום של כותרת תחתונה 4">
            <a:extLst>
              <a:ext uri="{FF2B5EF4-FFF2-40B4-BE49-F238E27FC236}">
                <a16:creationId xmlns:a16="http://schemas.microsoft.com/office/drawing/2014/main" id="{7C737BF6-CBB4-F837-2990-D46420EE0405}"/>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B017CF42-397D-E3EE-DDEF-4C0F8011C5EB}"/>
              </a:ext>
            </a:extLst>
          </p:cNvPr>
          <p:cNvSpPr>
            <a:spLocks noGrp="1"/>
          </p:cNvSpPr>
          <p:nvPr>
            <p:ph type="sldNum" sz="quarter" idx="12"/>
          </p:nvPr>
        </p:nvSpPr>
        <p:spPr/>
        <p:txBody>
          <a:bodyPr/>
          <a:lstStyle/>
          <a:p>
            <a:fld id="{8E4390B2-936D-412C-BF9A-A563A14C371B}" type="slidenum">
              <a:rPr lang="he-IL" smtClean="0"/>
              <a:t>‹#›</a:t>
            </a:fld>
            <a:endParaRPr lang="he-IL"/>
          </a:p>
        </p:txBody>
      </p:sp>
    </p:spTree>
    <p:extLst>
      <p:ext uri="{BB962C8B-B14F-4D97-AF65-F5344CB8AC3E}">
        <p14:creationId xmlns:p14="http://schemas.microsoft.com/office/powerpoint/2010/main" val="42050567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כותרת וטקסט">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EF3D619B-1628-CA16-BFF0-49835D1305C9}"/>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1D10537C-94C8-3AE7-8373-8B0E5703C978}"/>
              </a:ext>
            </a:extLst>
          </p:cNvPr>
          <p:cNvSpPr>
            <a:spLocks noGrp="1"/>
          </p:cNvSpPr>
          <p:nvPr>
            <p:ph type="body" idx="1"/>
          </p:nvPr>
        </p:nvSpPr>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02DDF66E-65A5-19CF-011F-C6CF22595BB4}"/>
              </a:ext>
            </a:extLst>
          </p:cNvPr>
          <p:cNvSpPr>
            <a:spLocks noGrp="1"/>
          </p:cNvSpPr>
          <p:nvPr>
            <p:ph type="dt" sz="half" idx="10"/>
          </p:nvPr>
        </p:nvSpPr>
        <p:spPr/>
        <p:txBody>
          <a:bodyPr/>
          <a:lstStyle/>
          <a:p>
            <a:fld id="{7042BFB2-10FB-4C90-907C-34A5F41FA7BE}" type="datetimeFigureOut">
              <a:rPr lang="he-IL" smtClean="0"/>
              <a:t>ד'/חשון/תשפ"ז</a:t>
            </a:fld>
            <a:endParaRPr lang="he-IL"/>
          </a:p>
        </p:txBody>
      </p:sp>
      <p:sp>
        <p:nvSpPr>
          <p:cNvPr id="5" name="מציין מיקום של כותרת תחתונה 4">
            <a:extLst>
              <a:ext uri="{FF2B5EF4-FFF2-40B4-BE49-F238E27FC236}">
                <a16:creationId xmlns:a16="http://schemas.microsoft.com/office/drawing/2014/main" id="{A0D7B8B8-B867-9396-8C64-9FB9F8DD5EF6}"/>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C0C54773-9E3A-EC0F-D9BA-D34391295F3A}"/>
              </a:ext>
            </a:extLst>
          </p:cNvPr>
          <p:cNvSpPr>
            <a:spLocks noGrp="1"/>
          </p:cNvSpPr>
          <p:nvPr>
            <p:ph type="sldNum" sz="quarter" idx="12"/>
          </p:nvPr>
        </p:nvSpPr>
        <p:spPr/>
        <p:txBody>
          <a:bodyPr/>
          <a:lstStyle/>
          <a:p>
            <a:fld id="{0CCB7EE0-42CF-4032-9150-71C6B7897CCD}" type="slidenum">
              <a:rPr lang="he-IL" smtClean="0"/>
              <a:t>‹#›</a:t>
            </a:fld>
            <a:endParaRPr lang="he-IL"/>
          </a:p>
        </p:txBody>
      </p:sp>
    </p:spTree>
    <p:extLst>
      <p:ext uri="{BB962C8B-B14F-4D97-AF65-F5344CB8AC3E}">
        <p14:creationId xmlns:p14="http://schemas.microsoft.com/office/powerpoint/2010/main" val="35083318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a:extLst>
              <a:ext uri="{FF2B5EF4-FFF2-40B4-BE49-F238E27FC236}">
                <a16:creationId xmlns:a16="http://schemas.microsoft.com/office/drawing/2014/main" id="{2AF947B9-EF4C-2C85-39A8-5077092A3EC2}"/>
              </a:ext>
            </a:extLst>
          </p:cNvPr>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06AEDD63-B28E-7610-4DA2-F097EB19F04D}"/>
              </a:ext>
            </a:extLst>
          </p:cNvPr>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6735723C-2C56-F1FD-1212-F0AC6EA84AE4}"/>
              </a:ext>
            </a:extLst>
          </p:cNvPr>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82000"/>
                  </a:schemeClr>
                </a:solidFill>
              </a:defRPr>
            </a:lvl1pPr>
          </a:lstStyle>
          <a:p>
            <a:fld id="{3E1C497D-CBCB-4013-AB64-3F7756BF2CD9}" type="datetimeFigureOut">
              <a:rPr lang="he-IL" smtClean="0"/>
              <a:t>ד'/חשון/תשפ"ז</a:t>
            </a:fld>
            <a:endParaRPr lang="he-IL"/>
          </a:p>
        </p:txBody>
      </p:sp>
      <p:sp>
        <p:nvSpPr>
          <p:cNvPr id="5" name="מציין מיקום של כותרת תחתונה 4">
            <a:extLst>
              <a:ext uri="{FF2B5EF4-FFF2-40B4-BE49-F238E27FC236}">
                <a16:creationId xmlns:a16="http://schemas.microsoft.com/office/drawing/2014/main" id="{EDADDC20-81FE-05F7-57F5-7ABC1BEA67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82000"/>
                  </a:schemeClr>
                </a:solidFill>
              </a:defRPr>
            </a:lvl1pPr>
          </a:lstStyle>
          <a:p>
            <a:endParaRPr lang="he-IL"/>
          </a:p>
        </p:txBody>
      </p:sp>
      <p:sp>
        <p:nvSpPr>
          <p:cNvPr id="6" name="מציין מיקום של מספר שקופית 5">
            <a:extLst>
              <a:ext uri="{FF2B5EF4-FFF2-40B4-BE49-F238E27FC236}">
                <a16:creationId xmlns:a16="http://schemas.microsoft.com/office/drawing/2014/main" id="{F6402230-61CE-1761-AC84-E649AB8E676E}"/>
              </a:ext>
            </a:extLst>
          </p:cNvPr>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82000"/>
                  </a:schemeClr>
                </a:solidFill>
              </a:defRPr>
            </a:lvl1pPr>
          </a:lstStyle>
          <a:p>
            <a:fld id="{8E4390B2-936D-412C-BF9A-A563A14C371B}" type="slidenum">
              <a:rPr lang="he-IL" smtClean="0"/>
              <a:t>‹#›</a:t>
            </a:fld>
            <a:endParaRPr lang="he-IL"/>
          </a:p>
        </p:txBody>
      </p:sp>
    </p:spTree>
    <p:extLst>
      <p:ext uri="{BB962C8B-B14F-4D97-AF65-F5344CB8AC3E}">
        <p14:creationId xmlns:p14="http://schemas.microsoft.com/office/powerpoint/2010/main" val="18523735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A3C89F8-0D2F-47FF-B903-151248265F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gs>
              <a:gs pos="100000">
                <a:schemeClr val="accent2"/>
              </a:gs>
            </a:gsLst>
            <a:lin ang="81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כותרת 1">
            <a:extLst>
              <a:ext uri="{FF2B5EF4-FFF2-40B4-BE49-F238E27FC236}">
                <a16:creationId xmlns:a16="http://schemas.microsoft.com/office/drawing/2014/main" id="{7B56B1F5-332F-746A-BF8A-BD2427C1AA0B}"/>
              </a:ext>
            </a:extLst>
          </p:cNvPr>
          <p:cNvSpPr>
            <a:spLocks noGrp="1"/>
          </p:cNvSpPr>
          <p:nvPr>
            <p:ph type="ctrTitle"/>
          </p:nvPr>
        </p:nvSpPr>
        <p:spPr>
          <a:xfrm>
            <a:off x="3880430" y="583345"/>
            <a:ext cx="7160357" cy="4164820"/>
          </a:xfrm>
        </p:spPr>
        <p:txBody>
          <a:bodyPr anchor="t">
            <a:normAutofit/>
          </a:bodyPr>
          <a:lstStyle/>
          <a:p>
            <a:pPr algn="r"/>
            <a:r>
              <a:rPr lang="he-IL" sz="8000">
                <a:solidFill>
                  <a:srgbClr val="FFFFFF"/>
                </a:solidFill>
              </a:rPr>
              <a:t>העולם בימות המשיח</a:t>
            </a:r>
          </a:p>
        </p:txBody>
      </p:sp>
      <p:sp>
        <p:nvSpPr>
          <p:cNvPr id="3" name="כותרת משנה 2">
            <a:extLst>
              <a:ext uri="{FF2B5EF4-FFF2-40B4-BE49-F238E27FC236}">
                <a16:creationId xmlns:a16="http://schemas.microsoft.com/office/drawing/2014/main" id="{0DE8087E-DB2E-748C-7ECA-94A85F0BD7EE}"/>
              </a:ext>
            </a:extLst>
          </p:cNvPr>
          <p:cNvSpPr>
            <a:spLocks noGrp="1"/>
          </p:cNvSpPr>
          <p:nvPr>
            <p:ph type="subTitle" idx="1"/>
          </p:nvPr>
        </p:nvSpPr>
        <p:spPr>
          <a:xfrm>
            <a:off x="1208228" y="5972174"/>
            <a:ext cx="8578699" cy="504825"/>
          </a:xfrm>
        </p:spPr>
        <p:txBody>
          <a:bodyPr>
            <a:normAutofit/>
          </a:bodyPr>
          <a:lstStyle/>
          <a:p>
            <a:pPr algn="l"/>
            <a:r>
              <a:rPr lang="he-IL" sz="2000">
                <a:solidFill>
                  <a:srgbClr val="FFFFFF"/>
                </a:solidFill>
              </a:rPr>
              <a:t>הרב יהודה טאוב</a:t>
            </a:r>
          </a:p>
        </p:txBody>
      </p:sp>
      <p:sp>
        <p:nvSpPr>
          <p:cNvPr id="10" name="Graphic 13">
            <a:extLst>
              <a:ext uri="{FF2B5EF4-FFF2-40B4-BE49-F238E27FC236}">
                <a16:creationId xmlns:a16="http://schemas.microsoft.com/office/drawing/2014/main" id="{C5CB530E-515E-412C-9DF1-5F8FFBD6F3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4359" y="583345"/>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rgbClr val="FFFFFF"/>
          </a:solidFill>
          <a:ln w="603" cap="flat">
            <a:noFill/>
            <a:prstDash val="solid"/>
            <a:miter/>
          </a:ln>
        </p:spPr>
        <p:txBody>
          <a:bodyPr rtlCol="0" anchor="ctr"/>
          <a:lstStyle/>
          <a:p>
            <a:endParaRPr lang="en-US">
              <a:solidFill>
                <a:srgbClr val="FFFFFF"/>
              </a:solidFill>
            </a:endParaRPr>
          </a:p>
        </p:txBody>
      </p:sp>
      <p:sp>
        <p:nvSpPr>
          <p:cNvPr id="12" name="Graphic 12">
            <a:extLst>
              <a:ext uri="{FF2B5EF4-FFF2-40B4-BE49-F238E27FC236}">
                <a16:creationId xmlns:a16="http://schemas.microsoft.com/office/drawing/2014/main" id="{712D4376-A578-4FF1-94FC-245E7A6A4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33139" y="8126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endParaRPr lang="en-US">
              <a:solidFill>
                <a:srgbClr val="FFFFFF"/>
              </a:solidFill>
            </a:endParaRPr>
          </a:p>
        </p:txBody>
      </p:sp>
      <p:sp>
        <p:nvSpPr>
          <p:cNvPr id="14" name="Graphic 15">
            <a:extLst>
              <a:ext uri="{FF2B5EF4-FFF2-40B4-BE49-F238E27FC236}">
                <a16:creationId xmlns:a16="http://schemas.microsoft.com/office/drawing/2014/main" id="{AEA7509D-F04F-40CB-A0B3-EEF16499C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8819" y="1037066"/>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rgbClr val="FFFFFF"/>
          </a:solidFill>
          <a:ln w="610" cap="flat">
            <a:noFill/>
            <a:prstDash val="solid"/>
            <a:miter/>
          </a:ln>
        </p:spPr>
        <p:txBody>
          <a:bodyPr rtlCol="0" anchor="ctr"/>
          <a:lstStyle/>
          <a:p>
            <a:endParaRPr lang="en-US">
              <a:solidFill>
                <a:srgbClr val="FFFFFF"/>
              </a:solidFill>
            </a:endParaRPr>
          </a:p>
        </p:txBody>
      </p:sp>
      <p:cxnSp>
        <p:nvCxnSpPr>
          <p:cNvPr id="16" name="Straight Connector 15">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56114" y="3503032"/>
            <a:ext cx="0" cy="3346090"/>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sp>
        <p:nvSpPr>
          <p:cNvPr id="18" name="Graphic 22">
            <a:extLst>
              <a:ext uri="{FF2B5EF4-FFF2-40B4-BE49-F238E27FC236}">
                <a16:creationId xmlns:a16="http://schemas.microsoft.com/office/drawing/2014/main" id="{508BEF50-7B1E-49A4-BC19-5F4F1D755E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36425" y="5636680"/>
            <a:ext cx="151536" cy="151536"/>
          </a:xfrm>
          <a:custGeom>
            <a:avLst/>
            <a:gdLst>
              <a:gd name="connsiteX0" fmla="*/ 141251 w 151536"/>
              <a:gd name="connsiteY0" fmla="*/ 65483 h 151536"/>
              <a:gd name="connsiteX1" fmla="*/ 86053 w 151536"/>
              <a:gd name="connsiteY1" fmla="*/ 65483 h 151536"/>
              <a:gd name="connsiteX2" fmla="*/ 86053 w 151536"/>
              <a:gd name="connsiteY2" fmla="*/ 10285 h 151536"/>
              <a:gd name="connsiteX3" fmla="*/ 75768 w 151536"/>
              <a:gd name="connsiteY3" fmla="*/ 0 h 151536"/>
              <a:gd name="connsiteX4" fmla="*/ 65483 w 151536"/>
              <a:gd name="connsiteY4" fmla="*/ 10285 h 151536"/>
              <a:gd name="connsiteX5" fmla="*/ 65483 w 151536"/>
              <a:gd name="connsiteY5" fmla="*/ 65483 h 151536"/>
              <a:gd name="connsiteX6" fmla="*/ 10285 w 151536"/>
              <a:gd name="connsiteY6" fmla="*/ 65483 h 151536"/>
              <a:gd name="connsiteX7" fmla="*/ 0 w 151536"/>
              <a:gd name="connsiteY7" fmla="*/ 75768 h 151536"/>
              <a:gd name="connsiteX8" fmla="*/ 10285 w 151536"/>
              <a:gd name="connsiteY8" fmla="*/ 86053 h 151536"/>
              <a:gd name="connsiteX9" fmla="*/ 65483 w 151536"/>
              <a:gd name="connsiteY9" fmla="*/ 86053 h 151536"/>
              <a:gd name="connsiteX10" fmla="*/ 65483 w 151536"/>
              <a:gd name="connsiteY10" fmla="*/ 141251 h 151536"/>
              <a:gd name="connsiteX11" fmla="*/ 75768 w 151536"/>
              <a:gd name="connsiteY11" fmla="*/ 151536 h 151536"/>
              <a:gd name="connsiteX12" fmla="*/ 86053 w 151536"/>
              <a:gd name="connsiteY12" fmla="*/ 141251 h 151536"/>
              <a:gd name="connsiteX13" fmla="*/ 86053 w 151536"/>
              <a:gd name="connsiteY13" fmla="*/ 86053 h 151536"/>
              <a:gd name="connsiteX14" fmla="*/ 141251 w 151536"/>
              <a:gd name="connsiteY14" fmla="*/ 86053 h 151536"/>
              <a:gd name="connsiteX15" fmla="*/ 151536 w 151536"/>
              <a:gd name="connsiteY15" fmla="*/ 75768 h 151536"/>
              <a:gd name="connsiteX16" fmla="*/ 141251 w 151536"/>
              <a:gd name="connsiteY16" fmla="*/ 65483 h 15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536" h="151536">
                <a:moveTo>
                  <a:pt x="141251" y="65483"/>
                </a:moveTo>
                <a:lnTo>
                  <a:pt x="86053" y="65483"/>
                </a:lnTo>
                <a:lnTo>
                  <a:pt x="86053" y="10285"/>
                </a:lnTo>
                <a:cubicBezTo>
                  <a:pt x="86053" y="4605"/>
                  <a:pt x="81448" y="0"/>
                  <a:pt x="75768" y="0"/>
                </a:cubicBezTo>
                <a:cubicBezTo>
                  <a:pt x="70088" y="0"/>
                  <a:pt x="65483" y="4605"/>
                  <a:pt x="65483" y="10285"/>
                </a:cubicBezTo>
                <a:lnTo>
                  <a:pt x="65483" y="65483"/>
                </a:lnTo>
                <a:lnTo>
                  <a:pt x="10285" y="65483"/>
                </a:lnTo>
                <a:cubicBezTo>
                  <a:pt x="4605" y="65483"/>
                  <a:pt x="0" y="70088"/>
                  <a:pt x="0" y="75768"/>
                </a:cubicBezTo>
                <a:cubicBezTo>
                  <a:pt x="0" y="81448"/>
                  <a:pt x="4605" y="86053"/>
                  <a:pt x="10285" y="86053"/>
                </a:cubicBezTo>
                <a:lnTo>
                  <a:pt x="65483" y="86053"/>
                </a:lnTo>
                <a:lnTo>
                  <a:pt x="65483" y="141251"/>
                </a:lnTo>
                <a:cubicBezTo>
                  <a:pt x="65483" y="146931"/>
                  <a:pt x="70088" y="151536"/>
                  <a:pt x="75768" y="151536"/>
                </a:cubicBezTo>
                <a:cubicBezTo>
                  <a:pt x="81448" y="151536"/>
                  <a:pt x="86053" y="146931"/>
                  <a:pt x="86053" y="141251"/>
                </a:cubicBezTo>
                <a:lnTo>
                  <a:pt x="86053" y="86053"/>
                </a:lnTo>
                <a:lnTo>
                  <a:pt x="141251" y="86053"/>
                </a:lnTo>
                <a:cubicBezTo>
                  <a:pt x="146931" y="86053"/>
                  <a:pt x="151536" y="81448"/>
                  <a:pt x="151536" y="75768"/>
                </a:cubicBezTo>
                <a:cubicBezTo>
                  <a:pt x="151536" y="70088"/>
                  <a:pt x="146931" y="65483"/>
                  <a:pt x="141251" y="65483"/>
                </a:cubicBezTo>
                <a:close/>
              </a:path>
            </a:pathLst>
          </a:custGeom>
          <a:solidFill>
            <a:srgbClr val="FFFFFF"/>
          </a:solidFill>
          <a:ln w="646" cap="flat">
            <a:noFill/>
            <a:prstDash val="solid"/>
            <a:miter/>
          </a:ln>
        </p:spPr>
        <p:txBody>
          <a:bodyPr rtlCol="0" anchor="ctr"/>
          <a:lstStyle/>
          <a:p>
            <a:endParaRPr lang="en-US">
              <a:solidFill>
                <a:srgbClr val="FFFFFF"/>
              </a:solidFill>
            </a:endParaRPr>
          </a:p>
        </p:txBody>
      </p:sp>
      <p:sp>
        <p:nvSpPr>
          <p:cNvPr id="20" name="Graphic 23">
            <a:extLst>
              <a:ext uri="{FF2B5EF4-FFF2-40B4-BE49-F238E27FC236}">
                <a16:creationId xmlns:a16="http://schemas.microsoft.com/office/drawing/2014/main" id="{3FBAD350-5664-4811-A208-657FB882D3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45175" y="6096759"/>
            <a:ext cx="108625" cy="108625"/>
          </a:xfrm>
          <a:custGeom>
            <a:avLst/>
            <a:gdLst>
              <a:gd name="connsiteX0" fmla="*/ 54313 w 108625"/>
              <a:gd name="connsiteY0" fmla="*/ 16053 h 108625"/>
              <a:gd name="connsiteX1" fmla="*/ 92572 w 108625"/>
              <a:gd name="connsiteY1" fmla="*/ 54313 h 108625"/>
              <a:gd name="connsiteX2" fmla="*/ 54313 w 108625"/>
              <a:gd name="connsiteY2" fmla="*/ 92572 h 108625"/>
              <a:gd name="connsiteX3" fmla="*/ 16053 w 108625"/>
              <a:gd name="connsiteY3" fmla="*/ 54313 h 108625"/>
              <a:gd name="connsiteX4" fmla="*/ 54313 w 108625"/>
              <a:gd name="connsiteY4" fmla="*/ 16053 h 108625"/>
              <a:gd name="connsiteX5" fmla="*/ 54313 w 108625"/>
              <a:gd name="connsiteY5" fmla="*/ 0 h 108625"/>
              <a:gd name="connsiteX6" fmla="*/ 0 w 108625"/>
              <a:gd name="connsiteY6" fmla="*/ 54313 h 108625"/>
              <a:gd name="connsiteX7" fmla="*/ 54313 w 108625"/>
              <a:gd name="connsiteY7" fmla="*/ 108625 h 108625"/>
              <a:gd name="connsiteX8" fmla="*/ 108625 w 108625"/>
              <a:gd name="connsiteY8" fmla="*/ 54313 h 108625"/>
              <a:gd name="connsiteX9" fmla="*/ 54313 w 108625"/>
              <a:gd name="connsiteY9" fmla="*/ 0 h 10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625" h="108625">
                <a:moveTo>
                  <a:pt x="54313" y="16053"/>
                </a:moveTo>
                <a:cubicBezTo>
                  <a:pt x="75442" y="16053"/>
                  <a:pt x="92572" y="33182"/>
                  <a:pt x="92572" y="54313"/>
                </a:cubicBezTo>
                <a:cubicBezTo>
                  <a:pt x="92572" y="75442"/>
                  <a:pt x="75442" y="92572"/>
                  <a:pt x="54313" y="92572"/>
                </a:cubicBezTo>
                <a:cubicBezTo>
                  <a:pt x="33182" y="92572"/>
                  <a:pt x="16053" y="75442"/>
                  <a:pt x="16053" y="54313"/>
                </a:cubicBezTo>
                <a:cubicBezTo>
                  <a:pt x="16074" y="33191"/>
                  <a:pt x="33191" y="16074"/>
                  <a:pt x="54313" y="16053"/>
                </a:cubicBezTo>
                <a:moveTo>
                  <a:pt x="54313" y="0"/>
                </a:moveTo>
                <a:cubicBezTo>
                  <a:pt x="24317" y="0"/>
                  <a:pt x="0" y="24317"/>
                  <a:pt x="0" y="54313"/>
                </a:cubicBezTo>
                <a:cubicBezTo>
                  <a:pt x="0" y="84309"/>
                  <a:pt x="24317" y="108625"/>
                  <a:pt x="54313" y="108625"/>
                </a:cubicBezTo>
                <a:cubicBezTo>
                  <a:pt x="84309" y="108625"/>
                  <a:pt x="108625" y="84309"/>
                  <a:pt x="108625" y="54313"/>
                </a:cubicBezTo>
                <a:cubicBezTo>
                  <a:pt x="108625" y="24317"/>
                  <a:pt x="84309" y="0"/>
                  <a:pt x="54313" y="0"/>
                </a:cubicBezTo>
                <a:close/>
              </a:path>
            </a:pathLst>
          </a:custGeom>
          <a:solidFill>
            <a:srgbClr val="FFFFFF"/>
          </a:solidFill>
          <a:ln w="516" cap="flat">
            <a:noFill/>
            <a:prstDash val="solid"/>
            <a:miter/>
          </a:ln>
        </p:spPr>
        <p:txBody>
          <a:bodyPr rtlCol="0" anchor="ctr"/>
          <a:lstStyle/>
          <a:p>
            <a:endParaRPr lang="en-US">
              <a:solidFill>
                <a:srgbClr val="FFFFFF"/>
              </a:solidFill>
            </a:endParaRPr>
          </a:p>
        </p:txBody>
      </p:sp>
      <p:sp>
        <p:nvSpPr>
          <p:cNvPr id="22" name="Graphic 21">
            <a:extLst>
              <a:ext uri="{FF2B5EF4-FFF2-40B4-BE49-F238E27FC236}">
                <a16:creationId xmlns:a16="http://schemas.microsoft.com/office/drawing/2014/main" id="{C39ADB8F-D187-49D7-BDCF-C1B6DC7270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554288" y="6238029"/>
            <a:ext cx="95759" cy="95759"/>
          </a:xfrm>
          <a:custGeom>
            <a:avLst/>
            <a:gdLst>
              <a:gd name="connsiteX0" fmla="*/ 95759 w 95759"/>
              <a:gd name="connsiteY0" fmla="*/ 47880 h 95759"/>
              <a:gd name="connsiteX1" fmla="*/ 47880 w 95759"/>
              <a:gd name="connsiteY1" fmla="*/ 95759 h 95759"/>
              <a:gd name="connsiteX2" fmla="*/ 0 w 95759"/>
              <a:gd name="connsiteY2" fmla="*/ 47880 h 95759"/>
              <a:gd name="connsiteX3" fmla="*/ 47880 w 95759"/>
              <a:gd name="connsiteY3" fmla="*/ 0 h 95759"/>
              <a:gd name="connsiteX4" fmla="*/ 95759 w 95759"/>
              <a:gd name="connsiteY4" fmla="*/ 47880 h 957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59" h="95759">
                <a:moveTo>
                  <a:pt x="95759" y="47880"/>
                </a:moveTo>
                <a:cubicBezTo>
                  <a:pt x="95759" y="74323"/>
                  <a:pt x="74323" y="95759"/>
                  <a:pt x="47880" y="95759"/>
                </a:cubicBezTo>
                <a:cubicBezTo>
                  <a:pt x="21436" y="95759"/>
                  <a:pt x="0" y="74323"/>
                  <a:pt x="0" y="47880"/>
                </a:cubicBezTo>
                <a:cubicBezTo>
                  <a:pt x="0" y="21436"/>
                  <a:pt x="21436" y="0"/>
                  <a:pt x="47880" y="0"/>
                </a:cubicBezTo>
                <a:cubicBezTo>
                  <a:pt x="74323" y="0"/>
                  <a:pt x="95759" y="21436"/>
                  <a:pt x="95759" y="47880"/>
                </a:cubicBezTo>
                <a:close/>
              </a:path>
            </a:pathLst>
          </a:custGeom>
          <a:solidFill>
            <a:srgbClr val="FFFFFF"/>
          </a:solidFill>
          <a:ln w="469" cap="flat">
            <a:noFill/>
            <a:prstDash val="solid"/>
            <a:miter/>
          </a:ln>
        </p:spPr>
        <p:txBody>
          <a:bodyPr rtlCol="0" anchor="ctr"/>
          <a:lstStyle/>
          <a:p>
            <a:endParaRPr lang="en-US">
              <a:solidFill>
                <a:srgbClr val="FFFFFF"/>
              </a:solidFill>
            </a:endParaRPr>
          </a:p>
        </p:txBody>
      </p:sp>
    </p:spTree>
    <p:extLst>
      <p:ext uri="{BB962C8B-B14F-4D97-AF65-F5344CB8AC3E}">
        <p14:creationId xmlns:p14="http://schemas.microsoft.com/office/powerpoint/2010/main" val="12019227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kumt Shoin  - The Miami boys Choir  קומט שוין - פרחי מיאמי">
            <a:hlinkClick r:id="" action="ppaction://media"/>
            <a:extLst>
              <a:ext uri="{FF2B5EF4-FFF2-40B4-BE49-F238E27FC236}">
                <a16:creationId xmlns:a16="http://schemas.microsoft.com/office/drawing/2014/main" id="{8C1C7072-A859-6708-6E8B-CD2A3884D86F}"/>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739342" y="5117379"/>
            <a:ext cx="487362" cy="487362"/>
          </a:xfrm>
          <a:prstGeom prst="rect">
            <a:avLst/>
          </a:prstGeom>
        </p:spPr>
      </p:pic>
      <p:sp>
        <p:nvSpPr>
          <p:cNvPr id="3" name="תיבת טקסט 2">
            <a:extLst>
              <a:ext uri="{FF2B5EF4-FFF2-40B4-BE49-F238E27FC236}">
                <a16:creationId xmlns:a16="http://schemas.microsoft.com/office/drawing/2014/main" id="{90908409-83BD-CFD7-A9DE-0D83073C34C1}"/>
              </a:ext>
            </a:extLst>
          </p:cNvPr>
          <p:cNvSpPr txBox="1"/>
          <p:nvPr/>
        </p:nvSpPr>
        <p:spPr>
          <a:xfrm>
            <a:off x="350982" y="323273"/>
            <a:ext cx="11665527" cy="5355312"/>
          </a:xfrm>
          <a:prstGeom prst="rect">
            <a:avLst/>
          </a:prstGeom>
          <a:noFill/>
        </p:spPr>
        <p:txBody>
          <a:bodyPr wrap="square" rtlCol="1">
            <a:spAutoFit/>
          </a:bodyPr>
          <a:lstStyle/>
          <a:p>
            <a:r>
              <a:rPr lang="he-IL" dirty="0"/>
              <a:t>רמב"ם הלכות מלכים פרק </a:t>
            </a:r>
            <a:r>
              <a:rPr lang="he-IL" dirty="0" err="1"/>
              <a:t>יב</a:t>
            </a:r>
            <a:r>
              <a:rPr lang="he-IL" dirty="0"/>
              <a:t> הלכה ד - ה</a:t>
            </a:r>
          </a:p>
          <a:p>
            <a:r>
              <a:rPr lang="he-IL" dirty="0"/>
              <a:t>לא </a:t>
            </a:r>
            <a:r>
              <a:rPr lang="he-IL" dirty="0" err="1"/>
              <a:t>נתאוו</a:t>
            </a:r>
            <a:r>
              <a:rPr lang="he-IL" dirty="0"/>
              <a:t> החכמים והנביאים ימות המשיח, לא כדי שישלטו על כל העולם, ולא כדי שירדו בעכו"ם, ולא כדי </a:t>
            </a:r>
            <a:r>
              <a:rPr lang="he-IL" dirty="0" err="1"/>
              <a:t>שינשאו</a:t>
            </a:r>
            <a:r>
              <a:rPr lang="he-IL" dirty="0"/>
              <a:t> אותם העמים, ולא כדי לאכול ולשתות ולשמוח, אלא כדי שיהיו </a:t>
            </a:r>
            <a:r>
              <a:rPr lang="he-IL" dirty="0" err="1"/>
              <a:t>פנויין</a:t>
            </a:r>
            <a:r>
              <a:rPr lang="he-IL" dirty="0"/>
              <a:t> בתורה </a:t>
            </a:r>
            <a:r>
              <a:rPr lang="he-IL" dirty="0" err="1"/>
              <a:t>וחכמתה</a:t>
            </a:r>
            <a:r>
              <a:rPr lang="he-IL" dirty="0"/>
              <a:t>, ולא יהיה להם נוגש ומבטל, כדי שיזכו לחיי העולם הבא.</a:t>
            </a:r>
          </a:p>
          <a:p>
            <a:endParaRPr lang="he-IL" dirty="0"/>
          </a:p>
          <a:p>
            <a:endParaRPr lang="he-IL" dirty="0"/>
          </a:p>
          <a:p>
            <a:r>
              <a:rPr lang="he-IL" dirty="0"/>
              <a:t>ובאותו הזמן לא יהיה שם לא רעב ולא מלחמה, ולא קנאה ותחרות, שהטובה תהיה מושפעת הרבה, וכל המעדנים </a:t>
            </a:r>
            <a:r>
              <a:rPr lang="he-IL" dirty="0" err="1"/>
              <a:t>מצויין</a:t>
            </a:r>
            <a:r>
              <a:rPr lang="he-IL" dirty="0"/>
              <a:t> כעפר, ולא יהיה עסק כל העולם אלא לדעת את ה' בלבד, ולפיכך יהיו ישראל חכמים גדולים ויודעים דברים הסתומים וישיגו דעת בוראם כפי </a:t>
            </a:r>
            <a:r>
              <a:rPr lang="he-IL" dirty="0" err="1"/>
              <a:t>כח</a:t>
            </a:r>
            <a:r>
              <a:rPr lang="he-IL" dirty="0"/>
              <a:t> האדם, שנאמר כי מלאה הארץ דעה את ה' כמים לים מכסים. </a:t>
            </a:r>
          </a:p>
          <a:p>
            <a:endParaRPr lang="he-IL" dirty="0"/>
          </a:p>
          <a:p>
            <a:endParaRPr lang="he-IL" dirty="0"/>
          </a:p>
          <a:p>
            <a:r>
              <a:rPr lang="he-IL" dirty="0"/>
              <a:t>קומט </a:t>
            </a:r>
            <a:r>
              <a:rPr lang="he-IL" dirty="0" err="1"/>
              <a:t>שוין</a:t>
            </a:r>
            <a:r>
              <a:rPr lang="he-IL" dirty="0"/>
              <a:t> שנעל </a:t>
            </a:r>
            <a:r>
              <a:rPr lang="he-IL" dirty="0" err="1"/>
              <a:t>אריין</a:t>
            </a:r>
            <a:r>
              <a:rPr lang="he-IL" dirty="0"/>
              <a:t> (</a:t>
            </a:r>
            <a:r>
              <a:rPr lang="he-IL" dirty="0" err="1"/>
              <a:t>צוזאמען</a:t>
            </a:r>
            <a:r>
              <a:rPr lang="he-IL" dirty="0"/>
              <a:t> די אידן) </a:t>
            </a:r>
            <a:r>
              <a:rPr lang="he-IL" b="0" i="0" dirty="0">
                <a:effectLst/>
                <a:latin typeface="D-DINExp"/>
              </a:rPr>
              <a:t>בואו מהר להיכנס (ביחד יהודים)</a:t>
            </a:r>
            <a:endParaRPr lang="he-IL" dirty="0"/>
          </a:p>
          <a:p>
            <a:r>
              <a:rPr lang="he-IL" dirty="0" err="1"/>
              <a:t>פריילעך</a:t>
            </a:r>
            <a:r>
              <a:rPr lang="he-IL" dirty="0"/>
              <a:t> </a:t>
            </a:r>
            <a:r>
              <a:rPr lang="he-IL" dirty="0" err="1"/>
              <a:t>זאל</a:t>
            </a:r>
            <a:r>
              <a:rPr lang="he-IL" dirty="0"/>
              <a:t> מען זיין (</a:t>
            </a:r>
            <a:r>
              <a:rPr lang="he-IL" dirty="0" err="1"/>
              <a:t>צוזאמען</a:t>
            </a:r>
            <a:r>
              <a:rPr lang="he-IL" dirty="0"/>
              <a:t> </a:t>
            </a:r>
            <a:r>
              <a:rPr lang="he-IL" dirty="0" err="1"/>
              <a:t>צופירידען</a:t>
            </a:r>
            <a:r>
              <a:rPr lang="he-IL" dirty="0"/>
              <a:t>) </a:t>
            </a:r>
            <a:r>
              <a:rPr lang="he-IL" b="0" i="0" dirty="0">
                <a:effectLst/>
                <a:latin typeface="D-DINExp"/>
              </a:rPr>
              <a:t>שישמחו (ביחד בשמחה)</a:t>
            </a:r>
            <a:endParaRPr lang="he-IL" dirty="0"/>
          </a:p>
          <a:p>
            <a:r>
              <a:rPr lang="he-IL" dirty="0"/>
              <a:t>אין בית המקדש </a:t>
            </a:r>
            <a:r>
              <a:rPr lang="he-IL" dirty="0" err="1"/>
              <a:t>גיין</a:t>
            </a:r>
            <a:r>
              <a:rPr lang="he-IL" dirty="0"/>
              <a:t>  -  </a:t>
            </a:r>
            <a:r>
              <a:rPr lang="he-IL" b="0" i="0" dirty="0">
                <a:effectLst/>
                <a:latin typeface="D-DINExp"/>
              </a:rPr>
              <a:t>ללכת לבית המקדש</a:t>
            </a:r>
            <a:endParaRPr lang="he-IL" dirty="0"/>
          </a:p>
          <a:p>
            <a:r>
              <a:rPr lang="he-IL" dirty="0"/>
              <a:t>עם משיח צדקנו </a:t>
            </a:r>
            <a:r>
              <a:rPr lang="he-IL" dirty="0" err="1"/>
              <a:t>אהיים</a:t>
            </a:r>
            <a:r>
              <a:rPr lang="he-IL" dirty="0"/>
              <a:t>!  - </a:t>
            </a:r>
            <a:r>
              <a:rPr lang="he-IL" b="0" i="0" dirty="0">
                <a:effectLst/>
                <a:latin typeface="D-DINExp"/>
              </a:rPr>
              <a:t>עם משיח צדקנו הביתה!</a:t>
            </a:r>
            <a:endParaRPr lang="he-IL" dirty="0"/>
          </a:p>
          <a:p>
            <a:endParaRPr lang="he-IL" dirty="0"/>
          </a:p>
          <a:p>
            <a:br>
              <a:rPr lang="he-IL" dirty="0"/>
            </a:br>
            <a:br>
              <a:rPr lang="he-IL" dirty="0"/>
            </a:br>
            <a:br>
              <a:rPr lang="he-IL" dirty="0"/>
            </a:br>
            <a:endParaRPr lang="he-IL" dirty="0"/>
          </a:p>
        </p:txBody>
      </p:sp>
    </p:spTree>
    <p:extLst>
      <p:ext uri="{BB962C8B-B14F-4D97-AF65-F5344CB8AC3E}">
        <p14:creationId xmlns:p14="http://schemas.microsoft.com/office/powerpoint/2010/main" val="1349966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09054" fill="hold"/>
                                        <p:tgtEl>
                                          <p:spTgt spid="2"/>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iterate type="wd">
                                    <p:tmAbs val="1500"/>
                                  </p:iterate>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audio>
              <p:cMediaNode vol="80000">
                <p:cTn id="13" fill="hold" display="0">
                  <p:stCondLst>
                    <p:cond delay="indefinite"/>
                  </p:stCondLst>
                  <p:endCondLst>
                    <p:cond evt="onStopAudio" delay="0">
                      <p:tgtEl>
                        <p:sldTgt/>
                      </p:tgtEl>
                    </p:cond>
                  </p:endCondLst>
                </p:cTn>
                <p:tgtEl>
                  <p:spTgt spid="2"/>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BFBEF6C-EE74-406A-FAA1-FFB36919422B}"/>
              </a:ext>
            </a:extLst>
          </p:cNvPr>
          <p:cNvSpPr>
            <a:spLocks noGrp="1"/>
          </p:cNvSpPr>
          <p:nvPr>
            <p:ph type="title"/>
          </p:nvPr>
        </p:nvSpPr>
        <p:spPr/>
        <p:txBody>
          <a:bodyPr/>
          <a:lstStyle/>
          <a:p>
            <a:r>
              <a:rPr lang="he-IL" dirty="0"/>
              <a:t>רמב"ם הלכות תשובה פרק ט הלכה ב</a:t>
            </a:r>
            <a:br>
              <a:rPr lang="he-IL" dirty="0"/>
            </a:br>
            <a:endParaRPr lang="he-IL" dirty="0"/>
          </a:p>
        </p:txBody>
      </p:sp>
      <p:sp>
        <p:nvSpPr>
          <p:cNvPr id="3" name="מציין מיקום תוכן 2">
            <a:extLst>
              <a:ext uri="{FF2B5EF4-FFF2-40B4-BE49-F238E27FC236}">
                <a16:creationId xmlns:a16="http://schemas.microsoft.com/office/drawing/2014/main" id="{1D367D6D-19A3-A626-5F90-7359E22FB76D}"/>
              </a:ext>
            </a:extLst>
          </p:cNvPr>
          <p:cNvSpPr>
            <a:spLocks noGrp="1"/>
          </p:cNvSpPr>
          <p:nvPr>
            <p:ph idx="1"/>
          </p:nvPr>
        </p:nvSpPr>
        <p:spPr/>
        <p:txBody>
          <a:bodyPr/>
          <a:lstStyle/>
          <a:p>
            <a:r>
              <a:rPr lang="he-IL" dirty="0"/>
              <a:t>ומפני זה </a:t>
            </a:r>
            <a:r>
              <a:rPr lang="he-IL" dirty="0" err="1"/>
              <a:t>נתאוו</a:t>
            </a:r>
            <a:r>
              <a:rPr lang="he-IL" dirty="0"/>
              <a:t> כל ישראל נביאיהם וחכמיהם לימות המשיח </a:t>
            </a:r>
          </a:p>
          <a:p>
            <a:r>
              <a:rPr lang="he-IL" dirty="0"/>
              <a:t>כדי שינוחו </a:t>
            </a:r>
            <a:r>
              <a:rPr lang="he-IL" dirty="0" err="1"/>
              <a:t>ממלכיות</a:t>
            </a:r>
            <a:r>
              <a:rPr lang="he-IL" dirty="0"/>
              <a:t> שאינן מניחות להן לעסוק בתורה ובמצות כהוגן, </a:t>
            </a:r>
          </a:p>
          <a:p>
            <a:r>
              <a:rPr lang="he-IL" dirty="0"/>
              <a:t>וימצאו להם מרגוע וירבו בחכמה כדי שיזכו לחיי העולם הבא, </a:t>
            </a:r>
          </a:p>
          <a:p>
            <a:r>
              <a:rPr lang="he-IL" dirty="0"/>
              <a:t>לפי שבאותן הימים תרבה הדעה והחכמה והאמת </a:t>
            </a:r>
          </a:p>
          <a:p>
            <a:r>
              <a:rPr lang="he-IL" dirty="0"/>
              <a:t>שנאמר כי מלאה הארץ דעה את ה'. </a:t>
            </a:r>
          </a:p>
          <a:p>
            <a:r>
              <a:rPr lang="he-IL" dirty="0"/>
              <a:t>ונאמר ולא ילמדו איש את אחיו ואיש את רעהו. </a:t>
            </a:r>
          </a:p>
          <a:p>
            <a:r>
              <a:rPr lang="he-IL" dirty="0"/>
              <a:t>ונאמר והסירותי את לב האבן מבשרכם. </a:t>
            </a:r>
          </a:p>
        </p:txBody>
      </p:sp>
    </p:spTree>
    <p:extLst>
      <p:ext uri="{BB962C8B-B14F-4D97-AF65-F5344CB8AC3E}">
        <p14:creationId xmlns:p14="http://schemas.microsoft.com/office/powerpoint/2010/main" val="42655001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BB08F0F9-4074-708C-162B-25500E3E3685}"/>
              </a:ext>
            </a:extLst>
          </p:cNvPr>
          <p:cNvSpPr>
            <a:spLocks noGrp="1"/>
          </p:cNvSpPr>
          <p:nvPr>
            <p:ph type="title"/>
          </p:nvPr>
        </p:nvSpPr>
        <p:spPr/>
        <p:txBody>
          <a:bodyPr/>
          <a:lstStyle/>
          <a:p>
            <a:r>
              <a:rPr lang="he-IL" dirty="0"/>
              <a:t>עסק כולם – אהבת ה'</a:t>
            </a:r>
          </a:p>
        </p:txBody>
      </p:sp>
      <p:sp>
        <p:nvSpPr>
          <p:cNvPr id="3" name="מציין מיקום תוכן 2">
            <a:extLst>
              <a:ext uri="{FF2B5EF4-FFF2-40B4-BE49-F238E27FC236}">
                <a16:creationId xmlns:a16="http://schemas.microsoft.com/office/drawing/2014/main" id="{07802C1B-B7D2-1FD7-1BCC-6F4B7623D337}"/>
              </a:ext>
            </a:extLst>
          </p:cNvPr>
          <p:cNvSpPr>
            <a:spLocks noGrp="1"/>
          </p:cNvSpPr>
          <p:nvPr>
            <p:ph idx="1"/>
          </p:nvPr>
        </p:nvSpPr>
        <p:spPr/>
        <p:txBody>
          <a:bodyPr>
            <a:normAutofit fontScale="92500"/>
          </a:bodyPr>
          <a:lstStyle/>
          <a:p>
            <a:pPr algn="just"/>
            <a:r>
              <a:rPr lang="he-IL" dirty="0"/>
              <a:t>דברים פרק ל פסוק א - ו</a:t>
            </a:r>
          </a:p>
          <a:p>
            <a:pPr algn="just"/>
            <a:r>
              <a:rPr lang="he-IL" dirty="0"/>
              <a:t>וְהָיָה כִי יָבֹאוּ עָלֶיךָ כָּל הַדְּבָרִים הָאֵלֶּה הַבְּרָכָה וְהַקְּלָלָה אֲשֶׁר נָתַתִּי לְפָנֶיךָ וַהֲשֵׁבֹתָ אֶל לְבָבֶךָ בְּכָל </a:t>
            </a:r>
            <a:r>
              <a:rPr lang="he-IL" dirty="0" err="1"/>
              <a:t>הַגּוֹיִם</a:t>
            </a:r>
            <a:r>
              <a:rPr lang="he-IL" dirty="0"/>
              <a:t> אֲשֶׁר הִדִּיחֲךָ יְהֹוָה </a:t>
            </a:r>
            <a:r>
              <a:rPr lang="he-IL" dirty="0" err="1"/>
              <a:t>אֱלֹהֶיך</a:t>
            </a:r>
            <a:r>
              <a:rPr lang="he-IL" dirty="0"/>
              <a:t>ָ שָׁמָּה: וְשַׁבְתָּ עַד יְהֹוָה </a:t>
            </a:r>
            <a:r>
              <a:rPr lang="he-IL" dirty="0" err="1"/>
              <a:t>אֱלֹהֶיך</a:t>
            </a:r>
            <a:r>
              <a:rPr lang="he-IL" dirty="0"/>
              <a:t>ָ וְשָׁמַעְתָּ </a:t>
            </a:r>
            <a:r>
              <a:rPr lang="he-IL" dirty="0" err="1"/>
              <a:t>בְקֹלו</a:t>
            </a:r>
            <a:r>
              <a:rPr lang="he-IL" dirty="0"/>
              <a:t>ֹ כְּכֹל אֲשֶׁר אָנֹכִי </a:t>
            </a:r>
            <a:r>
              <a:rPr lang="he-IL" dirty="0" err="1"/>
              <a:t>מְצַוְּך</a:t>
            </a:r>
            <a:r>
              <a:rPr lang="he-IL" dirty="0"/>
              <a:t>ָ הַיּוֹם אַתָּה וּבָנֶיךָ בְּכָל לְבָבְךָ וּבְכָל נַפְשֶׁךָ: </a:t>
            </a:r>
          </a:p>
          <a:p>
            <a:pPr algn="just"/>
            <a:r>
              <a:rPr lang="he-IL" dirty="0"/>
              <a:t>וְשָׁב יְהֹוָה </a:t>
            </a:r>
            <a:r>
              <a:rPr lang="he-IL" dirty="0" err="1"/>
              <a:t>אֱלֹהֶיך</a:t>
            </a:r>
            <a:r>
              <a:rPr lang="he-IL" dirty="0"/>
              <a:t>ָ אֶת שְׁבוּתְךָ וְרִחֲמֶךָ וְשָׁב וְקִבֶּצְךָ מִכָּל הָעַמִּים אֲשֶׁר הֱפִיצְךָ יְהֹוָה </a:t>
            </a:r>
            <a:r>
              <a:rPr lang="he-IL" dirty="0" err="1"/>
              <a:t>אֱלֹהֶיך</a:t>
            </a:r>
            <a:r>
              <a:rPr lang="he-IL" dirty="0"/>
              <a:t>ָ שָׁמָּה: אִם יִהְיֶה נִדַּחֲךָ בִּקְצֵה הַשָּׁמָיִם מִשָּׁם יְקַבֶּצְךָ יְהֹוָה </a:t>
            </a:r>
            <a:r>
              <a:rPr lang="he-IL" dirty="0" err="1"/>
              <a:t>אֱלֹהֶיך</a:t>
            </a:r>
            <a:r>
              <a:rPr lang="he-IL" dirty="0"/>
              <a:t>ָ וּמִשָּׁם </a:t>
            </a:r>
            <a:r>
              <a:rPr lang="he-IL" dirty="0" err="1"/>
              <a:t>יִקָּחֶך</a:t>
            </a:r>
            <a:r>
              <a:rPr lang="he-IL" dirty="0"/>
              <a:t>ָ: </a:t>
            </a:r>
          </a:p>
          <a:p>
            <a:pPr algn="just"/>
            <a:r>
              <a:rPr lang="he-IL" dirty="0"/>
              <a:t>וֶהֱבִיאֲךָ יְהֹוָה </a:t>
            </a:r>
            <a:r>
              <a:rPr lang="he-IL" dirty="0" err="1"/>
              <a:t>אֱלֹהֶיך</a:t>
            </a:r>
            <a:r>
              <a:rPr lang="he-IL" dirty="0"/>
              <a:t>ָ אֶל הָאָרֶץ אֲשֶׁר יָרְשׁוּ </a:t>
            </a:r>
            <a:r>
              <a:rPr lang="he-IL" dirty="0" err="1"/>
              <a:t>אֲבֹתֶיך</a:t>
            </a:r>
            <a:r>
              <a:rPr lang="he-IL" dirty="0"/>
              <a:t>ָ וִירִשְׁתָּהּ </a:t>
            </a:r>
            <a:r>
              <a:rPr lang="he-IL" dirty="0" err="1"/>
              <a:t>וְהֵיטִבְך</a:t>
            </a:r>
            <a:r>
              <a:rPr lang="he-IL" dirty="0"/>
              <a:t>ָ וְהִרְבְּךָ </a:t>
            </a:r>
            <a:r>
              <a:rPr lang="he-IL" dirty="0" err="1"/>
              <a:t>מֵאֲבֹתֶיך</a:t>
            </a:r>
            <a:r>
              <a:rPr lang="he-IL" dirty="0"/>
              <a:t>ָ: </a:t>
            </a:r>
          </a:p>
          <a:p>
            <a:pPr algn="just"/>
            <a:r>
              <a:rPr lang="he-IL" dirty="0"/>
              <a:t>וּמָל יְהֹוָה </a:t>
            </a:r>
            <a:r>
              <a:rPr lang="he-IL" dirty="0" err="1"/>
              <a:t>אֱלֹהֶיך</a:t>
            </a:r>
            <a:r>
              <a:rPr lang="he-IL" dirty="0"/>
              <a:t>ָ אֶת לְבָבְךָ וְאֶת לְבַב זַרְעֶךָ לְאַהֲבָה אֶת יְהֹוָה </a:t>
            </a:r>
            <a:r>
              <a:rPr lang="he-IL" dirty="0" err="1"/>
              <a:t>אֱלֹהֶיך</a:t>
            </a:r>
            <a:r>
              <a:rPr lang="he-IL" dirty="0"/>
              <a:t>ָ בְּכָל לְבָבְךָ וּבְכָל נַפְשְׁךָ לְמַעַן חַיֶּיךָ: </a:t>
            </a:r>
          </a:p>
        </p:txBody>
      </p:sp>
    </p:spTree>
    <p:extLst>
      <p:ext uri="{BB962C8B-B14F-4D97-AF65-F5344CB8AC3E}">
        <p14:creationId xmlns:p14="http://schemas.microsoft.com/office/powerpoint/2010/main" val="36339822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8E0F762-CE5C-0C44-3C43-B3FF398A2464}"/>
              </a:ext>
            </a:extLst>
          </p:cNvPr>
          <p:cNvSpPr>
            <a:spLocks noGrp="1"/>
          </p:cNvSpPr>
          <p:nvPr>
            <p:ph type="title"/>
          </p:nvPr>
        </p:nvSpPr>
        <p:spPr/>
        <p:txBody>
          <a:bodyPr/>
          <a:lstStyle/>
          <a:p>
            <a:endParaRPr lang="he-IL"/>
          </a:p>
        </p:txBody>
      </p:sp>
      <p:sp>
        <p:nvSpPr>
          <p:cNvPr id="3" name="מציין מיקום תוכן 2">
            <a:extLst>
              <a:ext uri="{FF2B5EF4-FFF2-40B4-BE49-F238E27FC236}">
                <a16:creationId xmlns:a16="http://schemas.microsoft.com/office/drawing/2014/main" id="{95E9A0C1-BAA0-13F3-0E7C-42FD5ECEEE7D}"/>
              </a:ext>
            </a:extLst>
          </p:cNvPr>
          <p:cNvSpPr>
            <a:spLocks noGrp="1"/>
          </p:cNvSpPr>
          <p:nvPr>
            <p:ph idx="1"/>
          </p:nvPr>
        </p:nvSpPr>
        <p:spPr/>
        <p:txBody>
          <a:bodyPr/>
          <a:lstStyle/>
          <a:p>
            <a:pPr algn="just"/>
            <a:r>
              <a:rPr lang="he-IL" dirty="0"/>
              <a:t>ירמיהו פרק לא פסוק ל - לג</a:t>
            </a:r>
          </a:p>
          <a:p>
            <a:pPr algn="just"/>
            <a:r>
              <a:rPr lang="he-IL" dirty="0"/>
              <a:t>הִנֵּה יָמִים בָּאִים נְאֻם יְהֹוָה וְכָרַתִּי אֶת בֵּית יִשְׂרָאֵל וְאֶת בֵּית יְהוּדָה בְּרִית חֲדָשָׁה: לֹא כַבְּרִית אֲשֶׁר כָּרַתִּי אֶת </a:t>
            </a:r>
            <a:r>
              <a:rPr lang="he-IL" dirty="0" err="1"/>
              <a:t>אֲבוֹתָם</a:t>
            </a:r>
            <a:r>
              <a:rPr lang="he-IL" dirty="0"/>
              <a:t> בְּיוֹם הֶחֱזִיקִי בְיָדָם לְהוֹצִיאָם מֵאֶרֶץ מִצְרָיִם אֲשֶׁר הֵמָּה הֵפֵרוּ אֶת בְּרִיתִי וְאָנֹכִי בָּעַלְתִּי בָם נְאֻם יְהֹוָה: </a:t>
            </a:r>
          </a:p>
          <a:p>
            <a:pPr algn="just"/>
            <a:r>
              <a:rPr lang="he-IL" dirty="0"/>
              <a:t>כִּי זֹאת הַבְּרִית אֲשֶׁר </a:t>
            </a:r>
            <a:r>
              <a:rPr lang="he-IL" dirty="0" err="1"/>
              <a:t>אֶכְרֹת</a:t>
            </a:r>
            <a:r>
              <a:rPr lang="he-IL" dirty="0"/>
              <a:t> אֶת בֵּית יִשְׂרָאֵל אַחֲרֵי הַיָּמִים הָהֵם נְאֻם יְהֹוָה נָתַתִּי אֶת תּוֹרָתִי בְּקִרְבָּם וְעַל לִבָּם </a:t>
            </a:r>
            <a:r>
              <a:rPr lang="he-IL" dirty="0" err="1"/>
              <a:t>אֶכְתֲּבֶנָּה</a:t>
            </a:r>
            <a:r>
              <a:rPr lang="he-IL" dirty="0"/>
              <a:t> וְהָיִיתִי לָהֶם </a:t>
            </a:r>
            <a:r>
              <a:rPr lang="he-IL" dirty="0" err="1"/>
              <a:t>לֵאלֹהִים</a:t>
            </a:r>
            <a:r>
              <a:rPr lang="he-IL" dirty="0"/>
              <a:t> וְהֵמָּה יִהְיוּ לִי לְעָם: </a:t>
            </a:r>
          </a:p>
          <a:p>
            <a:pPr algn="just"/>
            <a:r>
              <a:rPr lang="he-IL" dirty="0"/>
              <a:t>וְלֹא יְלַמְּדוּ עוֹד אִישׁ אֶת רֵעֵהוּ וְאִישׁ אֶת אָחִיו </a:t>
            </a:r>
            <a:r>
              <a:rPr lang="he-IL" dirty="0" err="1"/>
              <a:t>לֵאמֹר</a:t>
            </a:r>
            <a:r>
              <a:rPr lang="he-IL" dirty="0"/>
              <a:t> דְּעוּ אֶת יְהֹוָה כִּי כוּלָּם יֵדְעוּ אוֹתִי </a:t>
            </a:r>
            <a:r>
              <a:rPr lang="he-IL" dirty="0" err="1"/>
              <a:t>לְמִקְטַנָּם</a:t>
            </a:r>
            <a:r>
              <a:rPr lang="he-IL" dirty="0"/>
              <a:t> וְעַד </a:t>
            </a:r>
            <a:r>
              <a:rPr lang="he-IL" dirty="0" err="1"/>
              <a:t>גְּדוֹלָם</a:t>
            </a:r>
            <a:r>
              <a:rPr lang="he-IL" dirty="0"/>
              <a:t> נְאֻם יְהֹוָה כִּי אֶסְלַח </a:t>
            </a:r>
            <a:r>
              <a:rPr lang="he-IL" dirty="0" err="1"/>
              <a:t>לַעֲוֹנָם</a:t>
            </a:r>
            <a:r>
              <a:rPr lang="he-IL" dirty="0"/>
              <a:t> וּלְחַטָּאתָם לֹא אֶזְכָּר עוֹד: </a:t>
            </a:r>
          </a:p>
        </p:txBody>
      </p:sp>
    </p:spTree>
    <p:extLst>
      <p:ext uri="{BB962C8B-B14F-4D97-AF65-F5344CB8AC3E}">
        <p14:creationId xmlns:p14="http://schemas.microsoft.com/office/powerpoint/2010/main" val="17828300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BC8EFBAD-5D91-3CFF-7FFA-40BD056F6066}"/>
              </a:ext>
            </a:extLst>
          </p:cNvPr>
          <p:cNvSpPr>
            <a:spLocks noGrp="1"/>
          </p:cNvSpPr>
          <p:nvPr>
            <p:ph type="title"/>
          </p:nvPr>
        </p:nvSpPr>
        <p:spPr/>
        <p:txBody>
          <a:bodyPr/>
          <a:lstStyle/>
          <a:p>
            <a:endParaRPr lang="he-IL"/>
          </a:p>
        </p:txBody>
      </p:sp>
      <p:sp>
        <p:nvSpPr>
          <p:cNvPr id="3" name="מציין מיקום תוכן 2">
            <a:extLst>
              <a:ext uri="{FF2B5EF4-FFF2-40B4-BE49-F238E27FC236}">
                <a16:creationId xmlns:a16="http://schemas.microsoft.com/office/drawing/2014/main" id="{604DB70D-B5B6-140E-42C9-554F40DB4631}"/>
              </a:ext>
            </a:extLst>
          </p:cNvPr>
          <p:cNvSpPr>
            <a:spLocks noGrp="1"/>
          </p:cNvSpPr>
          <p:nvPr>
            <p:ph idx="1"/>
          </p:nvPr>
        </p:nvSpPr>
        <p:spPr/>
        <p:txBody>
          <a:bodyPr/>
          <a:lstStyle/>
          <a:p>
            <a:r>
              <a:rPr lang="he-IL" dirty="0"/>
              <a:t>יחזקאל פרק לו פסוק </a:t>
            </a:r>
            <a:r>
              <a:rPr lang="he-IL" dirty="0" err="1"/>
              <a:t>כו</a:t>
            </a:r>
            <a:r>
              <a:rPr lang="he-IL" dirty="0"/>
              <a:t> - </a:t>
            </a:r>
            <a:r>
              <a:rPr lang="he-IL" dirty="0" err="1"/>
              <a:t>כח</a:t>
            </a:r>
            <a:endParaRPr lang="he-IL" dirty="0"/>
          </a:p>
          <a:p>
            <a:r>
              <a:rPr lang="he-IL" dirty="0"/>
              <a:t>וְנָתַתִּי לָכֶם לֵב חָדָשׁ וְרוּחַ חֲדָשָׁה אֶתֵּן בְּקִרְבְּכֶם וַהֲסִרֹתִי אֶת לֵב הָאֶבֶן מִבְּשַׂרְכֶם וְנָתַתִּי לָכֶם לֵב בָּשָׂר: וְאֶת רוּחִי אֶתֵּן בְּקִרְבְּכֶם וְעָשִׂיתִי אֵת אֲשֶׁר </a:t>
            </a:r>
            <a:r>
              <a:rPr lang="he-IL" dirty="0" err="1"/>
              <a:t>בְּחֻקַּי</a:t>
            </a:r>
            <a:r>
              <a:rPr lang="he-IL" dirty="0"/>
              <a:t> תֵּלֵכוּ וּמִשְׁפָּטַי תִּשְׁמְרוּ וַעֲשִׂיתֶם: וִישַׁבְתֶּם בָּאָרֶץ אֲשֶׁר נָתַתִּי </a:t>
            </a:r>
            <a:r>
              <a:rPr lang="he-IL" dirty="0" err="1"/>
              <a:t>לַאֲבֹתֵיכֶם</a:t>
            </a:r>
            <a:r>
              <a:rPr lang="he-IL" dirty="0"/>
              <a:t> וִהְיִיתֶם לִי לְעָם וְאָנֹכִי אֶהְיֶה לָכֶם </a:t>
            </a:r>
            <a:r>
              <a:rPr lang="he-IL" dirty="0" err="1"/>
              <a:t>לֵאלֹהִים</a:t>
            </a:r>
            <a:r>
              <a:rPr lang="he-IL" dirty="0"/>
              <a:t>: </a:t>
            </a:r>
          </a:p>
        </p:txBody>
      </p:sp>
    </p:spTree>
    <p:extLst>
      <p:ext uri="{BB962C8B-B14F-4D97-AF65-F5344CB8AC3E}">
        <p14:creationId xmlns:p14="http://schemas.microsoft.com/office/powerpoint/2010/main" val="11150049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F792162-FDB9-E17E-2794-574054F45AB3}"/>
              </a:ext>
            </a:extLst>
          </p:cNvPr>
          <p:cNvSpPr>
            <a:spLocks noGrp="1"/>
          </p:cNvSpPr>
          <p:nvPr>
            <p:ph type="title"/>
          </p:nvPr>
        </p:nvSpPr>
        <p:spPr>
          <a:ln w="9525">
            <a:solidFill>
              <a:srgbClr val="C8C8C8"/>
            </a:solidFill>
          </a:ln>
        </p:spPr>
        <p:txBody>
          <a:bodyPr>
            <a:normAutofit/>
          </a:bodyPr>
          <a:lstStyle/>
          <a:p>
            <a:r>
              <a:rPr lang="he-IL" sz="4000" dirty="0">
                <a:solidFill>
                  <a:srgbClr val="003399"/>
                </a:solidFill>
                <a:latin typeface="David" panose="020E0502060401010101" pitchFamily="34" charset="-79"/>
              </a:rPr>
              <a:t>בינה מלאכותית בעולם החרדי</a:t>
            </a:r>
          </a:p>
        </p:txBody>
      </p:sp>
      <p:sp>
        <p:nvSpPr>
          <p:cNvPr id="3" name="מציין מיקום טקסט 2">
            <a:extLst>
              <a:ext uri="{FF2B5EF4-FFF2-40B4-BE49-F238E27FC236}">
                <a16:creationId xmlns:a16="http://schemas.microsoft.com/office/drawing/2014/main" id="{3AE54D0D-0102-3947-553C-94D599FB9695}"/>
              </a:ext>
            </a:extLst>
          </p:cNvPr>
          <p:cNvSpPr>
            <a:spLocks noGrp="1"/>
          </p:cNvSpPr>
          <p:nvPr>
            <p:ph type="body" idx="1"/>
          </p:nvPr>
        </p:nvSpPr>
        <p:spPr>
          <a:ln w="9525">
            <a:solidFill>
              <a:srgbClr val="C8C8C8"/>
            </a:solidFill>
          </a:ln>
        </p:spPr>
        <p:txBody>
          <a:bodyPr>
            <a:normAutofit fontScale="85000" lnSpcReduction="20000"/>
          </a:bodyPr>
          <a:lstStyle/>
          <a:p>
            <a:pPr algn="just" rtl="1"/>
            <a:r>
              <a:rPr lang="he-IL" dirty="0">
                <a:solidFill>
                  <a:srgbClr val="29527A"/>
                </a:solidFill>
                <a:latin typeface="David" panose="020E0502060401010101" pitchFamily="34" charset="-79"/>
              </a:rPr>
              <a:t>ימות המשיח הוא מושג ביהדות המתאר את העידן העתידי בו ישרור שלום עולמי, תתגלה מלכות שמים, ותיכון מציאות מתוקנת ומושלמת. חז"ל והוגי דעות יהודיים עסקו רבות בתיאור אופי תקופה זו, וקיימות מספר גישות בנוגע לאופייה.</a:t>
            </a:r>
          </a:p>
          <a:p>
            <a:pPr algn="just" rtl="1"/>
            <a:r>
              <a:rPr lang="he-IL" dirty="0">
                <a:solidFill>
                  <a:srgbClr val="29527A"/>
                </a:solidFill>
                <a:latin typeface="David" panose="020E0502060401010101" pitchFamily="34" charset="-79"/>
              </a:rPr>
              <a:t>גישות מרכזיות בנוגע לאופי ימות המשיח:</a:t>
            </a:r>
          </a:p>
          <a:p>
            <a:pPr algn="just" rtl="1">
              <a:buFont typeface="Arial" panose="020B0604020202020204" pitchFamily="34" charset="0"/>
              <a:buChar char="•"/>
            </a:pPr>
            <a:r>
              <a:rPr lang="he-IL" b="1" dirty="0">
                <a:solidFill>
                  <a:srgbClr val="29527A"/>
                </a:solidFill>
                <a:latin typeface="David" panose="020E0502060401010101" pitchFamily="34" charset="-79"/>
              </a:rPr>
              <a:t>שינוי טבע העולם: </a:t>
            </a:r>
            <a:r>
              <a:rPr lang="he-IL" dirty="0">
                <a:solidFill>
                  <a:srgbClr val="29527A"/>
                </a:solidFill>
                <a:latin typeface="David" panose="020E0502060401010101" pitchFamily="34" charset="-79"/>
              </a:rPr>
              <a:t>גישה אחת גורסת כי בימות המשיח יחול שינוי מהותי בטבע העולם, ואף בסדרי בראשית. על פי גישה זו, ייתכנו שינויים פיזיים בעולם, כגון פוריות מוגברת של האדמה, שינויים במאורות, ואף ביטול חוקי טבע מוכרים.</a:t>
            </a:r>
          </a:p>
          <a:p>
            <a:pPr algn="just" rtl="1">
              <a:buFont typeface="Arial" panose="020B0604020202020204" pitchFamily="34" charset="0"/>
              <a:buChar char="•"/>
            </a:pPr>
            <a:r>
              <a:rPr lang="he-IL" b="1" dirty="0">
                <a:solidFill>
                  <a:srgbClr val="29527A"/>
                </a:solidFill>
                <a:latin typeface="David" panose="020E0502060401010101" pitchFamily="34" charset="-79"/>
              </a:rPr>
              <a:t>המשכיות טבע העולם: </a:t>
            </a:r>
            <a:r>
              <a:rPr lang="he-IL" dirty="0">
                <a:solidFill>
                  <a:srgbClr val="29527A"/>
                </a:solidFill>
                <a:latin typeface="David" panose="020E0502060401010101" pitchFamily="34" charset="-79"/>
              </a:rPr>
              <a:t>גישה אחרת, המיוצגת על ידי הרמב"ם, סוברת כי טבע העולם יישאר כפי שהוא, ולא יהיו שינויים פיזיים משמעותיים. על פי גישה זו, ההבדל העיקרי בין העולם הזה לימות המשיח יהיה במישור הרוחני והמוסרי.</a:t>
            </a:r>
          </a:p>
          <a:p>
            <a:pPr algn="just" rtl="1">
              <a:buFont typeface="Arial" panose="020B0604020202020204" pitchFamily="34" charset="0"/>
              <a:buChar char="•"/>
            </a:pPr>
            <a:r>
              <a:rPr lang="he-IL" b="1" dirty="0">
                <a:solidFill>
                  <a:srgbClr val="29527A"/>
                </a:solidFill>
                <a:latin typeface="David" panose="020E0502060401010101" pitchFamily="34" charset="-79"/>
              </a:rPr>
              <a:t>שילוב בין הגישות: </a:t>
            </a:r>
            <a:r>
              <a:rPr lang="he-IL" dirty="0">
                <a:solidFill>
                  <a:srgbClr val="29527A"/>
                </a:solidFill>
                <a:latin typeface="David" panose="020E0502060401010101" pitchFamily="34" charset="-79"/>
              </a:rPr>
              <a:t>ישנם פרשנים המציעים גישת ביניים, לפיה בימות המשיח יתקיימו הן שינויים רוחניים ומוסריים, והן שינויים מסוימים בטבע העולם, אך לא עד כדי שינוי מוחלט של סדרי בראשית.</a:t>
            </a:r>
          </a:p>
        </p:txBody>
      </p:sp>
    </p:spTree>
    <p:extLst>
      <p:ext uri="{BB962C8B-B14F-4D97-AF65-F5344CB8AC3E}">
        <p14:creationId xmlns:p14="http://schemas.microsoft.com/office/powerpoint/2010/main" val="4750974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857E3472-085C-C931-A1F6-286D5324A67C}"/>
              </a:ext>
            </a:extLst>
          </p:cNvPr>
          <p:cNvSpPr>
            <a:spLocks noGrp="1"/>
          </p:cNvSpPr>
          <p:nvPr>
            <p:ph type="title"/>
          </p:nvPr>
        </p:nvSpPr>
        <p:spPr>
          <a:ln w="9525">
            <a:solidFill>
              <a:srgbClr val="C8C8C8"/>
            </a:solidFill>
          </a:ln>
        </p:spPr>
        <p:txBody>
          <a:bodyPr>
            <a:normAutofit/>
          </a:bodyPr>
          <a:lstStyle/>
          <a:p>
            <a:r>
              <a:rPr lang="he-IL" sz="4000" dirty="0">
                <a:solidFill>
                  <a:srgbClr val="993300"/>
                </a:solidFill>
                <a:latin typeface="David" panose="020E0502060401010101" pitchFamily="34" charset="-79"/>
              </a:rPr>
              <a:t>מאפיינים של ימות המשיח על פי המקורות:</a:t>
            </a:r>
          </a:p>
        </p:txBody>
      </p:sp>
      <p:sp>
        <p:nvSpPr>
          <p:cNvPr id="3" name="מציין מיקום טקסט 2">
            <a:extLst>
              <a:ext uri="{FF2B5EF4-FFF2-40B4-BE49-F238E27FC236}">
                <a16:creationId xmlns:a16="http://schemas.microsoft.com/office/drawing/2014/main" id="{7339AAC2-D407-4056-40FB-F6AFFABE34A0}"/>
              </a:ext>
            </a:extLst>
          </p:cNvPr>
          <p:cNvSpPr>
            <a:spLocks noGrp="1"/>
          </p:cNvSpPr>
          <p:nvPr>
            <p:ph type="body" idx="1"/>
          </p:nvPr>
        </p:nvSpPr>
        <p:spPr>
          <a:ln w="9525">
            <a:solidFill>
              <a:srgbClr val="C8C8C8"/>
            </a:solidFill>
          </a:ln>
        </p:spPr>
        <p:txBody>
          <a:bodyPr>
            <a:normAutofit/>
          </a:bodyPr>
          <a:lstStyle/>
          <a:p>
            <a:pPr algn="just">
              <a:buFont typeface="Arial" panose="020B0604020202020204" pitchFamily="34" charset="0"/>
              <a:buChar char="•"/>
            </a:pPr>
            <a:r>
              <a:rPr lang="he-IL" b="1" dirty="0"/>
              <a:t>שלום עולמי:</a:t>
            </a:r>
            <a:r>
              <a:rPr lang="he-IL" dirty="0"/>
              <a:t> ביטול המלחמות והשנאה בין העמים, וכינון שלום ואחווה.</a:t>
            </a:r>
          </a:p>
          <a:p>
            <a:pPr algn="just">
              <a:buFont typeface="Arial" panose="020B0604020202020204" pitchFamily="34" charset="0"/>
              <a:buChar char="•"/>
            </a:pPr>
            <a:r>
              <a:rPr lang="he-IL" b="1" dirty="0"/>
              <a:t>גאולת עם ישראל:</a:t>
            </a:r>
            <a:r>
              <a:rPr lang="he-IL" dirty="0"/>
              <a:t> קיבוץ גלויות של עם ישראל לארץ ישראל, וחידוש עצמאותו המדינית והרוחנית.</a:t>
            </a:r>
          </a:p>
          <a:p>
            <a:pPr algn="just">
              <a:buFont typeface="Arial" panose="020B0604020202020204" pitchFamily="34" charset="0"/>
              <a:buChar char="•"/>
            </a:pPr>
            <a:r>
              <a:rPr lang="he-IL" b="1" dirty="0"/>
              <a:t>תיקון עולם:</a:t>
            </a:r>
            <a:r>
              <a:rPr lang="he-IL" dirty="0"/>
              <a:t> שיפור המצב המוסרי והרוחני של האנושות, והפצת האמונה והמוסר בעולם.</a:t>
            </a:r>
          </a:p>
          <a:p>
            <a:pPr algn="just">
              <a:buFont typeface="Arial" panose="020B0604020202020204" pitchFamily="34" charset="0"/>
              <a:buChar char="•"/>
            </a:pPr>
            <a:r>
              <a:rPr lang="he-IL" b="1" dirty="0"/>
              <a:t>גילוי אלוקות:</a:t>
            </a:r>
            <a:r>
              <a:rPr lang="he-IL" dirty="0"/>
              <a:t> התגלות של מלכות שמים בעולם, והכרה של כל האנושות באל אחד.</a:t>
            </a:r>
          </a:p>
          <a:p>
            <a:pPr algn="just">
              <a:buFont typeface="Arial" panose="020B0604020202020204" pitchFamily="34" charset="0"/>
              <a:buChar char="•"/>
            </a:pPr>
            <a:r>
              <a:rPr lang="he-IL" b="1" dirty="0"/>
              <a:t>בניין בית המקדש:</a:t>
            </a:r>
            <a:r>
              <a:rPr lang="he-IL" dirty="0"/>
              <a:t> בנייה מחדש של בית המקדש בירושלים, וחידוש עבודת הקורבנות.</a:t>
            </a:r>
          </a:p>
        </p:txBody>
      </p:sp>
    </p:spTree>
    <p:extLst>
      <p:ext uri="{BB962C8B-B14F-4D97-AF65-F5344CB8AC3E}">
        <p14:creationId xmlns:p14="http://schemas.microsoft.com/office/powerpoint/2010/main" val="25079883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9C4DB249-75EB-637E-80A7-9FA9EC121C02}"/>
              </a:ext>
            </a:extLst>
          </p:cNvPr>
          <p:cNvSpPr>
            <a:spLocks noGrp="1"/>
          </p:cNvSpPr>
          <p:nvPr>
            <p:ph type="title"/>
          </p:nvPr>
        </p:nvSpPr>
        <p:spPr>
          <a:ln w="9525">
            <a:solidFill>
              <a:srgbClr val="C8C8C8"/>
            </a:solidFill>
          </a:ln>
        </p:spPr>
        <p:txBody>
          <a:bodyPr>
            <a:normAutofit/>
          </a:bodyPr>
          <a:lstStyle/>
          <a:p>
            <a:r>
              <a:rPr lang="he-IL" sz="4000" dirty="0">
                <a:solidFill>
                  <a:srgbClr val="006600"/>
                </a:solidFill>
                <a:latin typeface="David" panose="020E0502060401010101" pitchFamily="34" charset="-79"/>
              </a:rPr>
              <a:t>מה יעשו כל האנשים בימות המשיח?</a:t>
            </a:r>
          </a:p>
        </p:txBody>
      </p:sp>
      <p:sp>
        <p:nvSpPr>
          <p:cNvPr id="3" name="מציין מיקום טקסט 2">
            <a:extLst>
              <a:ext uri="{FF2B5EF4-FFF2-40B4-BE49-F238E27FC236}">
                <a16:creationId xmlns:a16="http://schemas.microsoft.com/office/drawing/2014/main" id="{9400CFB3-A45B-34EF-F858-BF94E9AF2B3D}"/>
              </a:ext>
            </a:extLst>
          </p:cNvPr>
          <p:cNvSpPr>
            <a:spLocks noGrp="1"/>
          </p:cNvSpPr>
          <p:nvPr>
            <p:ph type="body" idx="1"/>
          </p:nvPr>
        </p:nvSpPr>
        <p:spPr>
          <a:ln w="9525">
            <a:solidFill>
              <a:srgbClr val="C8C8C8"/>
            </a:solidFill>
          </a:ln>
        </p:spPr>
        <p:txBody>
          <a:bodyPr>
            <a:normAutofit fontScale="77500" lnSpcReduction="20000"/>
          </a:bodyPr>
          <a:lstStyle/>
          <a:p>
            <a:pPr algn="just"/>
            <a:r>
              <a:rPr lang="he-IL" b="1" dirty="0"/>
              <a:t>גישות מרכזיות ותיאורים של פעילות האנשים בימות המשיח:</a:t>
            </a:r>
            <a:endParaRPr lang="he-IL" dirty="0"/>
          </a:p>
          <a:p>
            <a:pPr algn="just">
              <a:buFont typeface="Arial" panose="020B0604020202020204" pitchFamily="34" charset="0"/>
              <a:buChar char="•"/>
            </a:pPr>
            <a:r>
              <a:rPr lang="he-IL" b="1" dirty="0"/>
              <a:t>עבודת ה':</a:t>
            </a:r>
            <a:r>
              <a:rPr lang="he-IL" dirty="0"/>
              <a:t> על פי גישות מסוימות, העיסוק המרכזי של האנשים בימות המשיח יהיה עבודת ה' ולימוד תורה. העולם יהיה פנוי ממלחמות ומאבקים, והאנשים יוכלו להתמסר לעבודת הרוח ולחיזוק הקשר עם האל.</a:t>
            </a:r>
          </a:p>
          <a:p>
            <a:pPr algn="just">
              <a:buFont typeface="Arial" panose="020B0604020202020204" pitchFamily="34" charset="0"/>
              <a:buChar char="•"/>
            </a:pPr>
            <a:r>
              <a:rPr lang="he-IL" b="1" dirty="0"/>
              <a:t>עיסוק בתיקון עולם:</a:t>
            </a:r>
            <a:r>
              <a:rPr lang="he-IL" dirty="0"/>
              <a:t> גישה אחרת מדגישה את העיסוק בתיקון עולם ובשיפור החברה. האנשים יעסקו במעשים טובים, בצדקה ובחסד, ויפעלו ליצירת חברה צודקת ומוסרית יותר.</a:t>
            </a:r>
          </a:p>
          <a:p>
            <a:pPr algn="just">
              <a:buFont typeface="Arial" panose="020B0604020202020204" pitchFamily="34" charset="0"/>
              <a:buChar char="•"/>
            </a:pPr>
            <a:r>
              <a:rPr lang="he-IL" b="1" dirty="0"/>
              <a:t>המשך עיסוק במלאכה ובעבודה:</a:t>
            </a:r>
            <a:r>
              <a:rPr lang="he-IL" dirty="0"/>
              <a:t> הרמב"ם סבר כי טבע העולם יישאר כפי שהוא, ולכן האנשים ימשיכו לעסוק במלאכתם ובעבודתם כרגיל. עם זאת, העבודה לא תהיה מתוך הכרח וקושי, אלא מתוך בחירה ורצון לתרום לחברה.</a:t>
            </a:r>
          </a:p>
          <a:p>
            <a:pPr algn="just">
              <a:buFont typeface="Arial" panose="020B0604020202020204" pitchFamily="34" charset="0"/>
              <a:buChar char="•"/>
            </a:pPr>
            <a:r>
              <a:rPr lang="he-IL" b="1" dirty="0"/>
              <a:t>הנאה מזיו השכינה:</a:t>
            </a:r>
            <a:r>
              <a:rPr lang="he-IL" dirty="0"/>
              <a:t> על פי גישות שונות, בימות המשיח יזכו האנשים להתגלות אלוקית ולחוויה רוחנית עמוקה. הם ייהנו מזיו השכינה, כלומר מההתגלות של נוכחות האל בעולם.</a:t>
            </a:r>
          </a:p>
          <a:p>
            <a:pPr algn="just">
              <a:buFont typeface="Arial" panose="020B0604020202020204" pitchFamily="34" charset="0"/>
              <a:buChar char="•"/>
            </a:pPr>
            <a:r>
              <a:rPr lang="he-IL" b="1" dirty="0"/>
              <a:t>חיים של שלום ושלווה:</a:t>
            </a:r>
            <a:r>
              <a:rPr lang="he-IL" dirty="0"/>
              <a:t> כל הגישות מסכימות כי בימות המשיח ישרור שלום עולמי, והאנשים יחיו בשלווה ובשקט. לא יהיו מלחמות, מחלות או סבל, והחיים יהיו מלאים בטוב ובאושר.</a:t>
            </a:r>
          </a:p>
        </p:txBody>
      </p:sp>
    </p:spTree>
    <p:extLst>
      <p:ext uri="{BB962C8B-B14F-4D97-AF65-F5344CB8AC3E}">
        <p14:creationId xmlns:p14="http://schemas.microsoft.com/office/powerpoint/2010/main" val="25468076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3187ECFC-D153-8E1C-AE0D-C408DD05DE58}"/>
              </a:ext>
            </a:extLst>
          </p:cNvPr>
          <p:cNvSpPr>
            <a:spLocks noGrp="1"/>
          </p:cNvSpPr>
          <p:nvPr>
            <p:ph type="title"/>
          </p:nvPr>
        </p:nvSpPr>
        <p:spPr>
          <a:ln w="9525">
            <a:solidFill>
              <a:srgbClr val="C8C8C8"/>
            </a:solidFill>
          </a:ln>
        </p:spPr>
        <p:txBody>
          <a:bodyPr>
            <a:normAutofit/>
          </a:bodyPr>
          <a:lstStyle/>
          <a:p>
            <a:r>
              <a:rPr lang="he-IL" sz="4000" dirty="0">
                <a:solidFill>
                  <a:srgbClr val="660066"/>
                </a:solidFill>
                <a:latin typeface="David" panose="020E0502060401010101" pitchFamily="34" charset="-79"/>
              </a:rPr>
              <a:t>ממה התפרנסו אנשים בימות המשיח?</a:t>
            </a:r>
          </a:p>
        </p:txBody>
      </p:sp>
      <p:sp>
        <p:nvSpPr>
          <p:cNvPr id="3" name="מציין מיקום טקסט 2">
            <a:extLst>
              <a:ext uri="{FF2B5EF4-FFF2-40B4-BE49-F238E27FC236}">
                <a16:creationId xmlns:a16="http://schemas.microsoft.com/office/drawing/2014/main" id="{DDAFC773-BCC5-6425-6CDB-F1F4B4B8828D}"/>
              </a:ext>
            </a:extLst>
          </p:cNvPr>
          <p:cNvSpPr>
            <a:spLocks noGrp="1"/>
          </p:cNvSpPr>
          <p:nvPr>
            <p:ph type="body" idx="1"/>
          </p:nvPr>
        </p:nvSpPr>
        <p:spPr>
          <a:ln w="9525">
            <a:solidFill>
              <a:srgbClr val="C8C8C8"/>
            </a:solidFill>
          </a:ln>
        </p:spPr>
        <p:txBody>
          <a:bodyPr>
            <a:normAutofit fontScale="85000" lnSpcReduction="20000"/>
          </a:bodyPr>
          <a:lstStyle/>
          <a:p>
            <a:pPr algn="just"/>
            <a:r>
              <a:rPr lang="he-IL" dirty="0"/>
              <a:t>על פי המסורת היהודית, ימות המשיח יהיו תקופה של שפע וברכה, בהם יהיה קל לאנשים להתפרנס. עם זאת, אין תיאור מפורט של אופי העיסוקים והפרנסה באותה תקופה.</a:t>
            </a:r>
          </a:p>
          <a:p>
            <a:pPr algn="just"/>
            <a:r>
              <a:rPr lang="he-IL" dirty="0"/>
              <a:t>ישנן מספר גישות ופרשנויות שונות בנושא זה:</a:t>
            </a:r>
          </a:p>
          <a:p>
            <a:pPr algn="just">
              <a:buFont typeface="Arial" panose="020B0604020202020204" pitchFamily="34" charset="0"/>
              <a:buChar char="•"/>
            </a:pPr>
            <a:r>
              <a:rPr lang="he-IL" b="1" dirty="0"/>
              <a:t>קלות הפרנסה:</a:t>
            </a:r>
            <a:r>
              <a:rPr lang="he-IL" dirty="0"/>
              <a:t> הרמב"ם מתאר כי בימות המשיח יהיה "נקל מאד על בני אדם למצוא מחייתם עד שבעמל מעט שיעמול אדם יגיע לתועלת גדול". כלומר, לא יהיה צורך בעבודה קשה ומאומצת כדי להתפרנס בכבוד.</a:t>
            </a:r>
          </a:p>
          <a:p>
            <a:pPr algn="just">
              <a:buFont typeface="Arial" panose="020B0604020202020204" pitchFamily="34" charset="0"/>
              <a:buChar char="•"/>
            </a:pPr>
            <a:r>
              <a:rPr lang="he-IL" b="1" dirty="0"/>
              <a:t>עיסוק רוחני:</a:t>
            </a:r>
            <a:r>
              <a:rPr lang="he-IL" dirty="0"/>
              <a:t> יש הסוברים כי בימות המשיח העיסוק העיקרי של האנשים יהיה רוחני, בלימוד תורה ובקיום מצוות, ולא יהיה צורך להתעסק במלאכות גשמיות.</a:t>
            </a:r>
          </a:p>
          <a:p>
            <a:pPr algn="just">
              <a:buFont typeface="Arial" panose="020B0604020202020204" pitchFamily="34" charset="0"/>
              <a:buChar char="•"/>
            </a:pPr>
            <a:r>
              <a:rPr lang="he-IL" b="1" dirty="0"/>
              <a:t>עזרה מגויים:</a:t>
            </a:r>
            <a:r>
              <a:rPr lang="he-IL" dirty="0"/>
              <a:t> ישנה דעה כי גויים יסייעו לעם ישראל בעבודות הגשמיות, כפי שנאמר "ועמדו זרים ורעו צאנכם". כלומר, לא יהיה צורך להתעסק בממד החומר, כי אחרים יעשו זאת עבורנו.</a:t>
            </a:r>
          </a:p>
          <a:p>
            <a:pPr algn="just">
              <a:buFont typeface="Arial" panose="020B0604020202020204" pitchFamily="34" charset="0"/>
              <a:buChar char="•"/>
            </a:pPr>
            <a:r>
              <a:rPr lang="he-IL" b="1" dirty="0"/>
              <a:t>שינוי סדרי בראשית:</a:t>
            </a:r>
            <a:r>
              <a:rPr lang="he-IL" dirty="0"/>
              <a:t> יש הסוברים כי בימות המשיח יהיה שינוי בסדרי בראשית, והטבע יניב פירותיו בשפע ובקלות, כך שלא יהיה צורך בעבודה מאומצת.</a:t>
            </a:r>
          </a:p>
        </p:txBody>
      </p:sp>
    </p:spTree>
    <p:extLst>
      <p:ext uri="{BB962C8B-B14F-4D97-AF65-F5344CB8AC3E}">
        <p14:creationId xmlns:p14="http://schemas.microsoft.com/office/powerpoint/2010/main" val="11117343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B6C23BB-168A-729B-A0CE-1B765DA855D5}"/>
              </a:ext>
            </a:extLst>
          </p:cNvPr>
          <p:cNvSpPr>
            <a:spLocks noGrp="1"/>
          </p:cNvSpPr>
          <p:nvPr>
            <p:ph type="title"/>
          </p:nvPr>
        </p:nvSpPr>
        <p:spPr>
          <a:ln w="9525">
            <a:solidFill>
              <a:srgbClr val="C8C8C8"/>
            </a:solidFill>
          </a:ln>
        </p:spPr>
        <p:txBody>
          <a:bodyPr>
            <a:normAutofit/>
          </a:bodyPr>
          <a:lstStyle/>
          <a:p>
            <a:r>
              <a:rPr lang="he-IL" sz="4000">
                <a:solidFill>
                  <a:srgbClr val="996600"/>
                </a:solidFill>
                <a:latin typeface="David" panose="020E0502060401010101" pitchFamily="34" charset="-79"/>
              </a:rPr>
              <a:t>עניים ועשירים</a:t>
            </a:r>
            <a:endParaRPr lang="he-IL" sz="4000" dirty="0">
              <a:solidFill>
                <a:srgbClr val="996600"/>
              </a:solidFill>
              <a:latin typeface="David" panose="020E0502060401010101" pitchFamily="34" charset="-79"/>
            </a:endParaRPr>
          </a:p>
        </p:txBody>
      </p:sp>
      <p:sp>
        <p:nvSpPr>
          <p:cNvPr id="3" name="מציין מיקום טקסט 2">
            <a:extLst>
              <a:ext uri="{FF2B5EF4-FFF2-40B4-BE49-F238E27FC236}">
                <a16:creationId xmlns:a16="http://schemas.microsoft.com/office/drawing/2014/main" id="{86095EE8-875C-5578-EC8B-6874F45599ED}"/>
              </a:ext>
            </a:extLst>
          </p:cNvPr>
          <p:cNvSpPr>
            <a:spLocks noGrp="1"/>
          </p:cNvSpPr>
          <p:nvPr>
            <p:ph type="body" idx="1"/>
          </p:nvPr>
        </p:nvSpPr>
        <p:spPr>
          <a:ln w="9525">
            <a:solidFill>
              <a:srgbClr val="C8C8C8"/>
            </a:solidFill>
          </a:ln>
        </p:spPr>
        <p:txBody>
          <a:bodyPr>
            <a:normAutofit/>
          </a:bodyPr>
          <a:lstStyle/>
          <a:p>
            <a:r>
              <a:rPr lang="he-IL" dirty="0"/>
              <a:t>בנוסף, ישנן דעות שונות לגבי אופי החיים בימות המשיח:</a:t>
            </a:r>
          </a:p>
          <a:p>
            <a:pPr>
              <a:buFont typeface="Arial" panose="020B0604020202020204" pitchFamily="34" charset="0"/>
              <a:buChar char="•"/>
            </a:pPr>
            <a:r>
              <a:rPr lang="he-IL" b="1" dirty="0"/>
              <a:t>המשכיות החיים:</a:t>
            </a:r>
            <a:r>
              <a:rPr lang="he-IL" dirty="0"/>
              <a:t> יש הסוברים כי החיים ימשיכו כרגיל, עם עשירים ועניים, גיבורים וחלשים, אך עם שלום ושלווה בעולם.</a:t>
            </a:r>
          </a:p>
          <a:p>
            <a:pPr>
              <a:buFont typeface="Arial" panose="020B0604020202020204" pitchFamily="34" charset="0"/>
              <a:buChar char="•"/>
            </a:pPr>
            <a:r>
              <a:rPr lang="he-IL" b="1" dirty="0"/>
              <a:t>שינוי מהותי:</a:t>
            </a:r>
            <a:r>
              <a:rPr lang="he-IL" dirty="0"/>
              <a:t> יש הסוברים כי יהיה שינוי מהותי בטבע העולם ובסדרי בראשית, והחיים יהיו שונים לחלוטין מהמוכר לנו היום.</a:t>
            </a:r>
          </a:p>
        </p:txBody>
      </p:sp>
    </p:spTree>
    <p:extLst>
      <p:ext uri="{BB962C8B-B14F-4D97-AF65-F5344CB8AC3E}">
        <p14:creationId xmlns:p14="http://schemas.microsoft.com/office/powerpoint/2010/main" val="29087423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D4E1251E-3E8E-A30D-4598-118AC8355709}"/>
              </a:ext>
            </a:extLst>
          </p:cNvPr>
          <p:cNvSpPr>
            <a:spLocks noGrp="1"/>
          </p:cNvSpPr>
          <p:nvPr>
            <p:ph type="title"/>
          </p:nvPr>
        </p:nvSpPr>
        <p:spPr>
          <a:ln w="9525">
            <a:solidFill>
              <a:srgbClr val="C8C8C8"/>
            </a:solidFill>
          </a:ln>
        </p:spPr>
        <p:txBody>
          <a:bodyPr>
            <a:normAutofit/>
          </a:bodyPr>
          <a:lstStyle/>
          <a:p>
            <a:r>
              <a:rPr lang="he-IL" sz="4000">
                <a:solidFill>
                  <a:srgbClr val="006652"/>
                </a:solidFill>
                <a:latin typeface="David" panose="020E0502060401010101" pitchFamily="34" charset="-79"/>
              </a:rPr>
              <a:t>שימושים מעשיים מותרים</a:t>
            </a:r>
          </a:p>
        </p:txBody>
      </p:sp>
      <p:sp>
        <p:nvSpPr>
          <p:cNvPr id="3" name="מציין מיקום טקסט 2">
            <a:extLst>
              <a:ext uri="{FF2B5EF4-FFF2-40B4-BE49-F238E27FC236}">
                <a16:creationId xmlns:a16="http://schemas.microsoft.com/office/drawing/2014/main" id="{7F652874-E8DF-516C-E0D8-9FA2EE441E2C}"/>
              </a:ext>
            </a:extLst>
          </p:cNvPr>
          <p:cNvSpPr>
            <a:spLocks noGrp="1"/>
          </p:cNvSpPr>
          <p:nvPr>
            <p:ph type="body" idx="1"/>
          </p:nvPr>
        </p:nvSpPr>
        <p:spPr>
          <a:ln w="9525">
            <a:solidFill>
              <a:srgbClr val="C8C8C8"/>
            </a:solidFill>
          </a:ln>
        </p:spPr>
        <p:txBody>
          <a:bodyPr>
            <a:normAutofit/>
          </a:bodyPr>
          <a:lstStyle/>
          <a:p>
            <a:r>
              <a:rPr lang="he-IL">
                <a:solidFill>
                  <a:srgbClr val="336652"/>
                </a:solidFill>
                <a:latin typeface="David" panose="020E0502060401010101" pitchFamily="34" charset="-79"/>
              </a:rPr>
              <a:t>• סיוע בלימוד תורה</a:t>
            </a:r>
          </a:p>
          <a:p>
            <a:r>
              <a:rPr lang="he-IL">
                <a:solidFill>
                  <a:srgbClr val="336652"/>
                </a:solidFill>
                <a:latin typeface="David" panose="020E0502060401010101" pitchFamily="34" charset="-79"/>
              </a:rPr>
              <a:t>• עזר בניהול הבית</a:t>
            </a:r>
          </a:p>
          <a:p>
            <a:r>
              <a:rPr lang="he-IL">
                <a:solidFill>
                  <a:srgbClr val="336652"/>
                </a:solidFill>
                <a:latin typeface="David" panose="020E0502060401010101" pitchFamily="34" charset="-79"/>
              </a:rPr>
              <a:t>• תמיכה בשירותי קהילה</a:t>
            </a:r>
          </a:p>
          <a:p>
            <a:r>
              <a:rPr lang="he-IL">
                <a:solidFill>
                  <a:srgbClr val="336652"/>
                </a:solidFill>
                <a:latin typeface="David" panose="020E0502060401010101" pitchFamily="34" charset="-79"/>
              </a:rPr>
              <a:t>• מערכות בטיחות וביטחון</a:t>
            </a:r>
          </a:p>
        </p:txBody>
      </p:sp>
    </p:spTree>
    <p:extLst>
      <p:ext uri="{BB962C8B-B14F-4D97-AF65-F5344CB8AC3E}">
        <p14:creationId xmlns:p14="http://schemas.microsoft.com/office/powerpoint/2010/main" val="35074842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80F339C-2A28-D556-160E-EAE483FC1156}"/>
              </a:ext>
            </a:extLst>
          </p:cNvPr>
          <p:cNvSpPr>
            <a:spLocks noGrp="1"/>
          </p:cNvSpPr>
          <p:nvPr>
            <p:ph type="title"/>
          </p:nvPr>
        </p:nvSpPr>
        <p:spPr>
          <a:ln w="9525">
            <a:solidFill>
              <a:srgbClr val="C8C8C8"/>
            </a:solidFill>
          </a:ln>
        </p:spPr>
        <p:txBody>
          <a:bodyPr>
            <a:normAutofit/>
          </a:bodyPr>
          <a:lstStyle/>
          <a:p>
            <a:r>
              <a:rPr lang="he-IL" sz="4000">
                <a:solidFill>
                  <a:srgbClr val="663399"/>
                </a:solidFill>
                <a:latin typeface="David" panose="020E0502060401010101" pitchFamily="34" charset="-79"/>
              </a:rPr>
              <a:t>המלצות ליישום</a:t>
            </a:r>
          </a:p>
        </p:txBody>
      </p:sp>
      <p:sp>
        <p:nvSpPr>
          <p:cNvPr id="3" name="מציין מיקום טקסט 2">
            <a:extLst>
              <a:ext uri="{FF2B5EF4-FFF2-40B4-BE49-F238E27FC236}">
                <a16:creationId xmlns:a16="http://schemas.microsoft.com/office/drawing/2014/main" id="{1A245197-78AB-41E9-9B04-D50A49E8E587}"/>
              </a:ext>
            </a:extLst>
          </p:cNvPr>
          <p:cNvSpPr>
            <a:spLocks noGrp="1"/>
          </p:cNvSpPr>
          <p:nvPr>
            <p:ph type="body" idx="1"/>
          </p:nvPr>
        </p:nvSpPr>
        <p:spPr>
          <a:ln w="9525">
            <a:solidFill>
              <a:srgbClr val="C8C8C8"/>
            </a:solidFill>
          </a:ln>
        </p:spPr>
        <p:txBody>
          <a:bodyPr>
            <a:normAutofit/>
          </a:bodyPr>
          <a:lstStyle/>
          <a:p>
            <a:r>
              <a:rPr lang="he-IL">
                <a:solidFill>
                  <a:srgbClr val="52337A"/>
                </a:solidFill>
                <a:latin typeface="David" panose="020E0502060401010101" pitchFamily="34" charset="-79"/>
              </a:rPr>
              <a:t>• התייעצות עם רב מוסמך</a:t>
            </a:r>
          </a:p>
          <a:p>
            <a:r>
              <a:rPr lang="he-IL">
                <a:solidFill>
                  <a:srgbClr val="52337A"/>
                </a:solidFill>
                <a:latin typeface="David" panose="020E0502060401010101" pitchFamily="34" charset="-79"/>
              </a:rPr>
              <a:t>• בדיקת כל מערכת לגופה</a:t>
            </a:r>
          </a:p>
          <a:p>
            <a:r>
              <a:rPr lang="he-IL">
                <a:solidFill>
                  <a:srgbClr val="52337A"/>
                </a:solidFill>
                <a:latin typeface="David" panose="020E0502060401010101" pitchFamily="34" charset="-79"/>
              </a:rPr>
              <a:t>• שימוש במערכות מאושרות</a:t>
            </a:r>
          </a:p>
          <a:p>
            <a:r>
              <a:rPr lang="he-IL">
                <a:solidFill>
                  <a:srgbClr val="52337A"/>
                </a:solidFill>
                <a:latin typeface="David" panose="020E0502060401010101" pitchFamily="34" charset="-79"/>
              </a:rPr>
              <a:t>• הקפדה על גדרי ההלכה</a:t>
            </a:r>
          </a:p>
        </p:txBody>
      </p:sp>
    </p:spTree>
    <p:extLst>
      <p:ext uri="{BB962C8B-B14F-4D97-AF65-F5344CB8AC3E}">
        <p14:creationId xmlns:p14="http://schemas.microsoft.com/office/powerpoint/2010/main" val="39781367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900BAFB-92B0-0564-2231-72C0E60603E8}"/>
              </a:ext>
            </a:extLst>
          </p:cNvPr>
          <p:cNvSpPr>
            <a:spLocks noGrp="1"/>
          </p:cNvSpPr>
          <p:nvPr>
            <p:ph type="title"/>
          </p:nvPr>
        </p:nvSpPr>
        <p:spPr>
          <a:ln w="9525">
            <a:solidFill>
              <a:srgbClr val="C8C8C8"/>
            </a:solidFill>
          </a:ln>
        </p:spPr>
        <p:txBody>
          <a:bodyPr>
            <a:normAutofit/>
          </a:bodyPr>
          <a:lstStyle/>
          <a:p>
            <a:r>
              <a:rPr lang="he-IL" sz="4000">
                <a:solidFill>
                  <a:srgbClr val="005299"/>
                </a:solidFill>
                <a:latin typeface="David" panose="020E0502060401010101" pitchFamily="34" charset="-79"/>
              </a:rPr>
              <a:t>סיכום</a:t>
            </a:r>
          </a:p>
        </p:txBody>
      </p:sp>
      <p:sp>
        <p:nvSpPr>
          <p:cNvPr id="3" name="מציין מיקום טקסט 2">
            <a:extLst>
              <a:ext uri="{FF2B5EF4-FFF2-40B4-BE49-F238E27FC236}">
                <a16:creationId xmlns:a16="http://schemas.microsoft.com/office/drawing/2014/main" id="{E9812238-C75D-310A-43D2-873CD7061766}"/>
              </a:ext>
            </a:extLst>
          </p:cNvPr>
          <p:cNvSpPr>
            <a:spLocks noGrp="1"/>
          </p:cNvSpPr>
          <p:nvPr>
            <p:ph type="body" idx="1"/>
          </p:nvPr>
        </p:nvSpPr>
        <p:spPr>
          <a:ln w="9525">
            <a:solidFill>
              <a:srgbClr val="C8C8C8"/>
            </a:solidFill>
          </a:ln>
        </p:spPr>
        <p:txBody>
          <a:bodyPr>
            <a:normAutofit/>
          </a:bodyPr>
          <a:lstStyle/>
          <a:p>
            <a:r>
              <a:rPr lang="he-IL" dirty="0">
                <a:solidFill>
                  <a:srgbClr val="29527A"/>
                </a:solidFill>
                <a:latin typeface="David" panose="020E0502060401010101" pitchFamily="34" charset="-79"/>
              </a:rPr>
              <a:t>"חכמת אדם תאיר פניו" (קהלת ח׳, א׳)</a:t>
            </a:r>
          </a:p>
          <a:p>
            <a:r>
              <a:rPr lang="he-IL" dirty="0">
                <a:solidFill>
                  <a:srgbClr val="29527A"/>
                </a:solidFill>
                <a:latin typeface="David" panose="020E0502060401010101" pitchFamily="34" charset="-79"/>
              </a:rPr>
              <a:t>• שילוב נכון בין קדמה למסורת</a:t>
            </a:r>
          </a:p>
          <a:p>
            <a:r>
              <a:rPr lang="he-IL" dirty="0">
                <a:solidFill>
                  <a:srgbClr val="29527A"/>
                </a:solidFill>
                <a:latin typeface="David" panose="020E0502060401010101" pitchFamily="34" charset="-79"/>
              </a:rPr>
              <a:t>• שמירה על רוח ההלכה</a:t>
            </a:r>
          </a:p>
          <a:p>
            <a:r>
              <a:rPr lang="he-IL" dirty="0">
                <a:solidFill>
                  <a:srgbClr val="29527A"/>
                </a:solidFill>
                <a:latin typeface="David" panose="020E0502060401010101" pitchFamily="34" charset="-79"/>
              </a:rPr>
              <a:t>• קידום הקהילה בדרך התורה</a:t>
            </a:r>
          </a:p>
        </p:txBody>
      </p:sp>
    </p:spTree>
    <p:extLst>
      <p:ext uri="{BB962C8B-B14F-4D97-AF65-F5344CB8AC3E}">
        <p14:creationId xmlns:p14="http://schemas.microsoft.com/office/powerpoint/2010/main" val="41470679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15D846C-5415-16B2-F5B6-75BC3B275B81}"/>
              </a:ext>
            </a:extLst>
          </p:cNvPr>
          <p:cNvSpPr>
            <a:spLocks noGrp="1"/>
          </p:cNvSpPr>
          <p:nvPr>
            <p:ph type="title"/>
          </p:nvPr>
        </p:nvSpPr>
        <p:spPr/>
        <p:txBody>
          <a:bodyPr/>
          <a:lstStyle/>
          <a:p>
            <a:endParaRPr lang="he-IL"/>
          </a:p>
        </p:txBody>
      </p:sp>
      <p:sp>
        <p:nvSpPr>
          <p:cNvPr id="3" name="מציין מיקום תוכן 2">
            <a:extLst>
              <a:ext uri="{FF2B5EF4-FFF2-40B4-BE49-F238E27FC236}">
                <a16:creationId xmlns:a16="http://schemas.microsoft.com/office/drawing/2014/main" id="{A83AA436-8954-CF4E-58FA-6D0C406270D7}"/>
              </a:ext>
            </a:extLst>
          </p:cNvPr>
          <p:cNvSpPr>
            <a:spLocks noGrp="1"/>
          </p:cNvSpPr>
          <p:nvPr>
            <p:ph idx="1"/>
          </p:nvPr>
        </p:nvSpPr>
        <p:spPr/>
        <p:txBody>
          <a:bodyPr/>
          <a:lstStyle/>
          <a:p>
            <a:endParaRPr lang="he-IL"/>
          </a:p>
        </p:txBody>
      </p:sp>
    </p:spTree>
    <p:extLst>
      <p:ext uri="{BB962C8B-B14F-4D97-AF65-F5344CB8AC3E}">
        <p14:creationId xmlns:p14="http://schemas.microsoft.com/office/powerpoint/2010/main" val="39359417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8B3E775-E880-2E78-8C24-B8B1064B669E}"/>
              </a:ext>
            </a:extLst>
          </p:cNvPr>
          <p:cNvSpPr>
            <a:spLocks noGrp="1"/>
          </p:cNvSpPr>
          <p:nvPr>
            <p:ph type="title"/>
          </p:nvPr>
        </p:nvSpPr>
        <p:spPr/>
        <p:txBody>
          <a:bodyPr/>
          <a:lstStyle/>
          <a:p>
            <a:endParaRPr lang="he-IL"/>
          </a:p>
        </p:txBody>
      </p:sp>
      <p:sp>
        <p:nvSpPr>
          <p:cNvPr id="3" name="מציין מיקום תוכן 2">
            <a:extLst>
              <a:ext uri="{FF2B5EF4-FFF2-40B4-BE49-F238E27FC236}">
                <a16:creationId xmlns:a16="http://schemas.microsoft.com/office/drawing/2014/main" id="{A420CFA5-2794-1038-6876-F548F66443F1}"/>
              </a:ext>
            </a:extLst>
          </p:cNvPr>
          <p:cNvSpPr>
            <a:spLocks noGrp="1"/>
          </p:cNvSpPr>
          <p:nvPr>
            <p:ph idx="1"/>
          </p:nvPr>
        </p:nvSpPr>
        <p:spPr/>
        <p:txBody>
          <a:bodyPr/>
          <a:lstStyle/>
          <a:p>
            <a:endParaRPr lang="he-IL"/>
          </a:p>
        </p:txBody>
      </p:sp>
    </p:spTree>
    <p:extLst>
      <p:ext uri="{BB962C8B-B14F-4D97-AF65-F5344CB8AC3E}">
        <p14:creationId xmlns:p14="http://schemas.microsoft.com/office/powerpoint/2010/main" val="36047120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B729015E-2B34-8115-CA90-A785AEE31ED3}"/>
              </a:ext>
            </a:extLst>
          </p:cNvPr>
          <p:cNvSpPr>
            <a:spLocks noGrp="1"/>
          </p:cNvSpPr>
          <p:nvPr>
            <p:ph type="title"/>
          </p:nvPr>
        </p:nvSpPr>
        <p:spPr/>
        <p:txBody>
          <a:bodyPr/>
          <a:lstStyle/>
          <a:p>
            <a:endParaRPr lang="he-IL"/>
          </a:p>
        </p:txBody>
      </p:sp>
      <p:sp>
        <p:nvSpPr>
          <p:cNvPr id="3" name="מציין מיקום תוכן 2">
            <a:extLst>
              <a:ext uri="{FF2B5EF4-FFF2-40B4-BE49-F238E27FC236}">
                <a16:creationId xmlns:a16="http://schemas.microsoft.com/office/drawing/2014/main" id="{91B23834-F260-91E4-D2D2-26DD6A3BAEFC}"/>
              </a:ext>
            </a:extLst>
          </p:cNvPr>
          <p:cNvSpPr>
            <a:spLocks noGrp="1"/>
          </p:cNvSpPr>
          <p:nvPr>
            <p:ph idx="1"/>
          </p:nvPr>
        </p:nvSpPr>
        <p:spPr/>
        <p:txBody>
          <a:bodyPr/>
          <a:lstStyle/>
          <a:p>
            <a:endParaRPr lang="he-IL"/>
          </a:p>
        </p:txBody>
      </p:sp>
    </p:spTree>
    <p:extLst>
      <p:ext uri="{BB962C8B-B14F-4D97-AF65-F5344CB8AC3E}">
        <p14:creationId xmlns:p14="http://schemas.microsoft.com/office/powerpoint/2010/main" val="35475302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8FA3E16-4E62-53E4-DAAC-A78E0A2196D5}"/>
              </a:ext>
            </a:extLst>
          </p:cNvPr>
          <p:cNvSpPr>
            <a:spLocks noGrp="1"/>
          </p:cNvSpPr>
          <p:nvPr>
            <p:ph type="title"/>
          </p:nvPr>
        </p:nvSpPr>
        <p:spPr/>
        <p:txBody>
          <a:bodyPr/>
          <a:lstStyle/>
          <a:p>
            <a:endParaRPr lang="he-IL"/>
          </a:p>
        </p:txBody>
      </p:sp>
      <p:sp>
        <p:nvSpPr>
          <p:cNvPr id="3" name="מציין מיקום תוכן 2">
            <a:extLst>
              <a:ext uri="{FF2B5EF4-FFF2-40B4-BE49-F238E27FC236}">
                <a16:creationId xmlns:a16="http://schemas.microsoft.com/office/drawing/2014/main" id="{55D4CE62-AF99-A505-DBFC-2C43FC8D17F9}"/>
              </a:ext>
            </a:extLst>
          </p:cNvPr>
          <p:cNvSpPr>
            <a:spLocks noGrp="1"/>
          </p:cNvSpPr>
          <p:nvPr>
            <p:ph idx="1"/>
          </p:nvPr>
        </p:nvSpPr>
        <p:spPr/>
        <p:txBody>
          <a:bodyPr/>
          <a:lstStyle/>
          <a:p>
            <a:endParaRPr lang="he-IL"/>
          </a:p>
        </p:txBody>
      </p:sp>
    </p:spTree>
    <p:extLst>
      <p:ext uri="{BB962C8B-B14F-4D97-AF65-F5344CB8AC3E}">
        <p14:creationId xmlns:p14="http://schemas.microsoft.com/office/powerpoint/2010/main" val="8360076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47E460B-AB71-889B-CAF0-CE3AAE052235}"/>
              </a:ext>
            </a:extLst>
          </p:cNvPr>
          <p:cNvSpPr>
            <a:spLocks noGrp="1"/>
          </p:cNvSpPr>
          <p:nvPr>
            <p:ph type="title"/>
          </p:nvPr>
        </p:nvSpPr>
        <p:spPr/>
        <p:txBody>
          <a:bodyPr/>
          <a:lstStyle/>
          <a:p>
            <a:endParaRPr lang="he-IL"/>
          </a:p>
        </p:txBody>
      </p:sp>
      <p:sp>
        <p:nvSpPr>
          <p:cNvPr id="3" name="מציין מיקום תוכן 2">
            <a:extLst>
              <a:ext uri="{FF2B5EF4-FFF2-40B4-BE49-F238E27FC236}">
                <a16:creationId xmlns:a16="http://schemas.microsoft.com/office/drawing/2014/main" id="{93127C92-0C24-2C8D-8EA4-B40E1CE8D1C2}"/>
              </a:ext>
            </a:extLst>
          </p:cNvPr>
          <p:cNvSpPr>
            <a:spLocks noGrp="1"/>
          </p:cNvSpPr>
          <p:nvPr>
            <p:ph idx="1"/>
          </p:nvPr>
        </p:nvSpPr>
        <p:spPr/>
        <p:txBody>
          <a:bodyPr/>
          <a:lstStyle/>
          <a:p>
            <a:endParaRPr lang="he-IL"/>
          </a:p>
        </p:txBody>
      </p:sp>
    </p:spTree>
    <p:extLst>
      <p:ext uri="{BB962C8B-B14F-4D97-AF65-F5344CB8AC3E}">
        <p14:creationId xmlns:p14="http://schemas.microsoft.com/office/powerpoint/2010/main" val="27121460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71292C4-FCA2-F166-0A48-F8189A8F70AA}"/>
              </a:ext>
            </a:extLst>
          </p:cNvPr>
          <p:cNvSpPr>
            <a:spLocks noGrp="1"/>
          </p:cNvSpPr>
          <p:nvPr>
            <p:ph type="title"/>
          </p:nvPr>
        </p:nvSpPr>
        <p:spPr/>
        <p:txBody>
          <a:bodyPr/>
          <a:lstStyle/>
          <a:p>
            <a:endParaRPr lang="he-IL"/>
          </a:p>
        </p:txBody>
      </p:sp>
      <p:sp>
        <p:nvSpPr>
          <p:cNvPr id="3" name="מציין מיקום תוכן 2">
            <a:extLst>
              <a:ext uri="{FF2B5EF4-FFF2-40B4-BE49-F238E27FC236}">
                <a16:creationId xmlns:a16="http://schemas.microsoft.com/office/drawing/2014/main" id="{0A9F4A90-626F-7B33-5DF5-41F5E02D6244}"/>
              </a:ext>
            </a:extLst>
          </p:cNvPr>
          <p:cNvSpPr>
            <a:spLocks noGrp="1"/>
          </p:cNvSpPr>
          <p:nvPr>
            <p:ph idx="1"/>
          </p:nvPr>
        </p:nvSpPr>
        <p:spPr/>
        <p:txBody>
          <a:bodyPr/>
          <a:lstStyle/>
          <a:p>
            <a:endParaRPr lang="he-IL"/>
          </a:p>
        </p:txBody>
      </p:sp>
    </p:spTree>
    <p:extLst>
      <p:ext uri="{BB962C8B-B14F-4D97-AF65-F5344CB8AC3E}">
        <p14:creationId xmlns:p14="http://schemas.microsoft.com/office/powerpoint/2010/main" val="37205594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C4D9E9C-65AF-7C4F-8345-EBF81165F371}"/>
              </a:ext>
            </a:extLst>
          </p:cNvPr>
          <p:cNvSpPr>
            <a:spLocks noGrp="1"/>
          </p:cNvSpPr>
          <p:nvPr>
            <p:ph type="title"/>
          </p:nvPr>
        </p:nvSpPr>
        <p:spPr/>
        <p:txBody>
          <a:bodyPr/>
          <a:lstStyle/>
          <a:p>
            <a:endParaRPr lang="he-IL"/>
          </a:p>
        </p:txBody>
      </p:sp>
      <p:sp>
        <p:nvSpPr>
          <p:cNvPr id="3" name="מציין מיקום תוכן 2">
            <a:extLst>
              <a:ext uri="{FF2B5EF4-FFF2-40B4-BE49-F238E27FC236}">
                <a16:creationId xmlns:a16="http://schemas.microsoft.com/office/drawing/2014/main" id="{B716B242-1BE6-F8CB-D79E-A58CBAAD400C}"/>
              </a:ext>
            </a:extLst>
          </p:cNvPr>
          <p:cNvSpPr>
            <a:spLocks noGrp="1"/>
          </p:cNvSpPr>
          <p:nvPr>
            <p:ph idx="1"/>
          </p:nvPr>
        </p:nvSpPr>
        <p:spPr/>
        <p:txBody>
          <a:bodyPr/>
          <a:lstStyle/>
          <a:p>
            <a:endParaRPr lang="he-IL"/>
          </a:p>
        </p:txBody>
      </p:sp>
    </p:spTree>
    <p:extLst>
      <p:ext uri="{BB962C8B-B14F-4D97-AF65-F5344CB8AC3E}">
        <p14:creationId xmlns:p14="http://schemas.microsoft.com/office/powerpoint/2010/main" val="3551352468"/>
      </p:ext>
    </p:extLst>
  </p:cSld>
  <p:clrMapOvr>
    <a:masterClrMapping/>
  </p:clrMapOvr>
</p:sld>
</file>

<file path=ppt/theme/theme1.xml><?xml version="1.0" encoding="utf-8"?>
<a:theme xmlns:a="http://schemas.openxmlformats.org/drawingml/2006/main" name="ערכת נושא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ערכת נושא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1287</Words>
  <Application>Microsoft Office PowerPoint</Application>
  <PresentationFormat>מסך רחב</PresentationFormat>
  <Paragraphs>82</Paragraphs>
  <Slides>21</Slides>
  <Notes>1</Notes>
  <HiddenSlides>0</HiddenSlides>
  <MMClips>1</MMClips>
  <ScaleCrop>false</ScaleCrop>
  <HeadingPairs>
    <vt:vector size="6" baseType="variant">
      <vt:variant>
        <vt:lpstr>גופנים בשימוש</vt:lpstr>
      </vt:variant>
      <vt:variant>
        <vt:i4>5</vt:i4>
      </vt:variant>
      <vt:variant>
        <vt:lpstr>ערכת נושא</vt:lpstr>
      </vt:variant>
      <vt:variant>
        <vt:i4>1</vt:i4>
      </vt:variant>
      <vt:variant>
        <vt:lpstr>כותרות שקופיות</vt:lpstr>
      </vt:variant>
      <vt:variant>
        <vt:i4>21</vt:i4>
      </vt:variant>
    </vt:vector>
  </HeadingPairs>
  <TitlesOfParts>
    <vt:vector size="27" baseType="lpstr">
      <vt:lpstr>Aptos</vt:lpstr>
      <vt:lpstr>Aptos Display</vt:lpstr>
      <vt:lpstr>Arial</vt:lpstr>
      <vt:lpstr>David</vt:lpstr>
      <vt:lpstr>D-DINExp</vt:lpstr>
      <vt:lpstr>ערכת נושא Office</vt:lpstr>
      <vt:lpstr>העולם בימות המשיח</vt:lpstr>
      <vt:lpstr>מצגת של PowerPoint‏</vt:lpstr>
      <vt:lpstr>רמב"ם הלכות תשובה פרק ט הלכה ב </vt:lpstr>
      <vt:lpstr>עסק כולם – אהבת ה'</vt:lpstr>
      <vt:lpstr>מצגת של PowerPoint‏</vt:lpstr>
      <vt:lpstr>מצגת של PowerPoint‏</vt:lpstr>
      <vt:lpstr>בינה מלאכותית בעולם החרדי</vt:lpstr>
      <vt:lpstr>מאפיינים של ימות המשיח על פי המקורות:</vt:lpstr>
      <vt:lpstr>מה יעשו כל האנשים בימות המשיח?</vt:lpstr>
      <vt:lpstr>ממה התפרנסו אנשים בימות המשיח?</vt:lpstr>
      <vt:lpstr>עניים ועשירים</vt:lpstr>
      <vt:lpstr>שימושים מעשיים מותרים</vt:lpstr>
      <vt:lpstr>המלצות ליישום</vt:lpstr>
      <vt:lpstr>סיכום</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יהודה טאוב</dc:creator>
  <cp:lastModifiedBy>יהודה טאוב</cp:lastModifiedBy>
  <cp:revision>1</cp:revision>
  <dcterms:created xsi:type="dcterms:W3CDTF">2025-01-22T05:40:13Z</dcterms:created>
  <dcterms:modified xsi:type="dcterms:W3CDTF">2026-10-15T18:05:26Z</dcterms:modified>
</cp:coreProperties>
</file>