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83" d="100"/>
          <a:sy n="83" d="100"/>
        </p:scale>
        <p:origin x="65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DA94F6A-4FAE-9BCB-449B-C2D921568B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A151784F-5D3D-D7FD-840A-230ED6508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9455671-CC03-7B5F-7A06-6FB9EB107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B2953-1BD6-4B02-A004-5AAD1171C0BC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E9C67CD-464D-CDB6-3BC9-B76FF7F21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1CA0E02-AE1D-A07A-08E6-AD5BDA3E6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ACA9C-4AE6-4EB5-8AD3-5E5D2DD7D4E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26416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2EAC12B-B296-E707-612B-91E429402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77A56CB-A518-506A-DA7D-A87C62A6C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86E7E9C-2B27-4A0F-4CC3-1C6C52418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B2953-1BD6-4B02-A004-5AAD1171C0BC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C7D0960-6229-3AB3-ED7F-B82A31D94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93EE1C2-4EF5-2271-9426-78BB08B1B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ACA9C-4AE6-4EB5-8AD3-5E5D2DD7D4E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14442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994E82A-B959-EAE6-5D65-B699D7F8F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66213A5-F67E-E72B-FF8F-E0E0BEC68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945C19D-39E8-529B-2FE2-F2C10D8F4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B2953-1BD6-4B02-A004-5AAD1171C0BC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F564182-BD7B-500F-E3CE-218535D32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872E938-36FD-38A0-1AF2-15F2676C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ACA9C-4AE6-4EB5-8AD3-5E5D2DD7D4E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11694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016F5BA-2C1F-E153-F298-71A1F80AC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F7D248F-CEC6-6E7D-2E4D-D4423F612E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A8BFEBA-A091-8609-A72D-8C7D65DD2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56B690E-0C03-5705-D94C-AE1E7FDC2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B2953-1BD6-4B02-A004-5AAD1171C0BC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BE48A6E-F9C7-0150-1046-A8B38FBE7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A4280C6-D790-67EF-F52C-BEA66B670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ACA9C-4AE6-4EB5-8AD3-5E5D2DD7D4E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82331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DC74CC2-ABAB-D3F8-90EA-2F28A6565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512C680-55B1-397F-9103-C59FBDBEF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E9DC50F-44D7-0758-9F95-7DBE4E22C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0AC038A8-3012-463E-B845-281267D763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18998868-4636-2B65-D6A2-CF5605765D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67C74DCD-2BE1-EE36-0A92-3E0B099AD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B2953-1BD6-4B02-A004-5AAD1171C0BC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B6C2657A-4F1B-2CFB-19A3-DE500820E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A5611CFF-F9FD-33FB-E645-0E87C0B65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ACA9C-4AE6-4EB5-8AD3-5E5D2DD7D4E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21580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8193EC8-FE89-1CB5-8A9E-46A0B8988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E8236C02-3F0A-C154-1C44-066D0B1EE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B2953-1BD6-4B02-A004-5AAD1171C0BC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7047641-FCED-D79A-4EB7-ED0F103D4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3CC189B-DD68-A84B-E2D3-E7572C5AE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ACA9C-4AE6-4EB5-8AD3-5E5D2DD7D4E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74387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41C9D70C-45C6-E4FF-F54B-F30E931CF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B2953-1BD6-4B02-A004-5AAD1171C0BC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112AC675-E2E0-AC98-DE4E-874F300F8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FF2F5FB6-7481-358B-BEB8-7CBA3E6CA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ACA9C-4AE6-4EB5-8AD3-5E5D2DD7D4E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1560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0341496-C497-8947-FF24-0A85FF81F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55C159D-449E-C799-31B3-EEDBE6E91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500F0EE-B48C-56C2-0CF6-44A8EDBC0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EBB1501-BDA5-F423-FF6A-9595CA49D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B2953-1BD6-4B02-A004-5AAD1171C0BC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A1E3C05-0761-693E-A64A-D3FE99085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4E07583-B182-7E82-D101-EB593E869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ACA9C-4AE6-4EB5-8AD3-5E5D2DD7D4E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47904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3A46DC5-7E16-0258-720E-6198417B8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8C389695-4606-BD32-E4E1-37540FD40E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251FC47E-E72A-A4E6-A262-4A92582CA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5DDFCA1-CEC8-4F5D-4B50-87979E99A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B2953-1BD6-4B02-A004-5AAD1171C0BC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553BFD8-5CA5-8599-AD7A-B54B04E89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C78FACD-E8E1-B3D6-25FC-317F791F9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ACA9C-4AE6-4EB5-8AD3-5E5D2DD7D4E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79319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8E0CA8F-6C56-D627-8985-2DB0D4868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537147A5-1308-F390-0BF0-8F73E1ED5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24BE095-3A24-1A01-99BA-F4F1E133B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B2953-1BD6-4B02-A004-5AAD1171C0BC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5ABFF39-3105-C294-A37F-BE14E58E1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930E403-EA37-F30E-C1F0-41973AC76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ACA9C-4AE6-4EB5-8AD3-5E5D2DD7D4E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65381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A788869B-1F4A-A326-1E96-BA71318A98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9563388-C52F-AD28-FEA7-3010D3009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909D073-97BC-A78F-FEC5-0C6CFF17F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B2953-1BD6-4B02-A004-5AAD1171C0BC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0D6C42F-3504-6A1C-C8D5-EA4379719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881750-A976-32AA-6CB1-50A5996CA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ACA9C-4AE6-4EB5-8AD3-5E5D2DD7D4E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4832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כותר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7369CD8-307F-BD74-FD3E-672CC7C8B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A4B14A8-D4D3-45CE-E926-BB07B6958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47E88E5-E8DB-0BF1-8EFA-828F9D23F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B2953-1BD6-4B02-A004-5AAD1171C0BC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EC7E893-E3C0-C6DE-94B2-806EC3EC1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A880DE9-2ED8-2789-B1A0-2DD9BB5BB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ACA9C-4AE6-4EB5-8AD3-5E5D2DD7D4E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55481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15D26692-B975-7B36-F3A0-3E57215B2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C659231-154F-C176-480F-E5F41AC37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19FB4FD-8560-C09C-0741-8CE5E04EF1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5B2953-1BD6-4B02-A004-5AAD1171C0BC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84D42D1-253A-FA89-F3E6-C33AA2F93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28F1788-9616-5B35-EC74-0B3449217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9ACA9C-4AE6-4EB5-8AD3-5E5D2DD7D4E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39258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EF7F388-2865-1047-05D3-F75B280D74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e-IL" sz="4000">
                <a:solidFill>
                  <a:srgbClr val="8B4513"/>
                </a:solidFill>
                <a:latin typeface="David" panose="020E0502060401010101" pitchFamily="34" charset="-79"/>
              </a:rPr>
              <a:t>התשובה והגאולה בפרשת נצבים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DA87B6A7-C9C0-B8A2-70E4-B0CE6B1A60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20505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CFA3B76-80F9-E903-4A09-75D71514F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4000">
                <a:solidFill>
                  <a:srgbClr val="8B4513"/>
                </a:solidFill>
                <a:latin typeface="David" panose="020E0502060401010101" pitchFamily="34" charset="-79"/>
              </a:rPr>
              <a:t>מבנה הפרשה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1D9975E-EFFF-73F8-AD6F-2CBFDC73B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2400">
                <a:solidFill>
                  <a:srgbClr val="000000"/>
                </a:solidFill>
                <a:latin typeface="David" panose="020E0502060401010101" pitchFamily="34" charset="-79"/>
              </a:rPr>
              <a:t>• התורה שוזרת את נושאי התשובה והגאולה</a:t>
            </a:r>
          </a:p>
          <a:p>
            <a:r>
              <a:rPr lang="he-IL" sz="2400">
                <a:solidFill>
                  <a:srgbClr val="000000"/>
                </a:solidFill>
                <a:latin typeface="David" panose="020E0502060401010101" pitchFamily="34" charset="-79"/>
              </a:rPr>
              <a:t>• הפסוקים מופיעים לסירוגין</a:t>
            </a:r>
          </a:p>
          <a:p>
            <a:r>
              <a:rPr lang="he-IL" sz="2400">
                <a:solidFill>
                  <a:srgbClr val="000000"/>
                </a:solidFill>
                <a:latin typeface="David" panose="020E0502060401010101" pitchFamily="34" charset="-79"/>
              </a:rPr>
              <a:t>• יש תלות הדדית בין התהליכים</a:t>
            </a:r>
          </a:p>
        </p:txBody>
      </p:sp>
    </p:spTree>
    <p:extLst>
      <p:ext uri="{BB962C8B-B14F-4D97-AF65-F5344CB8AC3E}">
        <p14:creationId xmlns:p14="http://schemas.microsoft.com/office/powerpoint/2010/main" val="689583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5E301B-3268-C552-7D01-2C704C017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4000">
                <a:solidFill>
                  <a:srgbClr val="8B4513"/>
                </a:solidFill>
                <a:latin typeface="David" panose="020E0502060401010101" pitchFamily="34" charset="-79"/>
              </a:rPr>
              <a:t>פסוקי התשובה הראשונים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BCD3B2A-173C-ABDD-9367-D78F8B6CE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2400">
                <a:solidFill>
                  <a:srgbClr val="000000"/>
                </a:solidFill>
                <a:latin typeface="David" panose="020E0502060401010101" pitchFamily="34" charset="-79"/>
              </a:rPr>
              <a:t>וְהָיָה כִי יָבֹאוּ עָלֶיךָ כָּל הַדְּבָרִים הָאֵלֶּה הַבְּרָכָה וְהַקְּלָלָה... </a:t>
            </a:r>
          </a:p>
          <a:p>
            <a:r>
              <a:rPr lang="he-IL" sz="2400">
                <a:solidFill>
                  <a:srgbClr val="000000"/>
                </a:solidFill>
                <a:latin typeface="David" panose="020E0502060401010101" pitchFamily="34" charset="-79"/>
              </a:rPr>
              <a:t>וְשַׁבְתָּ עַד יְיָ אֱלֹהֶיךָ וְשָׁמַעְתָּ בְקֹלוֹ כְּכֹל אֲשֶׁר אָנֹכִי מְצַוְּךָ הַיּוֹם </a:t>
            </a:r>
          </a:p>
          <a:p>
            <a:r>
              <a:rPr lang="he-IL" sz="2400">
                <a:solidFill>
                  <a:srgbClr val="000000"/>
                </a:solidFill>
                <a:latin typeface="David" panose="020E0502060401010101" pitchFamily="34" charset="-79"/>
              </a:rPr>
              <a:t>אַתָּה וּבָנֶיךָ בְּכָל לְבָבְךָ וּבְכָל נַפְשֶׁךָ</a:t>
            </a:r>
          </a:p>
        </p:txBody>
      </p:sp>
    </p:spTree>
    <p:extLst>
      <p:ext uri="{BB962C8B-B14F-4D97-AF65-F5344CB8AC3E}">
        <p14:creationId xmlns:p14="http://schemas.microsoft.com/office/powerpoint/2010/main" val="159609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97BE387-580B-2DD2-050B-99DC882B8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4000">
                <a:solidFill>
                  <a:srgbClr val="8B4513"/>
                </a:solidFill>
                <a:latin typeface="David" panose="020E0502060401010101" pitchFamily="34" charset="-79"/>
              </a:rPr>
              <a:t>פסוקי הגאולה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646502A-67C6-F63F-AF84-EEC85CDE3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2400">
                <a:solidFill>
                  <a:srgbClr val="000000"/>
                </a:solidFill>
                <a:latin typeface="David" panose="020E0502060401010101" pitchFamily="34" charset="-79"/>
              </a:rPr>
              <a:t>וְשָׁב יְיָ אֱלֹהֶיךָ אֶת שְׁבוּתְךָ וְרִחֲמֶךָ</a:t>
            </a:r>
          </a:p>
          <a:p>
            <a:r>
              <a:rPr lang="he-IL" sz="2400">
                <a:solidFill>
                  <a:srgbClr val="000000"/>
                </a:solidFill>
                <a:latin typeface="David" panose="020E0502060401010101" pitchFamily="34" charset="-79"/>
              </a:rPr>
              <a:t>וְשָׁב וְקִבֶּצְךָ מִכָּל הָעַמִּים אֲשֶׁר הֱפִיצְךָ יְיָ אֱלֹהֶיךָ שָׁמָּה</a:t>
            </a:r>
          </a:p>
          <a:p>
            <a:r>
              <a:rPr lang="he-IL" sz="2400">
                <a:solidFill>
                  <a:srgbClr val="000000"/>
                </a:solidFill>
                <a:latin typeface="David" panose="020E0502060401010101" pitchFamily="34" charset="-79"/>
              </a:rPr>
              <a:t>אִם יִהְיֶה נִדַּחֲךָ בִּקְצֵה הַשָּׁמָיִם מִשָּׁם יְקַבֶּצְךָ</a:t>
            </a:r>
          </a:p>
        </p:txBody>
      </p:sp>
    </p:spTree>
    <p:extLst>
      <p:ext uri="{BB962C8B-B14F-4D97-AF65-F5344CB8AC3E}">
        <p14:creationId xmlns:p14="http://schemas.microsoft.com/office/powerpoint/2010/main" val="3143196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F984AD1-11BF-54C2-1CF2-35571593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4000">
                <a:solidFill>
                  <a:srgbClr val="8B4513"/>
                </a:solidFill>
                <a:latin typeface="David" panose="020E0502060401010101" pitchFamily="34" charset="-79"/>
              </a:rPr>
              <a:t>פסוקי מילת הלב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C6A37C2-72E1-3C11-EC0A-437DE2193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2400">
                <a:solidFill>
                  <a:srgbClr val="000000"/>
                </a:solidFill>
                <a:latin typeface="David" panose="020E0502060401010101" pitchFamily="34" charset="-79"/>
              </a:rPr>
              <a:t>וּמָל יְיָ אֱלֹהֶיךָ אֶת לְבָבְךָ וְאֶת לְבַב זַרְעֶךָ</a:t>
            </a:r>
          </a:p>
          <a:p>
            <a:r>
              <a:rPr lang="he-IL" sz="2400">
                <a:solidFill>
                  <a:srgbClr val="000000"/>
                </a:solidFill>
                <a:latin typeface="David" panose="020E0502060401010101" pitchFamily="34" charset="-79"/>
              </a:rPr>
              <a:t>לְאַהֲבָה אֶת יְיָ אֱלֹהֶיךָ בְּכָל לְבָבְךָ וּבְכָל נַפְשְׁךָ לְמַעַן חַיֶּיךָ</a:t>
            </a:r>
          </a:p>
        </p:txBody>
      </p:sp>
    </p:spTree>
    <p:extLst>
      <p:ext uri="{BB962C8B-B14F-4D97-AF65-F5344CB8AC3E}">
        <p14:creationId xmlns:p14="http://schemas.microsoft.com/office/powerpoint/2010/main" val="202255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5DEAF0-0749-9701-3953-B017DD294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4000">
                <a:solidFill>
                  <a:srgbClr val="8B4513"/>
                </a:solidFill>
                <a:latin typeface="David" panose="020E0502060401010101" pitchFamily="34" charset="-79"/>
              </a:rPr>
              <a:t>המקור בפרשת ואתחנן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A194482-0545-DFB3-E525-520D8E8C3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2400">
                <a:solidFill>
                  <a:srgbClr val="000000"/>
                </a:solidFill>
                <a:latin typeface="David" panose="020E0502060401010101" pitchFamily="34" charset="-79"/>
              </a:rPr>
              <a:t>וּבִקַּשְׁתֶּם מִשָּׁם אֶת יְיָ אֱלֹהֶיךָ וּמָצָאתָ</a:t>
            </a:r>
          </a:p>
          <a:p>
            <a:r>
              <a:rPr lang="he-IL" sz="2400">
                <a:solidFill>
                  <a:srgbClr val="000000"/>
                </a:solidFill>
                <a:latin typeface="David" panose="020E0502060401010101" pitchFamily="34" charset="-79"/>
              </a:rPr>
              <a:t>כִּי תִדְרְשֶׁנּוּ בְּכָל לְבָבְךָ וּבְכָל נַפְשֶׁךָ</a:t>
            </a:r>
          </a:p>
          <a:p>
            <a:r>
              <a:rPr lang="he-IL" sz="2400">
                <a:solidFill>
                  <a:srgbClr val="000000"/>
                </a:solidFill>
                <a:latin typeface="David" panose="020E0502060401010101" pitchFamily="34" charset="-79"/>
              </a:rPr>
              <a:t>בַּצַּר לְךָ וּמְצָאוּךָ כֹּל הַדְּבָרִים הָאֵלֶּה בְּאַחֲרִית הַיָּמִים</a:t>
            </a:r>
          </a:p>
        </p:txBody>
      </p:sp>
    </p:spTree>
    <p:extLst>
      <p:ext uri="{BB962C8B-B14F-4D97-AF65-F5344CB8AC3E}">
        <p14:creationId xmlns:p14="http://schemas.microsoft.com/office/powerpoint/2010/main" val="376865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EDCD2-B3C5-88D5-2AB2-EADF5E63D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25C3234-0D8A-6021-D5C0-8C5CC4896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4000" dirty="0" err="1">
                <a:solidFill>
                  <a:srgbClr val="8B4513"/>
                </a:solidFill>
                <a:latin typeface="David" panose="020E0502060401010101" pitchFamily="34" charset="-79"/>
              </a:rPr>
              <a:t>הויכוח</a:t>
            </a:r>
            <a:r>
              <a:rPr lang="he-IL" sz="4000" dirty="0">
                <a:solidFill>
                  <a:srgbClr val="8B4513"/>
                </a:solidFill>
                <a:latin typeface="David" panose="020E0502060401010101" pitchFamily="34" charset="-79"/>
              </a:rPr>
              <a:t> בין מיכאל לשר של אדם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7D13A39-6DAF-7B72-4139-E0AAF7CA3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000" y="1825625"/>
            <a:ext cx="10845800" cy="451052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זוהר חדש כרך א (תורה) פרשת נח דף מ עמוד א</a:t>
            </a:r>
          </a:p>
          <a:p>
            <a:pPr algn="just"/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אתא מיכאל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אפטרופסא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רבה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דילהון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ובעי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דאימתי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יפקון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בנוהי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רחימוהי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מתחות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גלותא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דאדום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ואמר את כתבת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באורייתך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דכד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יסבלון אינון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עונשייא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על מה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דעבדו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מאי כתיב כי אל רחום ה'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אלהיך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. </a:t>
            </a:r>
          </a:p>
          <a:p>
            <a:pPr algn="just"/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א"ל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ייתי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סמאל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אפוטרופסא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דאדום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ויטעין עמיה קמאי. </a:t>
            </a:r>
          </a:p>
          <a:p>
            <a:pPr algn="just"/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אתא סמאל. וטעין מיכאל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מלתא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דא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כדבקדמייתא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. אמר סמאל מארי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דעלמא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את הוא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דאמרת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דתהוי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כנישתא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דישראל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תחות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שולטנא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דאדום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עד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דיהון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זכאין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קמך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והא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כלהון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חייבין עד יומא דין. </a:t>
            </a:r>
          </a:p>
          <a:p>
            <a:pPr algn="just"/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ביה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שעתא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אנזיפיה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קב"ה על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דאמר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דלטורא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על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בנוהי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וערק תלת אלפי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מילין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. </a:t>
            </a:r>
          </a:p>
          <a:p>
            <a:pPr algn="just"/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ואמר למיכאל מיכאל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הוה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לך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למהוי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שפיל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לרישיה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דקרא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דכתיב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ושבת עד ה'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אלהיך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ושמעת בקולו ואח"כ כתיב כי אל רחום ה'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אלהיך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. </a:t>
            </a:r>
          </a:p>
          <a:p>
            <a:pPr algn="just"/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אמר מיכאל מארי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דעלמא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הוה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לך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לרחמא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עלייהו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את רחום וכך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אתקריאת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. </a:t>
            </a:r>
          </a:p>
          <a:p>
            <a:pPr algn="just"/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א"ל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אומאה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אומיתי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ביומא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דאתגזרא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דינא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קדמאי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עד די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יתובון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. ואי כנישתא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דישראל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אפתחת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תשובה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כעינא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דמחטא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 אנא אפתח לה תרעין </a:t>
            </a:r>
            <a:r>
              <a:rPr lang="he-IL" sz="2400" dirty="0" err="1">
                <a:solidFill>
                  <a:srgbClr val="000000"/>
                </a:solidFill>
                <a:latin typeface="David" panose="020E0502060401010101" pitchFamily="34" charset="-79"/>
              </a:rPr>
              <a:t>רברבין</a:t>
            </a:r>
            <a:r>
              <a:rPr lang="he-IL" sz="2400" dirty="0">
                <a:solidFill>
                  <a:srgbClr val="000000"/>
                </a:solidFill>
                <a:latin typeface="David" panose="020E0502060401010101" pitchFamily="34" charset="-79"/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666501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ECF8AF-84FE-B81C-753E-7289D0668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4000">
                <a:solidFill>
                  <a:srgbClr val="8B4513"/>
                </a:solidFill>
                <a:latin typeface="David" panose="020E0502060401010101" pitchFamily="34" charset="-79"/>
              </a:rPr>
              <a:t>הקושי המרכזי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52F25AF-18E6-FBE9-F60F-84A1687CB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2400">
                <a:solidFill>
                  <a:srgbClr val="000000"/>
                </a:solidFill>
                <a:latin typeface="David" panose="020E0502060401010101" pitchFamily="34" charset="-79"/>
              </a:rPr>
              <a:t>• התורה קובעת: תשובה תחילה, גאולה אחר כך</a:t>
            </a:r>
          </a:p>
          <a:p>
            <a:r>
              <a:rPr lang="he-IL" sz="2400">
                <a:solidFill>
                  <a:srgbClr val="000000"/>
                </a:solidFill>
                <a:latin typeface="David" panose="020E0502060401010101" pitchFamily="34" charset="-79"/>
              </a:rPr>
              <a:t>• המציאות בימינו: גאולה פיזית ללא תשובה מקדימה</a:t>
            </a:r>
          </a:p>
          <a:p>
            <a:r>
              <a:rPr lang="he-IL" sz="2400">
                <a:solidFill>
                  <a:srgbClr val="000000"/>
                </a:solidFill>
                <a:latin typeface="David" panose="020E0502060401010101" pitchFamily="34" charset="-79"/>
              </a:rPr>
              <a:t>• כיצד מתיישבת הסתירה?</a:t>
            </a:r>
          </a:p>
        </p:txBody>
      </p:sp>
    </p:spTree>
    <p:extLst>
      <p:ext uri="{BB962C8B-B14F-4D97-AF65-F5344CB8AC3E}">
        <p14:creationId xmlns:p14="http://schemas.microsoft.com/office/powerpoint/2010/main" val="3956817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558F52E-80CA-78DE-1342-0B9233A9A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4000">
                <a:solidFill>
                  <a:srgbClr val="8B4513"/>
                </a:solidFill>
                <a:latin typeface="David" panose="020E0502060401010101" pitchFamily="34" charset="-79"/>
              </a:rPr>
              <a:t>שאלות לעיון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6C846E2-9820-7622-C7DC-52E466DBE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2400">
                <a:solidFill>
                  <a:srgbClr val="000000"/>
                </a:solidFill>
                <a:latin typeface="David" panose="020E0502060401010101" pitchFamily="34" charset="-79"/>
              </a:rPr>
              <a:t>1. האם יתכן שהסדר השתנה?</a:t>
            </a:r>
          </a:p>
          <a:p>
            <a:r>
              <a:rPr lang="he-IL" sz="2400">
                <a:solidFill>
                  <a:srgbClr val="000000"/>
                </a:solidFill>
                <a:latin typeface="David" panose="020E0502060401010101" pitchFamily="34" charset="-79"/>
              </a:rPr>
              <a:t>2. מהי מהות התשובה הנדרשת?</a:t>
            </a:r>
          </a:p>
          <a:p>
            <a:r>
              <a:rPr lang="he-IL" sz="2400">
                <a:solidFill>
                  <a:srgbClr val="000000"/>
                </a:solidFill>
                <a:latin typeface="David" panose="020E0502060401010101" pitchFamily="34" charset="-79"/>
              </a:rPr>
              <a:t>3. האם יש דרגות שונות בגאולה?</a:t>
            </a:r>
          </a:p>
          <a:p>
            <a:r>
              <a:rPr lang="he-IL" sz="2400">
                <a:solidFill>
                  <a:srgbClr val="000000"/>
                </a:solidFill>
                <a:latin typeface="David" panose="020E0502060401010101" pitchFamily="34" charset="-79"/>
              </a:rPr>
              <a:t>4. כיצד להבין את המציאות הנוכחית?</a:t>
            </a:r>
          </a:p>
        </p:txBody>
      </p:sp>
    </p:spTree>
    <p:extLst>
      <p:ext uri="{BB962C8B-B14F-4D97-AF65-F5344CB8AC3E}">
        <p14:creationId xmlns:p14="http://schemas.microsoft.com/office/powerpoint/2010/main" val="3956829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074B056-48D1-E16D-C272-57F61A48F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4000">
                <a:solidFill>
                  <a:srgbClr val="8B4513"/>
                </a:solidFill>
                <a:latin typeface="David" panose="020E0502060401010101" pitchFamily="34" charset="-79"/>
              </a:rPr>
              <a:t>נקודות למחשבה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DAE27CE-061E-9921-BD67-745A4E26F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2400">
                <a:solidFill>
                  <a:srgbClr val="000000"/>
                </a:solidFill>
                <a:latin typeface="David" panose="020E0502060401010101" pitchFamily="34" charset="-79"/>
              </a:rPr>
              <a:t>• היחס בין תשובה וגאולה הוא מורכב</a:t>
            </a:r>
          </a:p>
          <a:p>
            <a:r>
              <a:rPr lang="he-IL" sz="2400">
                <a:solidFill>
                  <a:srgbClr val="000000"/>
                </a:solidFill>
                <a:latin typeface="David" panose="020E0502060401010101" pitchFamily="34" charset="-79"/>
              </a:rPr>
              <a:t>• יש לבחון את המושגים לעומקם</a:t>
            </a:r>
          </a:p>
          <a:p>
            <a:r>
              <a:rPr lang="he-IL" sz="2400">
                <a:solidFill>
                  <a:srgbClr val="000000"/>
                </a:solidFill>
                <a:latin typeface="David" panose="020E0502060401010101" pitchFamily="34" charset="-79"/>
              </a:rPr>
              <a:t>• המציאות מחייבת עיון מחודש בפסוקים</a:t>
            </a:r>
          </a:p>
          <a:p>
            <a:r>
              <a:rPr lang="he-IL" sz="2400">
                <a:solidFill>
                  <a:srgbClr val="000000"/>
                </a:solidFill>
                <a:latin typeface="David" panose="020E0502060401010101" pitchFamily="34" charset="-79"/>
              </a:rPr>
              <a:t>• נדרשת הבנה מעמיקה של תהליך הגאולה</a:t>
            </a:r>
          </a:p>
        </p:txBody>
      </p:sp>
    </p:spTree>
    <p:extLst>
      <p:ext uri="{BB962C8B-B14F-4D97-AF65-F5344CB8AC3E}">
        <p14:creationId xmlns:p14="http://schemas.microsoft.com/office/powerpoint/2010/main" val="2633549222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</TotalTime>
  <Words>378</Words>
  <Application>Microsoft Office PowerPoint</Application>
  <PresentationFormat>מסך רחב</PresentationFormat>
  <Paragraphs>43</Paragraphs>
  <Slides>10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David</vt:lpstr>
      <vt:lpstr>ערכת נושא Office</vt:lpstr>
      <vt:lpstr>התשובה והגאולה בפרשת נצבים</vt:lpstr>
      <vt:lpstr>מבנה הפרשה</vt:lpstr>
      <vt:lpstr>פסוקי התשובה הראשונים</vt:lpstr>
      <vt:lpstr>פסוקי הגאולה</vt:lpstr>
      <vt:lpstr>פסוקי מילת הלב</vt:lpstr>
      <vt:lpstr>המקור בפרשת ואתחנן</vt:lpstr>
      <vt:lpstr>הויכוח בין מיכאל לשר של אדם</vt:lpstr>
      <vt:lpstr>הקושי המרכזי</vt:lpstr>
      <vt:lpstr>שאלות לעיון</vt:lpstr>
      <vt:lpstr>נקודות למחשבה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יהודה טאוב</dc:creator>
  <cp:lastModifiedBy>יהודה טאוב</cp:lastModifiedBy>
  <cp:revision>1</cp:revision>
  <dcterms:created xsi:type="dcterms:W3CDTF">2025-01-27T02:30:59Z</dcterms:created>
  <dcterms:modified xsi:type="dcterms:W3CDTF">2026-10-15T18:05:30Z</dcterms:modified>
</cp:coreProperties>
</file>