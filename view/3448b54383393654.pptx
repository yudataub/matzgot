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60" r:id="rId1"/>
  </p:sldMasterIdLst>
  <p:sldIdLst>
    <p:sldId id="256" r:id="rId2"/>
    <p:sldId id="257" r:id="rId3"/>
    <p:sldId id="264" r:id="rId4"/>
    <p:sldId id="259" r:id="rId5"/>
    <p:sldId id="258" r:id="rId6"/>
    <p:sldId id="267" r:id="rId7"/>
    <p:sldId id="268" r:id="rId8"/>
    <p:sldId id="269" r:id="rId9"/>
    <p:sldId id="265" r:id="rId10"/>
    <p:sldId id="260" r:id="rId11"/>
    <p:sldId id="266" r:id="rId12"/>
    <p:sldId id="261" r:id="rId13"/>
    <p:sldId id="262" r:id="rId14"/>
    <p:sldId id="263" r:id="rId15"/>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4013" autoAdjust="0"/>
    <p:restoredTop sz="94660"/>
  </p:normalViewPr>
  <p:slideViewPr>
    <p:cSldViewPr snapToGrid="0">
      <p:cViewPr varScale="1">
        <p:scale>
          <a:sx n="64" d="100"/>
          <a:sy n="64" d="100"/>
        </p:scale>
        <p:origin x="2443"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he-IL"/>
              <a:t>לחץ כדי לערוך סגנון כותרת של תבנית בסיס</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he-IL"/>
              <a:t>לחץ כדי לערוך סגנון כותרת משנה של תבנית בסיס</a:t>
            </a:r>
            <a:endParaRPr lang="en-US" dirty="0"/>
          </a:p>
        </p:txBody>
      </p:sp>
      <p:sp>
        <p:nvSpPr>
          <p:cNvPr id="4" name="Date Placeholder 3"/>
          <p:cNvSpPr>
            <a:spLocks noGrp="1"/>
          </p:cNvSpPr>
          <p:nvPr>
            <p:ph type="dt" sz="half" idx="10"/>
          </p:nvPr>
        </p:nvSpPr>
        <p:spPr/>
        <p:txBody>
          <a:bodyPr/>
          <a:lstStyle/>
          <a:p>
            <a:fld id="{1FD5CA9E-BF9E-471F-B897-2E764DCFC2B2}" type="datetimeFigureOut">
              <a:rPr lang="he-IL" smtClean="0"/>
              <a:t>ד'/חשון/תשפ"ז</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B7F3C3BB-5F91-43F4-B7B0-2DC048E108BB}" type="slidenum">
              <a:rPr lang="he-IL" smtClean="0"/>
              <a:t>‹#›</a:t>
            </a:fld>
            <a:endParaRPr lang="he-IL"/>
          </a:p>
        </p:txBody>
      </p:sp>
    </p:spTree>
    <p:extLst>
      <p:ext uri="{BB962C8B-B14F-4D97-AF65-F5344CB8AC3E}">
        <p14:creationId xmlns:p14="http://schemas.microsoft.com/office/powerpoint/2010/main" val="22141927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idx="1"/>
          </p:nvPr>
        </p:nvSpPr>
        <p:spPr/>
        <p:txBody>
          <a:bodyPr/>
          <a:lstStyle>
            <a:lvl1pPr algn="just">
              <a:lnSpc>
                <a:spcPct val="150000"/>
              </a:lnSpc>
              <a:defRPr/>
            </a:lvl1pPr>
          </a:lstStyle>
          <a:p>
            <a:pPr lvl="0"/>
            <a:r>
              <a:rPr lang="he-IL" dirty="0"/>
              <a:t>לחץ כדי לערוך סגנונות טקסט של תבנית בסיס</a:t>
            </a:r>
          </a:p>
          <a:p>
            <a:pPr lvl="1"/>
            <a:r>
              <a:rPr lang="he-IL" dirty="0"/>
              <a:t>רמה שנייה</a:t>
            </a:r>
          </a:p>
          <a:p>
            <a:pPr lvl="2"/>
            <a:r>
              <a:rPr lang="he-IL" dirty="0"/>
              <a:t>רמה שלישית</a:t>
            </a:r>
          </a:p>
          <a:p>
            <a:pPr lvl="3"/>
            <a:r>
              <a:rPr lang="he-IL" dirty="0"/>
              <a:t>רמה רביעית</a:t>
            </a:r>
          </a:p>
          <a:p>
            <a:pPr lvl="4"/>
            <a:r>
              <a:rPr lang="he-IL" dirty="0"/>
              <a:t>רמה חמישית</a:t>
            </a:r>
            <a:endParaRPr lang="en-US" dirty="0"/>
          </a:p>
        </p:txBody>
      </p:sp>
      <p:sp>
        <p:nvSpPr>
          <p:cNvPr id="4" name="Date Placeholder 3"/>
          <p:cNvSpPr>
            <a:spLocks noGrp="1"/>
          </p:cNvSpPr>
          <p:nvPr>
            <p:ph type="dt" sz="half" idx="10"/>
          </p:nvPr>
        </p:nvSpPr>
        <p:spPr/>
        <p:txBody>
          <a:bodyPr/>
          <a:lstStyle/>
          <a:p>
            <a:fld id="{1FD5CA9E-BF9E-471F-B897-2E764DCFC2B2}" type="datetimeFigureOut">
              <a:rPr lang="he-IL" smtClean="0"/>
              <a:t>ד'/חשון/תשפ"ז</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B7F3C3BB-5F91-43F4-B7B0-2DC048E108BB}" type="slidenum">
              <a:rPr lang="he-IL" smtClean="0"/>
              <a:t>‹#›</a:t>
            </a:fld>
            <a:endParaRPr lang="he-IL"/>
          </a:p>
        </p:txBody>
      </p:sp>
    </p:spTree>
    <p:extLst>
      <p:ext uri="{BB962C8B-B14F-4D97-AF65-F5344CB8AC3E}">
        <p14:creationId xmlns:p14="http://schemas.microsoft.com/office/powerpoint/2010/main" val="29449839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1FD5CA9E-BF9E-471F-B897-2E764DCFC2B2}" type="datetimeFigureOut">
              <a:rPr lang="he-IL" smtClean="0"/>
              <a:t>ד'/חשון/תשפ"ז</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B7F3C3BB-5F91-43F4-B7B0-2DC048E108BB}" type="slidenum">
              <a:rPr lang="he-IL" smtClean="0"/>
              <a:t>‹#›</a:t>
            </a:fld>
            <a:endParaRPr lang="he-IL"/>
          </a:p>
        </p:txBody>
      </p:sp>
    </p:spTree>
    <p:extLst>
      <p:ext uri="{BB962C8B-B14F-4D97-AF65-F5344CB8AC3E}">
        <p14:creationId xmlns:p14="http://schemas.microsoft.com/office/powerpoint/2010/main" val="16206716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5" name="Date Placeholder 4"/>
          <p:cNvSpPr>
            <a:spLocks noGrp="1"/>
          </p:cNvSpPr>
          <p:nvPr>
            <p:ph type="dt" sz="half" idx="10"/>
          </p:nvPr>
        </p:nvSpPr>
        <p:spPr/>
        <p:txBody>
          <a:bodyPr/>
          <a:lstStyle/>
          <a:p>
            <a:fld id="{1FD5CA9E-BF9E-471F-B897-2E764DCFC2B2}" type="datetimeFigureOut">
              <a:rPr lang="he-IL" smtClean="0"/>
              <a:t>ד'/חשון/תשפ"ז</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B7F3C3BB-5F91-43F4-B7B0-2DC048E108BB}" type="slidenum">
              <a:rPr lang="he-IL" smtClean="0"/>
              <a:t>‹#›</a:t>
            </a:fld>
            <a:endParaRPr lang="he-IL"/>
          </a:p>
        </p:txBody>
      </p:sp>
    </p:spTree>
    <p:extLst>
      <p:ext uri="{BB962C8B-B14F-4D97-AF65-F5344CB8AC3E}">
        <p14:creationId xmlns:p14="http://schemas.microsoft.com/office/powerpoint/2010/main" val="38065071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he-IL"/>
              <a:t>לחץ כדי לערוך סגנונות טקסט של תבנית בסיס</a:t>
            </a:r>
          </a:p>
        </p:txBody>
      </p:sp>
      <p:sp>
        <p:nvSpPr>
          <p:cNvPr id="4" name="Content Placeholder 3"/>
          <p:cNvSpPr>
            <a:spLocks noGrp="1"/>
          </p:cNvSpPr>
          <p:nvPr>
            <p:ph sz="half" idx="2"/>
          </p:nvPr>
        </p:nvSpPr>
        <p:spPr>
          <a:xfrm>
            <a:off x="472381" y="3618442"/>
            <a:ext cx="2901255" cy="5322183"/>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he-IL"/>
              <a:t>לחץ כדי לערוך סגנונות טקסט של תבנית בסיס</a:t>
            </a:r>
          </a:p>
        </p:txBody>
      </p:sp>
      <p:sp>
        <p:nvSpPr>
          <p:cNvPr id="6" name="Content Placeholder 5"/>
          <p:cNvSpPr>
            <a:spLocks noGrp="1"/>
          </p:cNvSpPr>
          <p:nvPr>
            <p:ph sz="quarter" idx="4"/>
          </p:nvPr>
        </p:nvSpPr>
        <p:spPr>
          <a:xfrm>
            <a:off x="3471863" y="3618442"/>
            <a:ext cx="2915543" cy="5322183"/>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7" name="Date Placeholder 6"/>
          <p:cNvSpPr>
            <a:spLocks noGrp="1"/>
          </p:cNvSpPr>
          <p:nvPr>
            <p:ph type="dt" sz="half" idx="10"/>
          </p:nvPr>
        </p:nvSpPr>
        <p:spPr/>
        <p:txBody>
          <a:bodyPr/>
          <a:lstStyle/>
          <a:p>
            <a:fld id="{1FD5CA9E-BF9E-471F-B897-2E764DCFC2B2}" type="datetimeFigureOut">
              <a:rPr lang="he-IL" smtClean="0"/>
              <a:t>ד'/חשון/תשפ"ז</a:t>
            </a:fld>
            <a:endParaRPr lang="he-IL"/>
          </a:p>
        </p:txBody>
      </p:sp>
      <p:sp>
        <p:nvSpPr>
          <p:cNvPr id="8" name="Footer Placeholder 7"/>
          <p:cNvSpPr>
            <a:spLocks noGrp="1"/>
          </p:cNvSpPr>
          <p:nvPr>
            <p:ph type="ftr" sz="quarter" idx="11"/>
          </p:nvPr>
        </p:nvSpPr>
        <p:spPr/>
        <p:txBody>
          <a:bodyPr/>
          <a:lstStyle/>
          <a:p>
            <a:endParaRPr lang="he-IL"/>
          </a:p>
        </p:txBody>
      </p:sp>
      <p:sp>
        <p:nvSpPr>
          <p:cNvPr id="9" name="Slide Number Placeholder 8"/>
          <p:cNvSpPr>
            <a:spLocks noGrp="1"/>
          </p:cNvSpPr>
          <p:nvPr>
            <p:ph type="sldNum" sz="quarter" idx="12"/>
          </p:nvPr>
        </p:nvSpPr>
        <p:spPr/>
        <p:txBody>
          <a:bodyPr/>
          <a:lstStyle/>
          <a:p>
            <a:fld id="{B7F3C3BB-5F91-43F4-B7B0-2DC048E108BB}" type="slidenum">
              <a:rPr lang="he-IL" smtClean="0"/>
              <a:t>‹#›</a:t>
            </a:fld>
            <a:endParaRPr lang="he-IL"/>
          </a:p>
        </p:txBody>
      </p:sp>
    </p:spTree>
    <p:extLst>
      <p:ext uri="{BB962C8B-B14F-4D97-AF65-F5344CB8AC3E}">
        <p14:creationId xmlns:p14="http://schemas.microsoft.com/office/powerpoint/2010/main" val="12383021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Date Placeholder 2"/>
          <p:cNvSpPr>
            <a:spLocks noGrp="1"/>
          </p:cNvSpPr>
          <p:nvPr>
            <p:ph type="dt" sz="half" idx="10"/>
          </p:nvPr>
        </p:nvSpPr>
        <p:spPr/>
        <p:txBody>
          <a:bodyPr/>
          <a:lstStyle/>
          <a:p>
            <a:fld id="{1FD5CA9E-BF9E-471F-B897-2E764DCFC2B2}" type="datetimeFigureOut">
              <a:rPr lang="he-IL" smtClean="0"/>
              <a:t>ד'/חשון/תשפ"ז</a:t>
            </a:fld>
            <a:endParaRPr lang="he-IL"/>
          </a:p>
        </p:txBody>
      </p:sp>
      <p:sp>
        <p:nvSpPr>
          <p:cNvPr id="4" name="Footer Placeholder 3"/>
          <p:cNvSpPr>
            <a:spLocks noGrp="1"/>
          </p:cNvSpPr>
          <p:nvPr>
            <p:ph type="ftr" sz="quarter" idx="11"/>
          </p:nvPr>
        </p:nvSpPr>
        <p:spPr/>
        <p:txBody>
          <a:bodyPr/>
          <a:lstStyle/>
          <a:p>
            <a:endParaRPr lang="he-IL"/>
          </a:p>
        </p:txBody>
      </p:sp>
      <p:sp>
        <p:nvSpPr>
          <p:cNvPr id="5" name="Slide Number Placeholder 4"/>
          <p:cNvSpPr>
            <a:spLocks noGrp="1"/>
          </p:cNvSpPr>
          <p:nvPr>
            <p:ph type="sldNum" sz="quarter" idx="12"/>
          </p:nvPr>
        </p:nvSpPr>
        <p:spPr/>
        <p:txBody>
          <a:bodyPr/>
          <a:lstStyle/>
          <a:p>
            <a:fld id="{B7F3C3BB-5F91-43F4-B7B0-2DC048E108BB}" type="slidenum">
              <a:rPr lang="he-IL" smtClean="0"/>
              <a:t>‹#›</a:t>
            </a:fld>
            <a:endParaRPr lang="he-IL"/>
          </a:p>
        </p:txBody>
      </p:sp>
    </p:spTree>
    <p:extLst>
      <p:ext uri="{BB962C8B-B14F-4D97-AF65-F5344CB8AC3E}">
        <p14:creationId xmlns:p14="http://schemas.microsoft.com/office/powerpoint/2010/main" val="13135336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FD5CA9E-BF9E-471F-B897-2E764DCFC2B2}" type="datetimeFigureOut">
              <a:rPr lang="he-IL" smtClean="0"/>
              <a:t>ד'/חשון/תשפ"ז</a:t>
            </a:fld>
            <a:endParaRPr lang="he-IL"/>
          </a:p>
        </p:txBody>
      </p:sp>
      <p:sp>
        <p:nvSpPr>
          <p:cNvPr id="3" name="Footer Placeholder 2"/>
          <p:cNvSpPr>
            <a:spLocks noGrp="1"/>
          </p:cNvSpPr>
          <p:nvPr>
            <p:ph type="ftr" sz="quarter" idx="11"/>
          </p:nvPr>
        </p:nvSpPr>
        <p:spPr/>
        <p:txBody>
          <a:bodyPr/>
          <a:lstStyle/>
          <a:p>
            <a:endParaRPr lang="he-IL"/>
          </a:p>
        </p:txBody>
      </p:sp>
      <p:sp>
        <p:nvSpPr>
          <p:cNvPr id="4" name="Slide Number Placeholder 3"/>
          <p:cNvSpPr>
            <a:spLocks noGrp="1"/>
          </p:cNvSpPr>
          <p:nvPr>
            <p:ph type="sldNum" sz="quarter" idx="12"/>
          </p:nvPr>
        </p:nvSpPr>
        <p:spPr/>
        <p:txBody>
          <a:bodyPr/>
          <a:lstStyle/>
          <a:p>
            <a:fld id="{B7F3C3BB-5F91-43F4-B7B0-2DC048E108BB}" type="slidenum">
              <a:rPr lang="he-IL" smtClean="0"/>
              <a:t>‹#›</a:t>
            </a:fld>
            <a:endParaRPr lang="he-IL"/>
          </a:p>
        </p:txBody>
      </p:sp>
    </p:spTree>
    <p:extLst>
      <p:ext uri="{BB962C8B-B14F-4D97-AF65-F5344CB8AC3E}">
        <p14:creationId xmlns:p14="http://schemas.microsoft.com/office/powerpoint/2010/main" val="18390093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he-IL"/>
              <a:t>לחץ כדי לערוך סגנון כותרת של תבנית בסיס</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1FD5CA9E-BF9E-471F-B897-2E764DCFC2B2}" type="datetimeFigureOut">
              <a:rPr lang="he-IL" smtClean="0"/>
              <a:t>ד'/חשון/תשפ"ז</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B7F3C3BB-5F91-43F4-B7B0-2DC048E108BB}" type="slidenum">
              <a:rPr lang="he-IL" smtClean="0"/>
              <a:t>‹#›</a:t>
            </a:fld>
            <a:endParaRPr lang="he-IL"/>
          </a:p>
        </p:txBody>
      </p:sp>
    </p:spTree>
    <p:extLst>
      <p:ext uri="{BB962C8B-B14F-4D97-AF65-F5344CB8AC3E}">
        <p14:creationId xmlns:p14="http://schemas.microsoft.com/office/powerpoint/2010/main" val="14359607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he-IL"/>
              <a:t>לחץ כדי לערוך סגנון כותרת של תבנית בסיס</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he-IL"/>
              <a:t>לחץ על הסמל כדי להוסיף תמונה</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1FD5CA9E-BF9E-471F-B897-2E764DCFC2B2}" type="datetimeFigureOut">
              <a:rPr lang="he-IL" smtClean="0"/>
              <a:t>ד'/חשון/תשפ"ז</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B7F3C3BB-5F91-43F4-B7B0-2DC048E108BB}" type="slidenum">
              <a:rPr lang="he-IL" smtClean="0"/>
              <a:t>‹#›</a:t>
            </a:fld>
            <a:endParaRPr lang="he-IL"/>
          </a:p>
        </p:txBody>
      </p:sp>
    </p:spTree>
    <p:extLst>
      <p:ext uri="{BB962C8B-B14F-4D97-AF65-F5344CB8AC3E}">
        <p14:creationId xmlns:p14="http://schemas.microsoft.com/office/powerpoint/2010/main" val="19016045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1FD5CA9E-BF9E-471F-B897-2E764DCFC2B2}" type="datetimeFigureOut">
              <a:rPr lang="he-IL" smtClean="0"/>
              <a:t>ד'/חשון/תשפ"ז</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B7F3C3BB-5F91-43F4-B7B0-2DC048E108BB}" type="slidenum">
              <a:rPr lang="he-IL" smtClean="0"/>
              <a:t>‹#›</a:t>
            </a:fld>
            <a:endParaRPr lang="he-IL"/>
          </a:p>
        </p:txBody>
      </p:sp>
    </p:spTree>
    <p:extLst>
      <p:ext uri="{BB962C8B-B14F-4D97-AF65-F5344CB8AC3E}">
        <p14:creationId xmlns:p14="http://schemas.microsoft.com/office/powerpoint/2010/main" val="25878724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1FD5CA9E-BF9E-471F-B897-2E764DCFC2B2}" type="datetimeFigureOut">
              <a:rPr lang="he-IL" smtClean="0"/>
              <a:t>ד'/חשון/תשפ"ז</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B7F3C3BB-5F91-43F4-B7B0-2DC048E108BB}" type="slidenum">
              <a:rPr lang="he-IL" smtClean="0"/>
              <a:t>‹#›</a:t>
            </a:fld>
            <a:endParaRPr lang="he-IL"/>
          </a:p>
        </p:txBody>
      </p:sp>
    </p:spTree>
    <p:extLst>
      <p:ext uri="{BB962C8B-B14F-4D97-AF65-F5344CB8AC3E}">
        <p14:creationId xmlns:p14="http://schemas.microsoft.com/office/powerpoint/2010/main" val="13698867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1FD5CA9E-BF9E-471F-B897-2E764DCFC2B2}" type="datetimeFigureOut">
              <a:rPr lang="he-IL" smtClean="0"/>
              <a:t>ד'/חשון/תשפ"ז</a:t>
            </a:fld>
            <a:endParaRPr lang="he-IL"/>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he-IL"/>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B7F3C3BB-5F91-43F4-B7B0-2DC048E108BB}" type="slidenum">
              <a:rPr lang="he-IL" smtClean="0"/>
              <a:t>‹#›</a:t>
            </a:fld>
            <a:endParaRPr lang="he-IL"/>
          </a:p>
        </p:txBody>
      </p:sp>
    </p:spTree>
    <p:extLst>
      <p:ext uri="{BB962C8B-B14F-4D97-AF65-F5344CB8AC3E}">
        <p14:creationId xmlns:p14="http://schemas.microsoft.com/office/powerpoint/2010/main" val="29287587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1"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r" defTabSz="685800" rtl="1"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r" defTabSz="685800" rtl="1"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r" defTabSz="685800" rtl="1"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r" defTabSz="685800" rtl="1" eaLnBrk="1" latinLnBrk="0" hangingPunct="1">
        <a:defRPr sz="1350" kern="1200">
          <a:solidFill>
            <a:schemeClr val="tx1"/>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E9BE0F4-950F-BF23-C1D0-6BB5E0E98DA5}"/>
              </a:ext>
            </a:extLst>
          </p:cNvPr>
          <p:cNvSpPr>
            <a:spLocks noGrp="1"/>
          </p:cNvSpPr>
          <p:nvPr>
            <p:ph type="ctrTitle"/>
          </p:nvPr>
        </p:nvSpPr>
        <p:spPr/>
        <p:txBody>
          <a:bodyPr/>
          <a:lstStyle/>
          <a:p>
            <a:endParaRPr lang="he-IL"/>
          </a:p>
        </p:txBody>
      </p:sp>
      <p:sp>
        <p:nvSpPr>
          <p:cNvPr id="3" name="כותרת משנה 2">
            <a:extLst>
              <a:ext uri="{FF2B5EF4-FFF2-40B4-BE49-F238E27FC236}">
                <a16:creationId xmlns:a16="http://schemas.microsoft.com/office/drawing/2014/main" id="{10146804-EAF3-C1EF-EAE8-FD8EE98D6FC9}"/>
              </a:ext>
            </a:extLst>
          </p:cNvPr>
          <p:cNvSpPr>
            <a:spLocks noGrp="1"/>
          </p:cNvSpPr>
          <p:nvPr>
            <p:ph type="subTitle" idx="1"/>
          </p:nvPr>
        </p:nvSpPr>
        <p:spPr/>
        <p:txBody>
          <a:bodyPr/>
          <a:lstStyle/>
          <a:p>
            <a:endParaRPr lang="he-IL"/>
          </a:p>
        </p:txBody>
      </p:sp>
    </p:spTree>
    <p:extLst>
      <p:ext uri="{BB962C8B-B14F-4D97-AF65-F5344CB8AC3E}">
        <p14:creationId xmlns:p14="http://schemas.microsoft.com/office/powerpoint/2010/main" val="21928501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5CEB1AF-6213-AADB-5CCA-D444E378FF73}"/>
              </a:ext>
            </a:extLst>
          </p:cNvPr>
          <p:cNvSpPr>
            <a:spLocks noGrp="1"/>
          </p:cNvSpPr>
          <p:nvPr>
            <p:ph type="title"/>
          </p:nvPr>
        </p:nvSpPr>
        <p:spPr/>
        <p:txBody>
          <a:bodyPr/>
          <a:lstStyle/>
          <a:p>
            <a:endParaRPr lang="he-IL" dirty="0"/>
          </a:p>
        </p:txBody>
      </p:sp>
      <p:sp>
        <p:nvSpPr>
          <p:cNvPr id="3" name="מציין מיקום תוכן 2">
            <a:extLst>
              <a:ext uri="{FF2B5EF4-FFF2-40B4-BE49-F238E27FC236}">
                <a16:creationId xmlns:a16="http://schemas.microsoft.com/office/drawing/2014/main" id="{D4AEFE6F-ADBD-6643-B9F0-9CD5AE557D81}"/>
              </a:ext>
            </a:extLst>
          </p:cNvPr>
          <p:cNvSpPr>
            <a:spLocks noGrp="1"/>
          </p:cNvSpPr>
          <p:nvPr>
            <p:ph idx="1"/>
          </p:nvPr>
        </p:nvSpPr>
        <p:spPr>
          <a:xfrm>
            <a:off x="471488" y="3989070"/>
            <a:ext cx="5915025" cy="5634990"/>
          </a:xfrm>
        </p:spPr>
        <p:txBody>
          <a:bodyPr/>
          <a:lstStyle/>
          <a:p>
            <a:endParaRPr lang="he-IL" dirty="0"/>
          </a:p>
        </p:txBody>
      </p:sp>
      <p:pic>
        <p:nvPicPr>
          <p:cNvPr id="7" name="תמונה 6">
            <a:extLst>
              <a:ext uri="{FF2B5EF4-FFF2-40B4-BE49-F238E27FC236}">
                <a16:creationId xmlns:a16="http://schemas.microsoft.com/office/drawing/2014/main" id="{D0BDA529-4D0F-8E6C-B496-56B6D04ACD04}"/>
              </a:ext>
            </a:extLst>
          </p:cNvPr>
          <p:cNvPicPr>
            <a:picLocks noChangeAspect="1"/>
          </p:cNvPicPr>
          <p:nvPr/>
        </p:nvPicPr>
        <p:blipFill>
          <a:blip r:embed="rId2"/>
          <a:stretch>
            <a:fillRect/>
          </a:stretch>
        </p:blipFill>
        <p:spPr>
          <a:xfrm>
            <a:off x="0" y="0"/>
            <a:ext cx="6858000" cy="3876261"/>
          </a:xfrm>
          <a:prstGeom prst="rect">
            <a:avLst/>
          </a:prstGeom>
        </p:spPr>
      </p:pic>
    </p:spTree>
    <p:extLst>
      <p:ext uri="{BB962C8B-B14F-4D97-AF65-F5344CB8AC3E}">
        <p14:creationId xmlns:p14="http://schemas.microsoft.com/office/powerpoint/2010/main" val="24356934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9C29613-90DA-0B1A-3A7F-166CBCDBEED5}"/>
              </a:ext>
            </a:extLst>
          </p:cNvPr>
          <p:cNvSpPr>
            <a:spLocks noGrp="1"/>
          </p:cNvSpPr>
          <p:nvPr>
            <p:ph type="title"/>
          </p:nvPr>
        </p:nvSpPr>
        <p:spPr>
          <a:xfrm>
            <a:off x="471488" y="205741"/>
            <a:ext cx="5915025" cy="811529"/>
          </a:xfrm>
        </p:spPr>
        <p:txBody>
          <a:bodyPr>
            <a:normAutofit fontScale="90000"/>
          </a:bodyPr>
          <a:lstStyle/>
          <a:p>
            <a:pPr algn="ctr"/>
            <a:r>
              <a:rPr lang="he-IL" sz="2800" b="1" dirty="0">
                <a:effectLst/>
              </a:rPr>
              <a:t>"מעוז צור - עיון מעמיק בשורשי הפיוט"</a:t>
            </a:r>
            <a:br>
              <a:rPr lang="he-IL" sz="2800" dirty="0">
                <a:effectLst/>
              </a:rPr>
            </a:br>
            <a:endParaRPr lang="he-IL" sz="2800" dirty="0"/>
          </a:p>
        </p:txBody>
      </p:sp>
      <p:sp>
        <p:nvSpPr>
          <p:cNvPr id="3" name="מציין מיקום תוכן 2">
            <a:extLst>
              <a:ext uri="{FF2B5EF4-FFF2-40B4-BE49-F238E27FC236}">
                <a16:creationId xmlns:a16="http://schemas.microsoft.com/office/drawing/2014/main" id="{0A864499-095E-EA85-B860-89CEBCEA1AFB}"/>
              </a:ext>
            </a:extLst>
          </p:cNvPr>
          <p:cNvSpPr>
            <a:spLocks noGrp="1"/>
          </p:cNvSpPr>
          <p:nvPr>
            <p:ph sz="half" idx="1"/>
          </p:nvPr>
        </p:nvSpPr>
        <p:spPr>
          <a:xfrm>
            <a:off x="320040" y="1371600"/>
            <a:ext cx="3066098" cy="7550680"/>
          </a:xfrm>
          <a:solidFill>
            <a:schemeClr val="accent1">
              <a:lumMod val="60000"/>
              <a:lumOff val="40000"/>
            </a:schemeClr>
          </a:solidFill>
        </p:spPr>
        <p:txBody>
          <a:bodyPr>
            <a:normAutofit lnSpcReduction="10000"/>
          </a:bodyPr>
          <a:lstStyle/>
          <a:p>
            <a:pPr algn="r" rtl="1"/>
            <a:r>
              <a:rPr lang="he-IL" b="1" dirty="0">
                <a:effectLst/>
              </a:rPr>
              <a:t>העמקה בשורשי המושג:</a:t>
            </a:r>
            <a:endParaRPr lang="he-IL" dirty="0">
              <a:effectLst/>
            </a:endParaRPr>
          </a:p>
          <a:p>
            <a:pPr algn="r" rtl="1"/>
            <a:r>
              <a:rPr lang="he-IL" dirty="0">
                <a:effectLst/>
              </a:rPr>
              <a:t>א. </a:t>
            </a:r>
            <a:r>
              <a:rPr lang="he-IL" b="1" dirty="0">
                <a:effectLst/>
              </a:rPr>
              <a:t>"מעוז" - שני פנים:</a:t>
            </a:r>
            <a:endParaRPr lang="he-IL" dirty="0">
              <a:effectLst/>
            </a:endParaRPr>
          </a:p>
          <a:p>
            <a:pPr rtl="1">
              <a:buFont typeface="Arial" panose="020B0604020202020204" pitchFamily="34" charset="0"/>
              <a:buChar char="•"/>
            </a:pPr>
            <a:r>
              <a:rPr lang="he-IL" dirty="0">
                <a:effectLst/>
              </a:rPr>
              <a:t>כוח חיצוני - הגנה פיזית</a:t>
            </a:r>
          </a:p>
          <a:p>
            <a:pPr rtl="1">
              <a:buFont typeface="Arial" panose="020B0604020202020204" pitchFamily="34" charset="0"/>
              <a:buChar char="•"/>
            </a:pPr>
            <a:r>
              <a:rPr lang="he-IL" dirty="0">
                <a:effectLst/>
              </a:rPr>
              <a:t>כוח פנימי - חיזוק רוחני</a:t>
            </a:r>
          </a:p>
          <a:p>
            <a:pPr algn="r" rtl="1"/>
            <a:r>
              <a:rPr lang="he-IL" dirty="0">
                <a:effectLst/>
              </a:rPr>
              <a:t>ב. </a:t>
            </a:r>
            <a:r>
              <a:rPr lang="he-IL" b="1" dirty="0">
                <a:effectLst/>
              </a:rPr>
              <a:t>"צור" - שלושה מובנים:</a:t>
            </a:r>
            <a:endParaRPr lang="he-IL" dirty="0">
              <a:effectLst/>
            </a:endParaRPr>
          </a:p>
          <a:p>
            <a:pPr rtl="1">
              <a:buFont typeface="Arial" panose="020B0604020202020204" pitchFamily="34" charset="0"/>
              <a:buChar char="•"/>
            </a:pPr>
            <a:r>
              <a:rPr lang="he-IL" dirty="0">
                <a:effectLst/>
              </a:rPr>
              <a:t>יציבות - "צור ישראל"</a:t>
            </a:r>
          </a:p>
          <a:p>
            <a:pPr rtl="1">
              <a:buFont typeface="Arial" panose="020B0604020202020204" pitchFamily="34" charset="0"/>
              <a:buChar char="•"/>
            </a:pPr>
            <a:r>
              <a:rPr lang="he-IL" dirty="0">
                <a:effectLst/>
              </a:rPr>
              <a:t>נצחיות - "צור עולמים"</a:t>
            </a:r>
          </a:p>
          <a:p>
            <a:pPr rtl="1">
              <a:buFont typeface="Arial" panose="020B0604020202020204" pitchFamily="34" charset="0"/>
              <a:buChar char="•"/>
            </a:pPr>
            <a:r>
              <a:rPr lang="he-IL" dirty="0">
                <a:effectLst/>
              </a:rPr>
              <a:t>מקור - "צור מחצבתנו"</a:t>
            </a:r>
          </a:p>
          <a:p>
            <a:pPr algn="r" rtl="1"/>
            <a:r>
              <a:rPr lang="he-IL" b="1" dirty="0">
                <a:effectLst/>
              </a:rPr>
              <a:t>חידוש בהבנת הפיוט:</a:t>
            </a:r>
            <a:endParaRPr lang="he-IL" dirty="0">
              <a:effectLst/>
            </a:endParaRPr>
          </a:p>
          <a:p>
            <a:pPr algn="r" rtl="1"/>
            <a:r>
              <a:rPr lang="he-IL" dirty="0">
                <a:effectLst/>
              </a:rPr>
              <a:t>המחבר יוצר משולש עמוק:</a:t>
            </a:r>
          </a:p>
          <a:p>
            <a:pPr rtl="1">
              <a:buFont typeface="+mj-lt"/>
              <a:buAutoNum type="arabicPeriod"/>
            </a:pPr>
            <a:r>
              <a:rPr lang="he-IL" dirty="0">
                <a:effectLst/>
              </a:rPr>
              <a:t>הקב"ה כמקור הכוח</a:t>
            </a:r>
          </a:p>
          <a:p>
            <a:pPr rtl="1">
              <a:buFont typeface="+mj-lt"/>
              <a:buAutoNum type="arabicPeriod"/>
            </a:pPr>
            <a:r>
              <a:rPr lang="he-IL" dirty="0">
                <a:effectLst/>
              </a:rPr>
              <a:t>הישועה כביטוי הכוח</a:t>
            </a:r>
          </a:p>
          <a:p>
            <a:pPr rtl="1">
              <a:buFont typeface="+mj-lt"/>
              <a:buAutoNum type="arabicPeriod"/>
            </a:pPr>
            <a:r>
              <a:rPr lang="he-IL" dirty="0">
                <a:effectLst/>
              </a:rPr>
              <a:t>השבח כהכרה בכוח</a:t>
            </a:r>
          </a:p>
          <a:p>
            <a:pPr algn="r" rtl="1"/>
            <a:r>
              <a:rPr lang="he-IL" b="1" dirty="0">
                <a:effectLst/>
              </a:rPr>
              <a:t>נפקא מינה למעשה:</a:t>
            </a:r>
            <a:endParaRPr lang="he-IL" dirty="0">
              <a:effectLst/>
            </a:endParaRPr>
          </a:p>
          <a:p>
            <a:pPr algn="r" rtl="1"/>
            <a:r>
              <a:rPr lang="he-IL" dirty="0">
                <a:effectLst/>
              </a:rPr>
              <a:t>בשירת "מעוז צור":</a:t>
            </a:r>
          </a:p>
          <a:p>
            <a:pPr rtl="1">
              <a:buFont typeface="+mj-lt"/>
              <a:buAutoNum type="arabicPeriod"/>
            </a:pPr>
            <a:r>
              <a:rPr lang="he-IL" dirty="0">
                <a:effectLst/>
              </a:rPr>
              <a:t>הכרה במקור הישועה</a:t>
            </a:r>
          </a:p>
          <a:p>
            <a:pPr rtl="1">
              <a:buFont typeface="+mj-lt"/>
              <a:buAutoNum type="arabicPeriod"/>
            </a:pPr>
            <a:r>
              <a:rPr lang="he-IL" dirty="0">
                <a:effectLst/>
              </a:rPr>
              <a:t>חיבור לכל ישועות העבר</a:t>
            </a:r>
          </a:p>
          <a:p>
            <a:pPr rtl="1">
              <a:buFont typeface="+mj-lt"/>
              <a:buAutoNum type="arabicPeriod"/>
            </a:pPr>
            <a:r>
              <a:rPr lang="he-IL" dirty="0">
                <a:effectLst/>
              </a:rPr>
              <a:t>בניית ביטחון לעתיד</a:t>
            </a:r>
          </a:p>
          <a:p>
            <a:endParaRPr lang="he-IL" dirty="0"/>
          </a:p>
        </p:txBody>
      </p:sp>
      <p:sp>
        <p:nvSpPr>
          <p:cNvPr id="4" name="מציין מיקום תוכן 3">
            <a:extLst>
              <a:ext uri="{FF2B5EF4-FFF2-40B4-BE49-F238E27FC236}">
                <a16:creationId xmlns:a16="http://schemas.microsoft.com/office/drawing/2014/main" id="{5B8E706B-2640-0700-575B-2918A2585413}"/>
              </a:ext>
            </a:extLst>
          </p:cNvPr>
          <p:cNvSpPr>
            <a:spLocks noGrp="1"/>
          </p:cNvSpPr>
          <p:nvPr>
            <p:ph sz="half" idx="2"/>
          </p:nvPr>
        </p:nvSpPr>
        <p:spPr>
          <a:xfrm>
            <a:off x="3471863" y="1394460"/>
            <a:ext cx="2914650" cy="7527820"/>
          </a:xfrm>
          <a:solidFill>
            <a:schemeClr val="accent1">
              <a:lumMod val="40000"/>
              <a:lumOff val="60000"/>
            </a:schemeClr>
          </a:solidFill>
        </p:spPr>
        <p:txBody>
          <a:bodyPr>
            <a:normAutofit lnSpcReduction="10000"/>
          </a:bodyPr>
          <a:lstStyle/>
          <a:p>
            <a:r>
              <a:rPr lang="he-IL" b="1" dirty="0"/>
              <a:t>שורש החקירה:</a:t>
            </a:r>
            <a:r>
              <a:rPr lang="he-IL" dirty="0"/>
              <a:t> נעמוד על דיוק הלשון "מעוז צור ישועתי" והקשר לפסוקי תהלים.</a:t>
            </a:r>
          </a:p>
          <a:p>
            <a:r>
              <a:rPr lang="he-IL" b="1" dirty="0"/>
              <a:t>ניתוח שלוש שכבות:</a:t>
            </a:r>
            <a:endParaRPr lang="he-IL" dirty="0"/>
          </a:p>
          <a:p>
            <a:r>
              <a:rPr lang="he-IL" b="1" dirty="0"/>
              <a:t>א. יסוד הלשון:</a:t>
            </a:r>
            <a:endParaRPr lang="he-IL" dirty="0"/>
          </a:p>
          <a:p>
            <a:pPr>
              <a:buFont typeface="+mj-lt"/>
              <a:buAutoNum type="arabicPeriod"/>
            </a:pPr>
            <a:r>
              <a:rPr lang="he-IL" dirty="0"/>
              <a:t>"מעוז" - מלשון עוז וחוזק</a:t>
            </a:r>
          </a:p>
          <a:p>
            <a:pPr>
              <a:buFont typeface="+mj-lt"/>
              <a:buAutoNum type="arabicPeriod"/>
            </a:pPr>
            <a:r>
              <a:rPr lang="he-IL" dirty="0"/>
              <a:t>"צור" - מלשון יציבות ונצחיות</a:t>
            </a:r>
          </a:p>
          <a:p>
            <a:pPr>
              <a:buFont typeface="+mj-lt"/>
              <a:buAutoNum type="arabicPeriod"/>
            </a:pPr>
            <a:r>
              <a:rPr lang="he-IL" dirty="0"/>
              <a:t>"ישועתי" - מלשון הצלה והשעה</a:t>
            </a:r>
          </a:p>
          <a:p>
            <a:r>
              <a:rPr lang="he-IL" b="1" dirty="0"/>
              <a:t>ב. המקור המקראי:</a:t>
            </a:r>
            <a:endParaRPr lang="he-IL" dirty="0"/>
          </a:p>
          <a:p>
            <a:r>
              <a:rPr lang="he-IL" dirty="0"/>
              <a:t>"היה לי לצור מעוז" (תהלים לא, ג)</a:t>
            </a:r>
          </a:p>
          <a:p>
            <a:r>
              <a:rPr lang="he-IL" dirty="0"/>
              <a:t>בקשת דוד המלך להצלה</a:t>
            </a:r>
          </a:p>
          <a:p>
            <a:r>
              <a:rPr lang="he-IL" dirty="0"/>
              <a:t>חיבור בין הגנה לישועה</a:t>
            </a:r>
          </a:p>
          <a:p>
            <a:r>
              <a:rPr lang="he-IL" b="1" dirty="0"/>
              <a:t>ג. משמעות הבקשה:</a:t>
            </a:r>
            <a:endParaRPr lang="he-IL" dirty="0"/>
          </a:p>
          <a:p>
            <a:pPr>
              <a:buFont typeface="+mj-lt"/>
              <a:buAutoNum type="arabicPeriod"/>
            </a:pPr>
            <a:r>
              <a:rPr lang="he-IL" dirty="0"/>
              <a:t>לא רק הצלה זמנית</a:t>
            </a:r>
          </a:p>
          <a:p>
            <a:pPr>
              <a:buFont typeface="+mj-lt"/>
              <a:buAutoNum type="arabicPeriod"/>
            </a:pPr>
            <a:r>
              <a:rPr lang="he-IL" dirty="0"/>
              <a:t>אלא מקור תמידי של ישועה</a:t>
            </a:r>
          </a:p>
          <a:p>
            <a:pPr>
              <a:buFont typeface="+mj-lt"/>
              <a:buAutoNum type="arabicPeriod"/>
            </a:pPr>
            <a:r>
              <a:rPr lang="he-IL" dirty="0"/>
              <a:t>חיבור בין עבר, הווה ועתיד</a:t>
            </a:r>
          </a:p>
          <a:p>
            <a:endParaRPr lang="he-IL" dirty="0"/>
          </a:p>
        </p:txBody>
      </p:sp>
    </p:spTree>
    <p:extLst>
      <p:ext uri="{BB962C8B-B14F-4D97-AF65-F5344CB8AC3E}">
        <p14:creationId xmlns:p14="http://schemas.microsoft.com/office/powerpoint/2010/main" val="13639846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4D103-814B-9ACF-0761-7630FEE11175}"/>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D1D49441-DD25-34A4-C0D9-65F64CC4C9E4}"/>
              </a:ext>
            </a:extLst>
          </p:cNvPr>
          <p:cNvSpPr>
            <a:spLocks noGrp="1"/>
          </p:cNvSpPr>
          <p:nvPr>
            <p:ph type="title"/>
          </p:nvPr>
        </p:nvSpPr>
        <p:spPr/>
        <p:txBody>
          <a:bodyPr/>
          <a:lstStyle/>
          <a:p>
            <a:endParaRPr lang="he-IL" dirty="0"/>
          </a:p>
        </p:txBody>
      </p:sp>
      <p:sp>
        <p:nvSpPr>
          <p:cNvPr id="3" name="מציין מיקום תוכן 2">
            <a:extLst>
              <a:ext uri="{FF2B5EF4-FFF2-40B4-BE49-F238E27FC236}">
                <a16:creationId xmlns:a16="http://schemas.microsoft.com/office/drawing/2014/main" id="{A1B114D4-81E3-4016-A943-5EFD65C4F518}"/>
              </a:ext>
            </a:extLst>
          </p:cNvPr>
          <p:cNvSpPr>
            <a:spLocks noGrp="1"/>
          </p:cNvSpPr>
          <p:nvPr>
            <p:ph idx="1"/>
          </p:nvPr>
        </p:nvSpPr>
        <p:spPr>
          <a:xfrm>
            <a:off x="471488" y="3989070"/>
            <a:ext cx="5915025" cy="5634990"/>
          </a:xfrm>
        </p:spPr>
        <p:txBody>
          <a:bodyPr>
            <a:normAutofit fontScale="70000" lnSpcReduction="20000"/>
          </a:bodyPr>
          <a:lstStyle/>
          <a:p>
            <a:pPr algn="just" rtl="1"/>
            <a:r>
              <a:rPr lang="he-IL" dirty="0">
                <a:effectLst/>
              </a:rPr>
              <a:t>"מעוז צור - שיר של ביטחון בה'"</a:t>
            </a:r>
          </a:p>
          <a:p>
            <a:pPr algn="just" rtl="1"/>
            <a:r>
              <a:rPr lang="he-IL" b="1" dirty="0">
                <a:effectLst/>
              </a:rPr>
              <a:t>בואו נלמד על השיר המיוחד שלנו:</a:t>
            </a:r>
            <a:endParaRPr lang="he-IL" dirty="0">
              <a:effectLst/>
            </a:endParaRPr>
          </a:p>
          <a:p>
            <a:pPr algn="just" rtl="1"/>
            <a:r>
              <a:rPr lang="he-IL" b="1" dirty="0">
                <a:effectLst/>
              </a:rPr>
              <a:t>סיפור קצר:</a:t>
            </a:r>
            <a:r>
              <a:rPr lang="he-IL" dirty="0">
                <a:effectLst/>
              </a:rPr>
              <a:t> דני היה ילד קטן שפחד מהחושך. כל לילה, אבא שלו היה נכנס לחדר ואומר: "דני, אתה לא לבד. אני פה בבית, חזק וגדול, ואני שומר עליך."</a:t>
            </a:r>
          </a:p>
          <a:p>
            <a:pPr algn="just" rtl="1"/>
            <a:r>
              <a:rPr lang="he-IL" dirty="0">
                <a:effectLst/>
              </a:rPr>
              <a:t>יום אחד שאל דני: "אבא, למה אנחנו שרים 'מעוז צור' בחנוכה?"</a:t>
            </a:r>
          </a:p>
          <a:p>
            <a:pPr algn="just" rtl="1"/>
            <a:r>
              <a:rPr lang="he-IL" b="1" dirty="0">
                <a:effectLst/>
              </a:rPr>
              <a:t>התשובה של אבא:</a:t>
            </a:r>
            <a:r>
              <a:rPr lang="he-IL" dirty="0">
                <a:effectLst/>
              </a:rPr>
              <a:t> "דני יקר," חייך אבא, "כמו שאתה סומך עלי שאני שומר עליך, ככה עם ישראל סומך על ה':</a:t>
            </a:r>
          </a:p>
          <a:p>
            <a:pPr algn="just" rtl="1">
              <a:buFont typeface="Arial" panose="020B0604020202020204" pitchFamily="34" charset="0"/>
              <a:buChar char="•"/>
            </a:pPr>
            <a:r>
              <a:rPr lang="he-IL" dirty="0">
                <a:effectLst/>
              </a:rPr>
              <a:t>ה' הוא כמו סלע חזק וגדול</a:t>
            </a:r>
          </a:p>
          <a:p>
            <a:pPr algn="just" rtl="1">
              <a:buFont typeface="Arial" panose="020B0604020202020204" pitchFamily="34" charset="0"/>
              <a:buChar char="•"/>
            </a:pPr>
            <a:r>
              <a:rPr lang="he-IL" dirty="0">
                <a:effectLst/>
              </a:rPr>
              <a:t>הוא שומר עלינו תמיד</a:t>
            </a:r>
          </a:p>
          <a:p>
            <a:pPr algn="just" rtl="1">
              <a:buFont typeface="Arial" panose="020B0604020202020204" pitchFamily="34" charset="0"/>
              <a:buChar char="•"/>
            </a:pPr>
            <a:r>
              <a:rPr lang="he-IL" dirty="0">
                <a:effectLst/>
              </a:rPr>
              <a:t>הוא מציל אותנו מכל צרה"</a:t>
            </a:r>
          </a:p>
          <a:p>
            <a:pPr algn="just" rtl="1"/>
            <a:r>
              <a:rPr lang="he-IL" b="1" dirty="0">
                <a:effectLst/>
              </a:rPr>
              <a:t>מה זה בעצם 'מעוז צור'?</a:t>
            </a:r>
            <a:endParaRPr lang="he-IL" dirty="0">
              <a:effectLst/>
            </a:endParaRPr>
          </a:p>
          <a:p>
            <a:pPr algn="just" rtl="1">
              <a:buFont typeface="Arial" panose="020B0604020202020204" pitchFamily="34" charset="0"/>
              <a:buChar char="•"/>
            </a:pPr>
            <a:r>
              <a:rPr lang="he-IL" dirty="0">
                <a:effectLst/>
              </a:rPr>
              <a:t>'מעוז' - זה כמו מבצר חזק</a:t>
            </a:r>
          </a:p>
          <a:p>
            <a:pPr algn="just" rtl="1">
              <a:buFont typeface="Arial" panose="020B0604020202020204" pitchFamily="34" charset="0"/>
              <a:buChar char="•"/>
            </a:pPr>
            <a:r>
              <a:rPr lang="he-IL" dirty="0">
                <a:effectLst/>
              </a:rPr>
              <a:t>'צור' - זה כמו סלע ענק</a:t>
            </a:r>
          </a:p>
          <a:p>
            <a:pPr algn="just" rtl="1">
              <a:buFont typeface="Arial" panose="020B0604020202020204" pitchFamily="34" charset="0"/>
              <a:buChar char="•"/>
            </a:pPr>
            <a:r>
              <a:rPr lang="he-IL" dirty="0">
                <a:effectLst/>
              </a:rPr>
              <a:t>וביחד - זה אומר שה' חזק ושומר עלינו</a:t>
            </a:r>
          </a:p>
          <a:p>
            <a:pPr algn="just"/>
            <a:endParaRPr lang="he-IL" dirty="0"/>
          </a:p>
        </p:txBody>
      </p:sp>
      <p:pic>
        <p:nvPicPr>
          <p:cNvPr id="7" name="תמונה 6">
            <a:extLst>
              <a:ext uri="{FF2B5EF4-FFF2-40B4-BE49-F238E27FC236}">
                <a16:creationId xmlns:a16="http://schemas.microsoft.com/office/drawing/2014/main" id="{0F275849-ABFF-4095-9339-8292FE7F98DF}"/>
              </a:ext>
            </a:extLst>
          </p:cNvPr>
          <p:cNvPicPr>
            <a:picLocks noChangeAspect="1"/>
          </p:cNvPicPr>
          <p:nvPr/>
        </p:nvPicPr>
        <p:blipFill>
          <a:blip r:embed="rId2"/>
          <a:stretch>
            <a:fillRect/>
          </a:stretch>
        </p:blipFill>
        <p:spPr>
          <a:xfrm>
            <a:off x="0" y="0"/>
            <a:ext cx="6858000" cy="3876261"/>
          </a:xfrm>
          <a:prstGeom prst="rect">
            <a:avLst/>
          </a:prstGeom>
        </p:spPr>
      </p:pic>
    </p:spTree>
    <p:extLst>
      <p:ext uri="{BB962C8B-B14F-4D97-AF65-F5344CB8AC3E}">
        <p14:creationId xmlns:p14="http://schemas.microsoft.com/office/powerpoint/2010/main" val="37052681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F0C3D-E070-927B-FF13-383C2A405065}"/>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05E3A734-FFCC-8F7A-F73D-40292C5C031A}"/>
              </a:ext>
            </a:extLst>
          </p:cNvPr>
          <p:cNvSpPr>
            <a:spLocks noGrp="1"/>
          </p:cNvSpPr>
          <p:nvPr>
            <p:ph type="title"/>
          </p:nvPr>
        </p:nvSpPr>
        <p:spPr/>
        <p:txBody>
          <a:bodyPr/>
          <a:lstStyle/>
          <a:p>
            <a:endParaRPr lang="he-IL" dirty="0"/>
          </a:p>
        </p:txBody>
      </p:sp>
      <p:sp>
        <p:nvSpPr>
          <p:cNvPr id="3" name="מציין מיקום תוכן 2">
            <a:extLst>
              <a:ext uri="{FF2B5EF4-FFF2-40B4-BE49-F238E27FC236}">
                <a16:creationId xmlns:a16="http://schemas.microsoft.com/office/drawing/2014/main" id="{9136DA51-BE52-0540-828C-F549E9DE8DA9}"/>
              </a:ext>
            </a:extLst>
          </p:cNvPr>
          <p:cNvSpPr>
            <a:spLocks noGrp="1"/>
          </p:cNvSpPr>
          <p:nvPr>
            <p:ph idx="1"/>
          </p:nvPr>
        </p:nvSpPr>
        <p:spPr>
          <a:xfrm>
            <a:off x="471488" y="3989070"/>
            <a:ext cx="5915025" cy="5634990"/>
          </a:xfrm>
        </p:spPr>
        <p:txBody>
          <a:bodyPr>
            <a:normAutofit fontScale="92500"/>
          </a:bodyPr>
          <a:lstStyle/>
          <a:p>
            <a:pPr algn="r" rtl="1"/>
            <a:r>
              <a:rPr lang="he-IL" b="1" dirty="0">
                <a:effectLst/>
              </a:rPr>
              <a:t>למה אנחנו שרים את זה?</a:t>
            </a:r>
            <a:endParaRPr lang="he-IL" dirty="0">
              <a:effectLst/>
            </a:endParaRPr>
          </a:p>
          <a:p>
            <a:pPr rtl="1">
              <a:buFont typeface="Arial" panose="020B0604020202020204" pitchFamily="34" charset="0"/>
              <a:buChar char="•"/>
            </a:pPr>
            <a:r>
              <a:rPr lang="he-IL" dirty="0">
                <a:effectLst/>
              </a:rPr>
              <a:t>להגיד תודה לה על שהציל אותנו</a:t>
            </a:r>
          </a:p>
          <a:p>
            <a:pPr rtl="1">
              <a:buFont typeface="Arial" panose="020B0604020202020204" pitchFamily="34" charset="0"/>
              <a:buChar char="•"/>
            </a:pPr>
            <a:r>
              <a:rPr lang="he-IL" dirty="0">
                <a:effectLst/>
              </a:rPr>
              <a:t>להזכיר לעצמנו שהוא תמיד איתנו</a:t>
            </a:r>
          </a:p>
          <a:p>
            <a:pPr rtl="1">
              <a:buFont typeface="Arial" panose="020B0604020202020204" pitchFamily="34" charset="0"/>
              <a:buChar char="•"/>
            </a:pPr>
            <a:r>
              <a:rPr lang="he-IL" dirty="0">
                <a:effectLst/>
              </a:rPr>
              <a:t>יש לנו כזה גדול בשמים</a:t>
            </a:r>
          </a:p>
          <a:p>
            <a:pPr marL="0" indent="0" rtl="1">
              <a:buNone/>
            </a:pPr>
            <a:endParaRPr lang="he-IL" dirty="0">
              <a:effectLst/>
            </a:endParaRPr>
          </a:p>
          <a:p>
            <a:pPr algn="r" rtl="1"/>
            <a:r>
              <a:rPr lang="he-IL" b="1" dirty="0">
                <a:effectLst/>
              </a:rPr>
              <a:t>משימה מיוחדת:</a:t>
            </a:r>
            <a:r>
              <a:rPr lang="he-IL" dirty="0">
                <a:effectLst/>
              </a:rPr>
              <a:t> הערב, כשתדליקו נרות ותשירו 'מעוז צור':</a:t>
            </a:r>
          </a:p>
          <a:p>
            <a:pPr rtl="1">
              <a:buFont typeface="+mj-lt"/>
              <a:buAutoNum type="arabicPeriod"/>
            </a:pPr>
            <a:r>
              <a:rPr lang="he-IL" dirty="0">
                <a:effectLst/>
              </a:rPr>
              <a:t>חשבו על כל הפעמים שה' שמר עליכם</a:t>
            </a:r>
          </a:p>
          <a:p>
            <a:pPr rtl="1">
              <a:buFont typeface="+mj-lt"/>
              <a:buAutoNum type="arabicPeriod"/>
            </a:pPr>
            <a:r>
              <a:rPr lang="he-IL" dirty="0">
                <a:effectLst/>
              </a:rPr>
              <a:t>תגידו תודה בלב על כל הדברים הטובים</a:t>
            </a:r>
          </a:p>
          <a:p>
            <a:pPr rtl="1">
              <a:buFont typeface="+mj-lt"/>
              <a:buAutoNum type="arabicPeriod"/>
            </a:pPr>
            <a:r>
              <a:rPr lang="he-IL" dirty="0">
                <a:effectLst/>
              </a:rPr>
              <a:t>תזכרו שה' תמיד איתנו, כמו סלע חזק</a:t>
            </a:r>
          </a:p>
          <a:p>
            <a:pPr algn="r" rtl="1"/>
            <a:r>
              <a:rPr lang="he-IL" b="1" dirty="0">
                <a:effectLst/>
              </a:rPr>
              <a:t>סיום מתוק:</a:t>
            </a:r>
            <a:r>
              <a:rPr lang="he-IL" dirty="0">
                <a:effectLst/>
              </a:rPr>
              <a:t> כמו שדני הרגיש בטוח כשאבא שלו הוא לידו.</a:t>
            </a:r>
          </a:p>
          <a:p>
            <a:endParaRPr lang="he-IL" dirty="0"/>
          </a:p>
        </p:txBody>
      </p:sp>
      <p:pic>
        <p:nvPicPr>
          <p:cNvPr id="7" name="תמונה 6">
            <a:extLst>
              <a:ext uri="{FF2B5EF4-FFF2-40B4-BE49-F238E27FC236}">
                <a16:creationId xmlns:a16="http://schemas.microsoft.com/office/drawing/2014/main" id="{5D8DC52F-55D6-30C2-CC2C-D5134B1B871D}"/>
              </a:ext>
            </a:extLst>
          </p:cNvPr>
          <p:cNvPicPr>
            <a:picLocks noChangeAspect="1"/>
          </p:cNvPicPr>
          <p:nvPr/>
        </p:nvPicPr>
        <p:blipFill>
          <a:blip r:embed="rId2"/>
          <a:stretch>
            <a:fillRect/>
          </a:stretch>
        </p:blipFill>
        <p:spPr>
          <a:xfrm>
            <a:off x="0" y="0"/>
            <a:ext cx="6858000" cy="3876261"/>
          </a:xfrm>
          <a:prstGeom prst="rect">
            <a:avLst/>
          </a:prstGeom>
        </p:spPr>
      </p:pic>
    </p:spTree>
    <p:extLst>
      <p:ext uri="{BB962C8B-B14F-4D97-AF65-F5344CB8AC3E}">
        <p14:creationId xmlns:p14="http://schemas.microsoft.com/office/powerpoint/2010/main" val="17574312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7EAAD56-0F53-C621-994B-CA4F97EB3B90}"/>
              </a:ext>
            </a:extLst>
          </p:cNvPr>
          <p:cNvSpPr>
            <a:spLocks noGrp="1"/>
          </p:cNvSpPr>
          <p:nvPr>
            <p:ph type="title"/>
          </p:nvPr>
        </p:nvSpPr>
        <p:spPr/>
        <p:txBody>
          <a:bodyPr/>
          <a:lstStyle/>
          <a:p>
            <a:endParaRPr lang="he-IL"/>
          </a:p>
        </p:txBody>
      </p:sp>
      <p:sp>
        <p:nvSpPr>
          <p:cNvPr id="3" name="מציין מיקום תוכן 2">
            <a:extLst>
              <a:ext uri="{FF2B5EF4-FFF2-40B4-BE49-F238E27FC236}">
                <a16:creationId xmlns:a16="http://schemas.microsoft.com/office/drawing/2014/main" id="{C953991A-9F3B-9CB0-888E-F95EE71454B4}"/>
              </a:ext>
            </a:extLst>
          </p:cNvPr>
          <p:cNvSpPr>
            <a:spLocks noGrp="1"/>
          </p:cNvSpPr>
          <p:nvPr>
            <p:ph idx="1"/>
          </p:nvPr>
        </p:nvSpPr>
        <p:spPr/>
        <p:txBody>
          <a:bodyPr>
            <a:normAutofit fontScale="77500" lnSpcReduction="20000"/>
          </a:bodyPr>
          <a:lstStyle/>
          <a:p>
            <a:r>
              <a:rPr lang="he-IL" dirty="0"/>
              <a:t>ָ</a:t>
            </a:r>
            <a:r>
              <a:rPr lang="he-IL" dirty="0" err="1"/>
              <a:t>מעוֹז</a:t>
            </a:r>
            <a:r>
              <a:rPr lang="he-IL" dirty="0"/>
              <a:t> 'מעוז צור ישועתי לך נאה לשבח', פירוש שעל ידי הקדוש ברוך</a:t>
            </a:r>
          </a:p>
          <a:p>
            <a:r>
              <a:rPr lang="he-IL" dirty="0"/>
              <a:t>נעשו כל הישועות שהיו לעם ישראל, ולכך ראוי להללו ולשבחו על </a:t>
            </a:r>
          </a:p>
          <a:p>
            <a:r>
              <a:rPr lang="he-IL" dirty="0"/>
              <a:t>כל ישועותיו. ויש לעיין מאיזה טעם ומאיזה סיבה נזכה לישועות שיעשה </a:t>
            </a:r>
          </a:p>
          <a:p>
            <a:r>
              <a:rPr lang="he-IL" dirty="0"/>
              <a:t>הקדוש ברוך הוא עמנו. ויש לומר שכתב המדרש וזה לשונו: אתה מוצא </a:t>
            </a:r>
          </a:p>
          <a:p>
            <a:r>
              <a:rPr lang="he-IL" dirty="0"/>
              <a:t>שכל מי שבוטח בקדוש ברוך הוא, הוא מצילו, שנאמר יבטח בשם ה' וישען </a:t>
            </a:r>
          </a:p>
          <a:p>
            <a:r>
              <a:rPr lang="he-IL" dirty="0"/>
              <a:t>באלוקיו [ישעיה נ י], תדע לך שכך הוא, חנניה </a:t>
            </a:r>
            <a:r>
              <a:rPr lang="he-IL" dirty="0" err="1"/>
              <a:t>מישאל</a:t>
            </a:r>
            <a:r>
              <a:rPr lang="he-IL" dirty="0"/>
              <a:t> ועזריה שבטחו בו </a:t>
            </a:r>
          </a:p>
          <a:p>
            <a:r>
              <a:rPr lang="he-IL" dirty="0"/>
              <a:t>הציל אותם, וכן אתה מוצא בדניאל שהצילו מן הבור, אמר דוד הואיל וכן </a:t>
            </a:r>
          </a:p>
          <a:p>
            <a:r>
              <a:rPr lang="he-IL" dirty="0"/>
              <a:t>הוא שכל מי שבוטח בך אתה מצילו, בך ה' חסיתי [ילקוט שמעוני תהלים סי'</a:t>
            </a:r>
          </a:p>
          <a:p>
            <a:r>
              <a:rPr lang="he-IL" dirty="0" err="1"/>
              <a:t>תשיד</a:t>
            </a:r>
            <a:r>
              <a:rPr lang="he-IL" dirty="0"/>
              <a:t>].</a:t>
            </a:r>
          </a:p>
          <a:p>
            <a:r>
              <a:rPr lang="he-IL" dirty="0"/>
              <a:t>מבואר במדרש שמי שבוטח בקדוש ברוך הוא, הקדוש ברוך הוא מצילו. </a:t>
            </a:r>
          </a:p>
          <a:p>
            <a:r>
              <a:rPr lang="he-IL" dirty="0"/>
              <a:t>ועל פי זה מדוקדק היטב לשון המחבר, 'מעוז צור ישועתי', היינו שמי </a:t>
            </a:r>
          </a:p>
          <a:p>
            <a:r>
              <a:rPr lang="he-IL" dirty="0"/>
              <a:t>שמכיר בעובדה שהקדוש ברוך הוא 'מעוז וצור', ומתוך כך הוא בוטח בו,</a:t>
            </a:r>
          </a:p>
          <a:p>
            <a:r>
              <a:rPr lang="he-IL" dirty="0"/>
              <a:t>זה עצמו סיבה שהקדוש ברוך הוא יושיעו.</a:t>
            </a:r>
          </a:p>
        </p:txBody>
      </p:sp>
    </p:spTree>
    <p:extLst>
      <p:ext uri="{BB962C8B-B14F-4D97-AF65-F5344CB8AC3E}">
        <p14:creationId xmlns:p14="http://schemas.microsoft.com/office/powerpoint/2010/main" val="6970260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a:extLst>
            <a:ext uri="{FF2B5EF4-FFF2-40B4-BE49-F238E27FC236}">
              <a16:creationId xmlns:a16="http://schemas.microsoft.com/office/drawing/2014/main" id="{6F1BC6DD-BDFF-9FD5-2580-3E9AC4331FD4}"/>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E32AC1C8-EE1C-8F54-ACBA-2F8F84F3660C}"/>
              </a:ext>
            </a:extLst>
          </p:cNvPr>
          <p:cNvSpPr>
            <a:spLocks noGrp="1"/>
          </p:cNvSpPr>
          <p:nvPr>
            <p:ph type="title"/>
          </p:nvPr>
        </p:nvSpPr>
        <p:spPr>
          <a:xfrm>
            <a:off x="471488" y="205741"/>
            <a:ext cx="5915025" cy="811529"/>
          </a:xfrm>
        </p:spPr>
        <p:txBody>
          <a:bodyPr>
            <a:normAutofit fontScale="90000"/>
          </a:bodyPr>
          <a:lstStyle/>
          <a:p>
            <a:pPr algn="ctr"/>
            <a:r>
              <a:rPr lang="he-IL" sz="2800" b="1" dirty="0">
                <a:effectLst/>
              </a:rPr>
              <a:t>"מעוז צור - עיון מעמיק בשורשי הפיוט"</a:t>
            </a:r>
            <a:br>
              <a:rPr lang="he-IL" sz="2800" dirty="0">
                <a:effectLst/>
              </a:rPr>
            </a:br>
            <a:endParaRPr lang="he-IL" sz="2800" dirty="0"/>
          </a:p>
        </p:txBody>
      </p:sp>
      <p:sp>
        <p:nvSpPr>
          <p:cNvPr id="3" name="מציין מיקום תוכן 2">
            <a:extLst>
              <a:ext uri="{FF2B5EF4-FFF2-40B4-BE49-F238E27FC236}">
                <a16:creationId xmlns:a16="http://schemas.microsoft.com/office/drawing/2014/main" id="{E529B9F6-9E66-15AA-C18F-C1A546DDB664}"/>
              </a:ext>
            </a:extLst>
          </p:cNvPr>
          <p:cNvSpPr>
            <a:spLocks noGrp="1"/>
          </p:cNvSpPr>
          <p:nvPr>
            <p:ph sz="half" idx="1"/>
          </p:nvPr>
        </p:nvSpPr>
        <p:spPr>
          <a:xfrm>
            <a:off x="320040" y="1371600"/>
            <a:ext cx="3066098" cy="7550680"/>
          </a:xfrm>
          <a:solidFill>
            <a:schemeClr val="accent1">
              <a:lumMod val="60000"/>
              <a:lumOff val="40000"/>
            </a:schemeClr>
          </a:solidFill>
        </p:spPr>
        <p:txBody>
          <a:bodyPr>
            <a:normAutofit/>
          </a:bodyPr>
          <a:lstStyle/>
          <a:p>
            <a:endParaRPr lang="he-IL" dirty="0"/>
          </a:p>
        </p:txBody>
      </p:sp>
      <p:sp>
        <p:nvSpPr>
          <p:cNvPr id="4" name="מציין מיקום תוכן 3">
            <a:extLst>
              <a:ext uri="{FF2B5EF4-FFF2-40B4-BE49-F238E27FC236}">
                <a16:creationId xmlns:a16="http://schemas.microsoft.com/office/drawing/2014/main" id="{C86CF551-B232-E874-7E85-390899CD3661}"/>
              </a:ext>
            </a:extLst>
          </p:cNvPr>
          <p:cNvSpPr>
            <a:spLocks noGrp="1"/>
          </p:cNvSpPr>
          <p:nvPr>
            <p:ph sz="half" idx="2"/>
          </p:nvPr>
        </p:nvSpPr>
        <p:spPr>
          <a:xfrm>
            <a:off x="3471863" y="1394460"/>
            <a:ext cx="2914650" cy="7527820"/>
          </a:xfrm>
          <a:solidFill>
            <a:schemeClr val="accent1">
              <a:lumMod val="40000"/>
              <a:lumOff val="60000"/>
            </a:schemeClr>
          </a:solidFill>
        </p:spPr>
        <p:txBody>
          <a:bodyPr>
            <a:normAutofit/>
          </a:bodyPr>
          <a:lstStyle/>
          <a:p>
            <a:endParaRPr lang="he-IL" dirty="0"/>
          </a:p>
        </p:txBody>
      </p:sp>
    </p:spTree>
    <p:extLst>
      <p:ext uri="{BB962C8B-B14F-4D97-AF65-F5344CB8AC3E}">
        <p14:creationId xmlns:p14="http://schemas.microsoft.com/office/powerpoint/2010/main" val="9801126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a:extLst>
            <a:ext uri="{FF2B5EF4-FFF2-40B4-BE49-F238E27FC236}">
              <a16:creationId xmlns:a16="http://schemas.microsoft.com/office/drawing/2014/main" id="{6C763D6D-30BA-2BF0-EAC8-7F45464AE909}"/>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A3570017-8133-A50A-1995-5733C3BC2578}"/>
              </a:ext>
            </a:extLst>
          </p:cNvPr>
          <p:cNvSpPr>
            <a:spLocks noGrp="1"/>
          </p:cNvSpPr>
          <p:nvPr>
            <p:ph type="title"/>
          </p:nvPr>
        </p:nvSpPr>
        <p:spPr>
          <a:xfrm>
            <a:off x="471488" y="205741"/>
            <a:ext cx="5915025" cy="811529"/>
          </a:xfrm>
        </p:spPr>
        <p:txBody>
          <a:bodyPr>
            <a:normAutofit fontScale="90000"/>
          </a:bodyPr>
          <a:lstStyle/>
          <a:p>
            <a:pPr algn="ctr"/>
            <a:r>
              <a:rPr lang="he-IL" sz="2800" b="1" dirty="0">
                <a:effectLst/>
              </a:rPr>
              <a:t>"מעוז צור - עיון מעמיק בשורשי הפיוט"</a:t>
            </a:r>
            <a:br>
              <a:rPr lang="he-IL" sz="2800" dirty="0">
                <a:effectLst/>
              </a:rPr>
            </a:br>
            <a:endParaRPr lang="he-IL" sz="2800" dirty="0"/>
          </a:p>
        </p:txBody>
      </p:sp>
      <p:sp>
        <p:nvSpPr>
          <p:cNvPr id="3" name="מציין מיקום תוכן 2">
            <a:extLst>
              <a:ext uri="{FF2B5EF4-FFF2-40B4-BE49-F238E27FC236}">
                <a16:creationId xmlns:a16="http://schemas.microsoft.com/office/drawing/2014/main" id="{5FA80A92-E1C6-0568-F098-AA38D2F4F2F5}"/>
              </a:ext>
            </a:extLst>
          </p:cNvPr>
          <p:cNvSpPr>
            <a:spLocks noGrp="1"/>
          </p:cNvSpPr>
          <p:nvPr>
            <p:ph sz="half" idx="1"/>
          </p:nvPr>
        </p:nvSpPr>
        <p:spPr>
          <a:xfrm>
            <a:off x="320040" y="1371600"/>
            <a:ext cx="3066098" cy="7550680"/>
          </a:xfrm>
          <a:solidFill>
            <a:schemeClr val="accent1">
              <a:lumMod val="60000"/>
              <a:lumOff val="40000"/>
            </a:schemeClr>
          </a:solidFill>
        </p:spPr>
        <p:txBody>
          <a:bodyPr>
            <a:normAutofit fontScale="92500" lnSpcReduction="10000"/>
          </a:bodyPr>
          <a:lstStyle/>
          <a:p>
            <a:r>
              <a:rPr lang="he-IL" b="1" dirty="0"/>
              <a:t>ד. העמקה בגדר הביטחון:</a:t>
            </a:r>
            <a:endParaRPr lang="he-IL" dirty="0"/>
          </a:p>
          <a:p>
            <a:pPr>
              <a:buFont typeface="+mj-lt"/>
              <a:buAutoNum type="arabicPeriod"/>
            </a:pPr>
            <a:r>
              <a:rPr lang="he-IL" dirty="0"/>
              <a:t>הביטחון כסיבה:</a:t>
            </a:r>
          </a:p>
          <a:p>
            <a:r>
              <a:rPr lang="he-IL" dirty="0"/>
              <a:t>לא רק תוצאה של הישועה</a:t>
            </a:r>
          </a:p>
          <a:p>
            <a:r>
              <a:rPr lang="he-IL" dirty="0"/>
              <a:t>אלא גורם מעורר ישועה</a:t>
            </a:r>
          </a:p>
          <a:p>
            <a:r>
              <a:rPr lang="he-IL" dirty="0"/>
              <a:t>יסוד פעיל ולא סביל</a:t>
            </a:r>
          </a:p>
          <a:p>
            <a:pPr>
              <a:buFont typeface="+mj-lt"/>
              <a:buAutoNum type="arabicPeriod" startAt="2"/>
            </a:pPr>
            <a:r>
              <a:rPr lang="he-IL" dirty="0"/>
              <a:t>הגדרת הביטחון:</a:t>
            </a:r>
          </a:p>
          <a:p>
            <a:r>
              <a:rPr lang="he-IL" dirty="0"/>
              <a:t>הכרה במעוז וצור</a:t>
            </a:r>
          </a:p>
          <a:p>
            <a:r>
              <a:rPr lang="he-IL" dirty="0"/>
              <a:t>חיבור פנימי לכוח הישועה</a:t>
            </a:r>
          </a:p>
          <a:p>
            <a:r>
              <a:rPr lang="he-IL" dirty="0"/>
              <a:t>התבטלות לכוח העליון</a:t>
            </a:r>
          </a:p>
          <a:p>
            <a:r>
              <a:rPr lang="he-IL" b="1" dirty="0"/>
              <a:t>ה. דיוק בלשון הפייטן:</a:t>
            </a:r>
            <a:endParaRPr lang="he-IL" dirty="0"/>
          </a:p>
          <a:p>
            <a:r>
              <a:rPr lang="he-IL" dirty="0"/>
              <a:t>"מעוז צור ישועתי":</a:t>
            </a:r>
          </a:p>
          <a:p>
            <a:r>
              <a:rPr lang="he-IL" dirty="0"/>
              <a:t>מעוז - הכרה בכוח</a:t>
            </a:r>
          </a:p>
          <a:p>
            <a:r>
              <a:rPr lang="he-IL" dirty="0"/>
              <a:t>צור - הכרה בקביעות</a:t>
            </a:r>
          </a:p>
          <a:p>
            <a:r>
              <a:rPr lang="he-IL" dirty="0"/>
              <a:t>ישועתי - תוצאה הכרחית</a:t>
            </a:r>
          </a:p>
          <a:p>
            <a:r>
              <a:rPr lang="he-IL" b="1" dirty="0"/>
              <a:t>ו. חידוש למעשה:</a:t>
            </a:r>
            <a:endParaRPr lang="he-IL" dirty="0"/>
          </a:p>
          <a:p>
            <a:r>
              <a:rPr lang="he-IL" dirty="0"/>
              <a:t>שני מהלכים בישועה:</a:t>
            </a:r>
          </a:p>
          <a:p>
            <a:pPr>
              <a:buFont typeface="+mj-lt"/>
              <a:buAutoNum type="arabicPeriod"/>
            </a:pPr>
            <a:r>
              <a:rPr lang="he-IL" dirty="0"/>
              <a:t>הכרה והודאה על העבר</a:t>
            </a:r>
          </a:p>
          <a:p>
            <a:pPr>
              <a:buFont typeface="+mj-lt"/>
              <a:buAutoNum type="arabicPeriod"/>
            </a:pPr>
            <a:r>
              <a:rPr lang="he-IL" dirty="0"/>
              <a:t>יצירת כלי לישועה עתידית</a:t>
            </a:r>
          </a:p>
          <a:p>
            <a:endParaRPr lang="he-IL" dirty="0"/>
          </a:p>
        </p:txBody>
      </p:sp>
      <p:sp>
        <p:nvSpPr>
          <p:cNvPr id="4" name="מציין מיקום תוכן 3">
            <a:extLst>
              <a:ext uri="{FF2B5EF4-FFF2-40B4-BE49-F238E27FC236}">
                <a16:creationId xmlns:a16="http://schemas.microsoft.com/office/drawing/2014/main" id="{FD1D63FE-DE02-1601-FDAD-2744B2EE41D4}"/>
              </a:ext>
            </a:extLst>
          </p:cNvPr>
          <p:cNvSpPr>
            <a:spLocks noGrp="1"/>
          </p:cNvSpPr>
          <p:nvPr>
            <p:ph sz="half" idx="2"/>
          </p:nvPr>
        </p:nvSpPr>
        <p:spPr>
          <a:xfrm>
            <a:off x="3471863" y="1394460"/>
            <a:ext cx="3134678" cy="7527820"/>
          </a:xfrm>
          <a:solidFill>
            <a:schemeClr val="accent1">
              <a:lumMod val="40000"/>
              <a:lumOff val="60000"/>
            </a:schemeClr>
          </a:solidFill>
        </p:spPr>
        <p:txBody>
          <a:bodyPr>
            <a:normAutofit fontScale="92500" lnSpcReduction="10000"/>
          </a:bodyPr>
          <a:lstStyle/>
          <a:p>
            <a:pPr algn="r" rtl="1"/>
            <a:r>
              <a:rPr lang="he-IL" b="1" dirty="0">
                <a:effectLst/>
              </a:rPr>
              <a:t>א. הצגת היסוד:</a:t>
            </a:r>
            <a:r>
              <a:rPr lang="he-IL" dirty="0">
                <a:effectLst/>
              </a:rPr>
              <a:t> נעמוד על דקדוק לשון הפייטן "מעוז צור ישועתי", העלה שאלה יסודית בהבנת מהות הישועה והקשר שלה לביטחון בה'.</a:t>
            </a:r>
          </a:p>
          <a:p>
            <a:pPr algn="r" rtl="1"/>
            <a:r>
              <a:rPr lang="he-IL" b="1" dirty="0">
                <a:effectLst/>
              </a:rPr>
              <a:t>ב. שתי שאלות מרכזיות:</a:t>
            </a:r>
            <a:endParaRPr lang="he-IL" dirty="0">
              <a:effectLst/>
            </a:endParaRPr>
          </a:p>
          <a:p>
            <a:pPr rtl="1">
              <a:buFont typeface="+mj-lt"/>
              <a:buAutoNum type="arabicPeriod"/>
            </a:pPr>
            <a:r>
              <a:rPr lang="he-IL" dirty="0">
                <a:effectLst/>
              </a:rPr>
              <a:t>שאלה ראשונה:</a:t>
            </a:r>
          </a:p>
          <a:p>
            <a:pPr rtl="1">
              <a:buFont typeface="Arial" panose="020B0604020202020204" pitchFamily="34" charset="0"/>
              <a:buChar char="•"/>
            </a:pPr>
            <a:r>
              <a:rPr lang="he-IL" dirty="0">
                <a:effectLst/>
              </a:rPr>
              <a:t>מהו טיב היחס בין ההלל לישועה?</a:t>
            </a:r>
          </a:p>
          <a:p>
            <a:pPr rtl="1">
              <a:buFont typeface="Arial" panose="020B0604020202020204" pitchFamily="34" charset="0"/>
              <a:buChar char="•"/>
            </a:pPr>
            <a:r>
              <a:rPr lang="he-IL" dirty="0">
                <a:effectLst/>
              </a:rPr>
              <a:t>האם ההלל הוא תוצאה של הישועה?</a:t>
            </a:r>
          </a:p>
          <a:p>
            <a:pPr rtl="1">
              <a:buFont typeface="Arial" panose="020B0604020202020204" pitchFamily="34" charset="0"/>
              <a:buChar char="•"/>
            </a:pPr>
            <a:r>
              <a:rPr lang="he-IL" dirty="0">
                <a:effectLst/>
              </a:rPr>
              <a:t>או שמא יש כאן קשר יותר?</a:t>
            </a:r>
          </a:p>
          <a:p>
            <a:pPr rtl="1">
              <a:buFont typeface="+mj-lt"/>
              <a:buAutoNum type="arabicPeriod" startAt="2"/>
            </a:pPr>
            <a:r>
              <a:rPr lang="he-IL" dirty="0">
                <a:effectLst/>
              </a:rPr>
              <a:t>שאלה שנייה:</a:t>
            </a:r>
          </a:p>
          <a:p>
            <a:pPr rtl="1">
              <a:buFont typeface="Arial" panose="020B0604020202020204" pitchFamily="34" charset="0"/>
              <a:buChar char="•"/>
            </a:pPr>
            <a:r>
              <a:rPr lang="he-IL" dirty="0">
                <a:effectLst/>
              </a:rPr>
              <a:t>מהי חושב לישועה?</a:t>
            </a:r>
          </a:p>
          <a:p>
            <a:pPr rtl="1">
              <a:buFont typeface="Arial" panose="020B0604020202020204" pitchFamily="34" charset="0"/>
              <a:buChar char="•"/>
            </a:pPr>
            <a:r>
              <a:rPr lang="he-IL" dirty="0">
                <a:effectLst/>
              </a:rPr>
              <a:t>האם היא נובעת מהזכויות?</a:t>
            </a:r>
          </a:p>
          <a:p>
            <a:pPr rtl="1">
              <a:buFont typeface="Arial" panose="020B0604020202020204" pitchFamily="34" charset="0"/>
              <a:buChar char="•"/>
            </a:pPr>
            <a:r>
              <a:rPr lang="he-IL" dirty="0">
                <a:effectLst/>
              </a:rPr>
              <a:t>או שיש גורם אחר המעורר אותה?</a:t>
            </a:r>
          </a:p>
          <a:p>
            <a:pPr algn="r" rtl="1"/>
            <a:r>
              <a:rPr lang="he-IL" b="1" dirty="0">
                <a:effectLst/>
              </a:rPr>
              <a:t>ג. יסוד המדרש:</a:t>
            </a:r>
            <a:endParaRPr lang="he-IL" dirty="0">
              <a:effectLst/>
            </a:endParaRPr>
          </a:p>
          <a:p>
            <a:pPr algn="r" rtl="1"/>
            <a:r>
              <a:rPr lang="he-IL" dirty="0">
                <a:effectLst/>
              </a:rPr>
              <a:t>דקדוק בלשון המדרש מגלה יסוד מחודש:</a:t>
            </a:r>
          </a:p>
          <a:p>
            <a:pPr rtl="1">
              <a:buFont typeface="Arial" panose="020B0604020202020204" pitchFamily="34" charset="0"/>
              <a:buChar char="•"/>
            </a:pPr>
            <a:r>
              <a:rPr lang="he-IL" dirty="0">
                <a:effectLst/>
              </a:rPr>
              <a:t>"כל מי שבוטח בקב"ה, הוא מצילו"</a:t>
            </a:r>
          </a:p>
          <a:p>
            <a:pPr rtl="1">
              <a:buFont typeface="Arial" panose="020B0604020202020204" pitchFamily="34" charset="0"/>
              <a:buChar char="•"/>
            </a:pPr>
            <a:r>
              <a:rPr lang="he-IL" dirty="0">
                <a:effectLst/>
              </a:rPr>
              <a:t>ראיה מחנה </a:t>
            </a:r>
            <a:r>
              <a:rPr lang="he-IL" dirty="0" err="1">
                <a:effectLst/>
              </a:rPr>
              <a:t>מישאל</a:t>
            </a:r>
            <a:r>
              <a:rPr lang="he-IL" dirty="0">
                <a:effectLst/>
              </a:rPr>
              <a:t> ועזריה</a:t>
            </a:r>
          </a:p>
          <a:p>
            <a:pPr rtl="1">
              <a:buFont typeface="Arial" panose="020B0604020202020204" pitchFamily="34" charset="0"/>
              <a:buChar char="•"/>
            </a:pPr>
            <a:r>
              <a:rPr lang="he-IL" dirty="0">
                <a:effectLst/>
              </a:rPr>
              <a:t>ראיה מדניאל נוסף</a:t>
            </a:r>
          </a:p>
          <a:p>
            <a:endParaRPr lang="he-IL" dirty="0"/>
          </a:p>
        </p:txBody>
      </p:sp>
    </p:spTree>
    <p:extLst>
      <p:ext uri="{BB962C8B-B14F-4D97-AF65-F5344CB8AC3E}">
        <p14:creationId xmlns:p14="http://schemas.microsoft.com/office/powerpoint/2010/main" val="5384698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flip="none" rotWithShape="1">
          <a:gsLst>
            <a:gs pos="48000">
              <a:srgbClr val="FFFF00"/>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effectLst/>
      </p:bgPr>
    </p:bg>
    <p:spTree>
      <p:nvGrpSpPr>
        <p:cNvPr id="1" name="">
          <a:extLst>
            <a:ext uri="{FF2B5EF4-FFF2-40B4-BE49-F238E27FC236}">
              <a16:creationId xmlns:a16="http://schemas.microsoft.com/office/drawing/2014/main" id="{CBDCDE07-E633-CFEE-A723-CEE130B5DEF5}"/>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6A721308-A682-4722-EC6A-E510F1E3094C}"/>
              </a:ext>
            </a:extLst>
          </p:cNvPr>
          <p:cNvSpPr>
            <a:spLocks noGrp="1"/>
          </p:cNvSpPr>
          <p:nvPr>
            <p:ph type="title"/>
          </p:nvPr>
        </p:nvSpPr>
        <p:spPr/>
        <p:txBody>
          <a:bodyPr/>
          <a:lstStyle/>
          <a:p>
            <a:endParaRPr lang="he-IL" dirty="0"/>
          </a:p>
        </p:txBody>
      </p:sp>
      <p:sp>
        <p:nvSpPr>
          <p:cNvPr id="3" name="מציין מיקום תוכן 2">
            <a:extLst>
              <a:ext uri="{FF2B5EF4-FFF2-40B4-BE49-F238E27FC236}">
                <a16:creationId xmlns:a16="http://schemas.microsoft.com/office/drawing/2014/main" id="{9F6B313B-8450-F40F-8221-DFCAFCCBB35B}"/>
              </a:ext>
            </a:extLst>
          </p:cNvPr>
          <p:cNvSpPr>
            <a:spLocks noGrp="1"/>
          </p:cNvSpPr>
          <p:nvPr>
            <p:ph idx="1"/>
          </p:nvPr>
        </p:nvSpPr>
        <p:spPr>
          <a:xfrm>
            <a:off x="471488" y="3989070"/>
            <a:ext cx="5915025" cy="5634990"/>
          </a:xfrm>
        </p:spPr>
        <p:txBody>
          <a:bodyPr>
            <a:normAutofit fontScale="85000" lnSpcReduction="20000"/>
          </a:bodyPr>
          <a:lstStyle/>
          <a:p>
            <a:pPr algn="r" rtl="1"/>
            <a:r>
              <a:rPr lang="he-IL" b="1" dirty="0">
                <a:effectLst/>
              </a:rPr>
              <a:t>"הסוד של אמונה וביטחון: סיפור מיוחד על מעוז צור"</a:t>
            </a:r>
            <a:endParaRPr lang="he-IL" dirty="0">
              <a:effectLst/>
            </a:endParaRPr>
          </a:p>
          <a:p>
            <a:pPr algn="r" rtl="1"/>
            <a:r>
              <a:rPr lang="he-IL" b="1" dirty="0">
                <a:effectLst/>
              </a:rPr>
              <a:t>סיפור על ילד אמיץ:</a:t>
            </a:r>
            <a:r>
              <a:rPr lang="he-IL" dirty="0">
                <a:effectLst/>
              </a:rPr>
              <a:t> בשכונה קטנה בירושלים גר ילד בשם אורי. יום אחד, כשישב ליד החלון בחדרו, שמע רעמים חזקים. אורי תמיד פחד מרעמים, אבל הפעם, במקום להתחבא מתחת לשמיכה, הוא נזכר במשהו מיוחד שסבא לימד אותו.</a:t>
            </a:r>
          </a:p>
          <a:p>
            <a:pPr algn="r" rtl="1"/>
            <a:r>
              <a:rPr lang="he-IL" b="1" dirty="0">
                <a:effectLst/>
              </a:rPr>
              <a:t>המתנה של סבא:</a:t>
            </a:r>
            <a:r>
              <a:rPr lang="he-IL" dirty="0">
                <a:effectLst/>
              </a:rPr>
              <a:t> לפני שבוע, כשהדליקו נרות חנוכה, סבא שר "מעוז צור" בקול מתוק. אורי שאל: "סבא, מה זה מעוז צור?"</a:t>
            </a:r>
          </a:p>
          <a:p>
            <a:pPr algn="r" rtl="1"/>
            <a:r>
              <a:rPr lang="he-IL" dirty="0">
                <a:effectLst/>
              </a:rPr>
              <a:t>סבא חייך חיוך חם: "בוא אספר לך סוד קטן על ביטחון גדול..."</a:t>
            </a:r>
          </a:p>
          <a:p>
            <a:pPr algn="r" rtl="1"/>
            <a:r>
              <a:rPr lang="he-IL" b="1" dirty="0">
                <a:effectLst/>
              </a:rPr>
              <a:t>הסוד של סבא:</a:t>
            </a:r>
            <a:r>
              <a:rPr lang="he-IL" dirty="0">
                <a:effectLst/>
              </a:rPr>
              <a:t> "כשאתה בוטח במישהו חזק," הסביר סבא, "אתה מרגיש בטוח. כמו שאתה בוטח באבא ואמא שישמרו עליך. ה' הוא כמו סלע ענק וחזק - 'מעוז צור' - שתמיד שומר עלינו."</a:t>
            </a:r>
          </a:p>
          <a:p>
            <a:pPr algn="r" rtl="1"/>
            <a:r>
              <a:rPr lang="he-IL" b="1" dirty="0">
                <a:effectLst/>
              </a:rPr>
              <a:t>משחק והאומץ:</a:t>
            </a:r>
            <a:r>
              <a:rPr lang="he-IL" dirty="0">
                <a:effectLst/>
              </a:rPr>
              <a:t> עכשיו, כששמע את הרעמים, אורי נזכר במילים של סבא. במקום לפחד, הוא התחיל לשיר בשקט:</a:t>
            </a:r>
            <a:endParaRPr lang="he-IL" dirty="0"/>
          </a:p>
        </p:txBody>
      </p:sp>
      <p:pic>
        <p:nvPicPr>
          <p:cNvPr id="5" name="תמונה 4">
            <a:extLst>
              <a:ext uri="{FF2B5EF4-FFF2-40B4-BE49-F238E27FC236}">
                <a16:creationId xmlns:a16="http://schemas.microsoft.com/office/drawing/2014/main" id="{FF88668A-2BE8-B1E4-3D62-9F117F3EFA3B}"/>
              </a:ext>
            </a:extLst>
          </p:cNvPr>
          <p:cNvPicPr>
            <a:picLocks noChangeAspect="1"/>
          </p:cNvPicPr>
          <p:nvPr/>
        </p:nvPicPr>
        <p:blipFill>
          <a:blip r:embed="rId2"/>
          <a:stretch>
            <a:fillRect/>
          </a:stretch>
        </p:blipFill>
        <p:spPr>
          <a:xfrm>
            <a:off x="0" y="0"/>
            <a:ext cx="6858000" cy="3876261"/>
          </a:xfrm>
          <a:prstGeom prst="rect">
            <a:avLst/>
          </a:prstGeom>
        </p:spPr>
      </p:pic>
    </p:spTree>
    <p:extLst>
      <p:ext uri="{BB962C8B-B14F-4D97-AF65-F5344CB8AC3E}">
        <p14:creationId xmlns:p14="http://schemas.microsoft.com/office/powerpoint/2010/main" val="12113799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flip="none" rotWithShape="1">
          <a:gsLst>
            <a:gs pos="48000">
              <a:srgbClr val="FFFF00"/>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effectLst/>
      </p:bgPr>
    </p:bg>
    <p:spTree>
      <p:nvGrpSpPr>
        <p:cNvPr id="1" name="">
          <a:extLst>
            <a:ext uri="{FF2B5EF4-FFF2-40B4-BE49-F238E27FC236}">
              <a16:creationId xmlns:a16="http://schemas.microsoft.com/office/drawing/2014/main" id="{39435181-9D88-F775-80E0-D0ECE1F240B4}"/>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6D0F3D47-DFB2-196F-BF6B-B29EBFC1C3A0}"/>
              </a:ext>
            </a:extLst>
          </p:cNvPr>
          <p:cNvSpPr>
            <a:spLocks noGrp="1"/>
          </p:cNvSpPr>
          <p:nvPr>
            <p:ph type="title"/>
          </p:nvPr>
        </p:nvSpPr>
        <p:spPr/>
        <p:txBody>
          <a:bodyPr/>
          <a:lstStyle/>
          <a:p>
            <a:endParaRPr lang="he-IL" dirty="0"/>
          </a:p>
        </p:txBody>
      </p:sp>
      <p:sp>
        <p:nvSpPr>
          <p:cNvPr id="3" name="מציין מיקום תוכן 2">
            <a:extLst>
              <a:ext uri="{FF2B5EF4-FFF2-40B4-BE49-F238E27FC236}">
                <a16:creationId xmlns:a16="http://schemas.microsoft.com/office/drawing/2014/main" id="{5B200F5C-86B2-24D6-4B00-7FB4AE304220}"/>
              </a:ext>
            </a:extLst>
          </p:cNvPr>
          <p:cNvSpPr>
            <a:spLocks noGrp="1"/>
          </p:cNvSpPr>
          <p:nvPr>
            <p:ph idx="1"/>
          </p:nvPr>
        </p:nvSpPr>
        <p:spPr>
          <a:xfrm>
            <a:off x="471488" y="3989070"/>
            <a:ext cx="5915025" cy="5634990"/>
          </a:xfrm>
        </p:spPr>
        <p:txBody>
          <a:bodyPr>
            <a:normAutofit fontScale="92500" lnSpcReduction="10000"/>
          </a:bodyPr>
          <a:lstStyle/>
          <a:p>
            <a:pPr algn="r" rtl="1"/>
            <a:r>
              <a:rPr lang="he-IL" dirty="0">
                <a:effectLst/>
              </a:rPr>
              <a:t>"מעוז צור ישועתי..."</a:t>
            </a:r>
          </a:p>
          <a:p>
            <a:pPr algn="r" rtl="1"/>
            <a:r>
              <a:rPr lang="he-IL" dirty="0">
                <a:effectLst/>
              </a:rPr>
              <a:t>פתאום הוא הרגיש משהו מיוחד בלב - עניין של ביטחון ושלווה. הרעמים עדיין נשמעים, אבל אורי כבר לא מפחד.</a:t>
            </a:r>
          </a:p>
          <a:p>
            <a:pPr algn="r" rtl="1"/>
            <a:r>
              <a:rPr lang="he-IL" b="1" dirty="0">
                <a:effectLst/>
              </a:rPr>
              <a:t>הלקח המתוק:</a:t>
            </a:r>
            <a:endParaRPr lang="he-IL" dirty="0">
              <a:effectLst/>
            </a:endParaRPr>
          </a:p>
          <a:p>
            <a:pPr rtl="1">
              <a:buFont typeface="Arial" panose="020B0604020202020204" pitchFamily="34" charset="0"/>
              <a:buChar char="•"/>
            </a:pPr>
            <a:r>
              <a:rPr lang="he-IL" dirty="0">
                <a:effectLst/>
              </a:rPr>
              <a:t>כשאנחנו בוטחים בה' - הוא שומר עלינו</a:t>
            </a:r>
          </a:p>
          <a:p>
            <a:pPr rtl="1">
              <a:buFont typeface="Arial" panose="020B0604020202020204" pitchFamily="34" charset="0"/>
              <a:buChar char="•"/>
            </a:pPr>
            <a:r>
              <a:rPr lang="he-IL" dirty="0">
                <a:effectLst/>
              </a:rPr>
              <a:t>הביטחון בה נותן לנו כוח ואומץ</a:t>
            </a:r>
          </a:p>
          <a:p>
            <a:pPr rtl="1">
              <a:buFont typeface="Arial" panose="020B0604020202020204" pitchFamily="34" charset="0"/>
              <a:buChar char="•"/>
            </a:pPr>
            <a:r>
              <a:rPr lang="he-IL" dirty="0">
                <a:effectLst/>
              </a:rPr>
              <a:t>כמו שה' עזר לצדיקים בסיפורי התנ"ך, ככה הוא עוזר לנו</a:t>
            </a:r>
          </a:p>
          <a:p>
            <a:pPr algn="r" rtl="1"/>
            <a:r>
              <a:rPr lang="he-IL" b="1" dirty="0">
                <a:effectLst/>
              </a:rPr>
              <a:t>משימה מיוחדת:</a:t>
            </a:r>
            <a:r>
              <a:rPr lang="he-IL" dirty="0">
                <a:effectLst/>
              </a:rPr>
              <a:t> הערב, כשתשירו מעוז צור:</a:t>
            </a:r>
          </a:p>
          <a:p>
            <a:pPr rtl="1">
              <a:buFont typeface="+mj-lt"/>
              <a:buAutoNum type="arabicPeriod"/>
            </a:pPr>
            <a:r>
              <a:rPr lang="he-IL" dirty="0">
                <a:effectLst/>
              </a:rPr>
              <a:t>תחשוב על זה שהיה לך קשה</a:t>
            </a:r>
          </a:p>
          <a:p>
            <a:pPr rtl="1">
              <a:buFont typeface="+mj-lt"/>
              <a:buAutoNum type="arabicPeriod"/>
            </a:pPr>
            <a:r>
              <a:rPr lang="he-IL" dirty="0">
                <a:effectLst/>
              </a:rPr>
              <a:t>זכרו איך ה' עזר לכם</a:t>
            </a:r>
          </a:p>
          <a:p>
            <a:pPr rtl="1">
              <a:buFont typeface="+mj-lt"/>
              <a:buAutoNum type="arabicPeriod"/>
            </a:pPr>
            <a:r>
              <a:rPr lang="he-IL" dirty="0">
                <a:effectLst/>
              </a:rPr>
              <a:t>הרגישו את הביטחון המיוחד בלב</a:t>
            </a:r>
          </a:p>
          <a:p>
            <a:endParaRPr lang="he-IL" dirty="0"/>
          </a:p>
        </p:txBody>
      </p:sp>
      <p:pic>
        <p:nvPicPr>
          <p:cNvPr id="5" name="תמונה 4">
            <a:extLst>
              <a:ext uri="{FF2B5EF4-FFF2-40B4-BE49-F238E27FC236}">
                <a16:creationId xmlns:a16="http://schemas.microsoft.com/office/drawing/2014/main" id="{51277833-0FAD-FCB7-5F53-77F7BE7D9F48}"/>
              </a:ext>
            </a:extLst>
          </p:cNvPr>
          <p:cNvPicPr>
            <a:picLocks noChangeAspect="1"/>
          </p:cNvPicPr>
          <p:nvPr/>
        </p:nvPicPr>
        <p:blipFill>
          <a:blip r:embed="rId2"/>
          <a:stretch>
            <a:fillRect/>
          </a:stretch>
        </p:blipFill>
        <p:spPr>
          <a:xfrm>
            <a:off x="0" y="0"/>
            <a:ext cx="6858000" cy="3876261"/>
          </a:xfrm>
          <a:prstGeom prst="rect">
            <a:avLst/>
          </a:prstGeom>
        </p:spPr>
      </p:pic>
    </p:spTree>
    <p:extLst>
      <p:ext uri="{BB962C8B-B14F-4D97-AF65-F5344CB8AC3E}">
        <p14:creationId xmlns:p14="http://schemas.microsoft.com/office/powerpoint/2010/main" val="11653644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flip="none" rotWithShape="1">
          <a:gsLst>
            <a:gs pos="48000">
              <a:srgbClr val="FFFF00"/>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effectLst/>
      </p:bgPr>
    </p:bg>
    <p:spTree>
      <p:nvGrpSpPr>
        <p:cNvPr id="1" name="">
          <a:extLst>
            <a:ext uri="{FF2B5EF4-FFF2-40B4-BE49-F238E27FC236}">
              <a16:creationId xmlns:a16="http://schemas.microsoft.com/office/drawing/2014/main" id="{D527A179-EE05-4FAD-CB96-B0870D79EDF7}"/>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5B4ED606-8294-DBF8-4617-91D63D72D733}"/>
              </a:ext>
            </a:extLst>
          </p:cNvPr>
          <p:cNvSpPr>
            <a:spLocks noGrp="1"/>
          </p:cNvSpPr>
          <p:nvPr>
            <p:ph type="title"/>
          </p:nvPr>
        </p:nvSpPr>
        <p:spPr/>
        <p:txBody>
          <a:bodyPr/>
          <a:lstStyle/>
          <a:p>
            <a:endParaRPr lang="he-IL" dirty="0"/>
          </a:p>
        </p:txBody>
      </p:sp>
      <p:sp>
        <p:nvSpPr>
          <p:cNvPr id="3" name="מציין מיקום תוכן 2">
            <a:extLst>
              <a:ext uri="{FF2B5EF4-FFF2-40B4-BE49-F238E27FC236}">
                <a16:creationId xmlns:a16="http://schemas.microsoft.com/office/drawing/2014/main" id="{1E59B95C-3D6D-2C94-40B6-4F77B4DF4ABB}"/>
              </a:ext>
            </a:extLst>
          </p:cNvPr>
          <p:cNvSpPr>
            <a:spLocks noGrp="1"/>
          </p:cNvSpPr>
          <p:nvPr>
            <p:ph idx="1"/>
          </p:nvPr>
        </p:nvSpPr>
        <p:spPr>
          <a:xfrm>
            <a:off x="471488" y="3989070"/>
            <a:ext cx="5915025" cy="5634990"/>
          </a:xfrm>
        </p:spPr>
        <p:txBody>
          <a:bodyPr/>
          <a:lstStyle/>
          <a:p>
            <a:endParaRPr lang="he-IL" dirty="0"/>
          </a:p>
        </p:txBody>
      </p:sp>
      <p:pic>
        <p:nvPicPr>
          <p:cNvPr id="7" name="תמונה 6">
            <a:extLst>
              <a:ext uri="{FF2B5EF4-FFF2-40B4-BE49-F238E27FC236}">
                <a16:creationId xmlns:a16="http://schemas.microsoft.com/office/drawing/2014/main" id="{3282F6BC-AEB5-5E0C-7DD3-CE9A8A176635}"/>
              </a:ext>
            </a:extLst>
          </p:cNvPr>
          <p:cNvPicPr>
            <a:picLocks noChangeAspect="1"/>
          </p:cNvPicPr>
          <p:nvPr/>
        </p:nvPicPr>
        <p:blipFill>
          <a:blip r:embed="rId2"/>
          <a:stretch>
            <a:fillRect/>
          </a:stretch>
        </p:blipFill>
        <p:spPr>
          <a:xfrm>
            <a:off x="0" y="0"/>
            <a:ext cx="6858000" cy="3876261"/>
          </a:xfrm>
          <a:prstGeom prst="rect">
            <a:avLst/>
          </a:prstGeom>
        </p:spPr>
      </p:pic>
    </p:spTree>
    <p:extLst>
      <p:ext uri="{BB962C8B-B14F-4D97-AF65-F5344CB8AC3E}">
        <p14:creationId xmlns:p14="http://schemas.microsoft.com/office/powerpoint/2010/main" val="6778490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E69E4-2033-F5DD-CFD6-F04DCAF520B4}"/>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DEECD5F9-5543-A7C9-B459-79E0678D3431}"/>
              </a:ext>
            </a:extLst>
          </p:cNvPr>
          <p:cNvSpPr>
            <a:spLocks noGrp="1"/>
          </p:cNvSpPr>
          <p:nvPr>
            <p:ph type="title"/>
          </p:nvPr>
        </p:nvSpPr>
        <p:spPr/>
        <p:txBody>
          <a:bodyPr/>
          <a:lstStyle/>
          <a:p>
            <a:endParaRPr lang="he-IL" dirty="0"/>
          </a:p>
        </p:txBody>
      </p:sp>
      <p:sp>
        <p:nvSpPr>
          <p:cNvPr id="3" name="מציין מיקום תוכן 2">
            <a:extLst>
              <a:ext uri="{FF2B5EF4-FFF2-40B4-BE49-F238E27FC236}">
                <a16:creationId xmlns:a16="http://schemas.microsoft.com/office/drawing/2014/main" id="{40ECF6A1-917A-4A1C-A303-4A8F2431BC8D}"/>
              </a:ext>
            </a:extLst>
          </p:cNvPr>
          <p:cNvSpPr>
            <a:spLocks noGrp="1"/>
          </p:cNvSpPr>
          <p:nvPr>
            <p:ph idx="1"/>
          </p:nvPr>
        </p:nvSpPr>
        <p:spPr>
          <a:xfrm>
            <a:off x="471488" y="3989070"/>
            <a:ext cx="5915025" cy="5634990"/>
          </a:xfrm>
        </p:spPr>
        <p:txBody>
          <a:bodyPr/>
          <a:lstStyle/>
          <a:p>
            <a:endParaRPr lang="he-IL" dirty="0"/>
          </a:p>
        </p:txBody>
      </p:sp>
      <p:pic>
        <p:nvPicPr>
          <p:cNvPr id="7" name="תמונה 6">
            <a:extLst>
              <a:ext uri="{FF2B5EF4-FFF2-40B4-BE49-F238E27FC236}">
                <a16:creationId xmlns:a16="http://schemas.microsoft.com/office/drawing/2014/main" id="{543A0782-397F-1BB6-F0C0-7A6B15725BD8}"/>
              </a:ext>
            </a:extLst>
          </p:cNvPr>
          <p:cNvPicPr>
            <a:picLocks noChangeAspect="1"/>
          </p:cNvPicPr>
          <p:nvPr/>
        </p:nvPicPr>
        <p:blipFill>
          <a:blip r:embed="rId2"/>
          <a:stretch>
            <a:fillRect/>
          </a:stretch>
        </p:blipFill>
        <p:spPr>
          <a:xfrm>
            <a:off x="0" y="0"/>
            <a:ext cx="6858000" cy="3876261"/>
          </a:xfrm>
          <a:prstGeom prst="rect">
            <a:avLst/>
          </a:prstGeom>
        </p:spPr>
      </p:pic>
    </p:spTree>
    <p:extLst>
      <p:ext uri="{BB962C8B-B14F-4D97-AF65-F5344CB8AC3E}">
        <p14:creationId xmlns:p14="http://schemas.microsoft.com/office/powerpoint/2010/main" val="10759226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44C14-ED2D-D73C-45F8-ABEE842912AE}"/>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B4D2F6D5-FE92-E051-F80A-FBDD1C6CDB9B}"/>
              </a:ext>
            </a:extLst>
          </p:cNvPr>
          <p:cNvSpPr>
            <a:spLocks noGrp="1"/>
          </p:cNvSpPr>
          <p:nvPr>
            <p:ph type="title"/>
          </p:nvPr>
        </p:nvSpPr>
        <p:spPr/>
        <p:txBody>
          <a:bodyPr/>
          <a:lstStyle/>
          <a:p>
            <a:endParaRPr lang="he-IL" dirty="0"/>
          </a:p>
        </p:txBody>
      </p:sp>
      <p:sp>
        <p:nvSpPr>
          <p:cNvPr id="3" name="מציין מיקום תוכן 2">
            <a:extLst>
              <a:ext uri="{FF2B5EF4-FFF2-40B4-BE49-F238E27FC236}">
                <a16:creationId xmlns:a16="http://schemas.microsoft.com/office/drawing/2014/main" id="{9F3F2113-B218-6276-F9F7-AC42E0195CA0}"/>
              </a:ext>
            </a:extLst>
          </p:cNvPr>
          <p:cNvSpPr>
            <a:spLocks noGrp="1"/>
          </p:cNvSpPr>
          <p:nvPr>
            <p:ph idx="1"/>
          </p:nvPr>
        </p:nvSpPr>
        <p:spPr>
          <a:xfrm>
            <a:off x="471488" y="3989070"/>
            <a:ext cx="5915025" cy="5634990"/>
          </a:xfrm>
        </p:spPr>
        <p:txBody>
          <a:bodyPr/>
          <a:lstStyle/>
          <a:p>
            <a:endParaRPr lang="he-IL" dirty="0"/>
          </a:p>
        </p:txBody>
      </p:sp>
      <p:pic>
        <p:nvPicPr>
          <p:cNvPr id="7" name="תמונה 6">
            <a:extLst>
              <a:ext uri="{FF2B5EF4-FFF2-40B4-BE49-F238E27FC236}">
                <a16:creationId xmlns:a16="http://schemas.microsoft.com/office/drawing/2014/main" id="{00AF404D-F9DB-CDC4-70C1-7B21EB82AC41}"/>
              </a:ext>
            </a:extLst>
          </p:cNvPr>
          <p:cNvPicPr>
            <a:picLocks noChangeAspect="1"/>
          </p:cNvPicPr>
          <p:nvPr/>
        </p:nvPicPr>
        <p:blipFill>
          <a:blip r:embed="rId2"/>
          <a:stretch>
            <a:fillRect/>
          </a:stretch>
        </p:blipFill>
        <p:spPr>
          <a:xfrm>
            <a:off x="0" y="0"/>
            <a:ext cx="6858000" cy="3876261"/>
          </a:xfrm>
          <a:prstGeom prst="rect">
            <a:avLst/>
          </a:prstGeom>
        </p:spPr>
      </p:pic>
    </p:spTree>
    <p:extLst>
      <p:ext uri="{BB962C8B-B14F-4D97-AF65-F5344CB8AC3E}">
        <p14:creationId xmlns:p14="http://schemas.microsoft.com/office/powerpoint/2010/main" val="28196599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45E5D-4536-4960-25E5-F04AEA9BF917}"/>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626BFB5F-EE55-D7AA-2019-31A73BD11705}"/>
              </a:ext>
            </a:extLst>
          </p:cNvPr>
          <p:cNvSpPr>
            <a:spLocks noGrp="1"/>
          </p:cNvSpPr>
          <p:nvPr>
            <p:ph type="title"/>
          </p:nvPr>
        </p:nvSpPr>
        <p:spPr/>
        <p:txBody>
          <a:bodyPr/>
          <a:lstStyle/>
          <a:p>
            <a:endParaRPr lang="he-IL" dirty="0"/>
          </a:p>
        </p:txBody>
      </p:sp>
      <p:sp>
        <p:nvSpPr>
          <p:cNvPr id="3" name="מציין מיקום תוכן 2">
            <a:extLst>
              <a:ext uri="{FF2B5EF4-FFF2-40B4-BE49-F238E27FC236}">
                <a16:creationId xmlns:a16="http://schemas.microsoft.com/office/drawing/2014/main" id="{82929679-47C5-9D89-5338-A80613CB2518}"/>
              </a:ext>
            </a:extLst>
          </p:cNvPr>
          <p:cNvSpPr>
            <a:spLocks noGrp="1"/>
          </p:cNvSpPr>
          <p:nvPr>
            <p:ph idx="1"/>
          </p:nvPr>
        </p:nvSpPr>
        <p:spPr>
          <a:xfrm>
            <a:off x="471488" y="3989070"/>
            <a:ext cx="5915025" cy="5634990"/>
          </a:xfrm>
        </p:spPr>
        <p:txBody>
          <a:bodyPr/>
          <a:lstStyle/>
          <a:p>
            <a:endParaRPr lang="he-IL" dirty="0"/>
          </a:p>
        </p:txBody>
      </p:sp>
      <p:pic>
        <p:nvPicPr>
          <p:cNvPr id="7" name="תמונה 6">
            <a:extLst>
              <a:ext uri="{FF2B5EF4-FFF2-40B4-BE49-F238E27FC236}">
                <a16:creationId xmlns:a16="http://schemas.microsoft.com/office/drawing/2014/main" id="{A1B80FB3-DDDA-607C-B51F-C0A898B630AD}"/>
              </a:ext>
            </a:extLst>
          </p:cNvPr>
          <p:cNvPicPr>
            <a:picLocks noChangeAspect="1"/>
          </p:cNvPicPr>
          <p:nvPr/>
        </p:nvPicPr>
        <p:blipFill>
          <a:blip r:embed="rId2"/>
          <a:stretch>
            <a:fillRect/>
          </a:stretch>
        </p:blipFill>
        <p:spPr>
          <a:xfrm>
            <a:off x="0" y="0"/>
            <a:ext cx="6858000" cy="3876261"/>
          </a:xfrm>
          <a:prstGeom prst="rect">
            <a:avLst/>
          </a:prstGeom>
        </p:spPr>
      </p:pic>
    </p:spTree>
    <p:extLst>
      <p:ext uri="{BB962C8B-B14F-4D97-AF65-F5344CB8AC3E}">
        <p14:creationId xmlns:p14="http://schemas.microsoft.com/office/powerpoint/2010/main" val="2592944036"/>
      </p:ext>
    </p:extLst>
  </p:cSld>
  <p:clrMapOvr>
    <a:masterClrMapping/>
  </p:clrMapOvr>
</p:sld>
</file>

<file path=ppt/theme/theme1.xml><?xml version="1.0" encoding="utf-8"?>
<a:theme xmlns:a="http://schemas.openxmlformats.org/drawingml/2006/main" name="ערכת נושא Office">
  <a:themeElements>
    <a:clrScheme name="ערכת נושא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ערכת נושא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ערכת נושא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904</TotalTime>
  <Words>1016</Words>
  <Application>Microsoft Office PowerPoint</Application>
  <PresentationFormat>נייר A4 ‏(210x297 מ"מ)</PresentationFormat>
  <Paragraphs>119</Paragraphs>
  <Slides>14</Slides>
  <Notes>0</Notes>
  <HiddenSlides>0</HiddenSlides>
  <MMClips>0</MMClips>
  <ScaleCrop>false</ScaleCrop>
  <HeadingPairs>
    <vt:vector size="6" baseType="variant">
      <vt:variant>
        <vt:lpstr>גופנים בשימוש</vt:lpstr>
      </vt:variant>
      <vt:variant>
        <vt:i4>3</vt:i4>
      </vt:variant>
      <vt:variant>
        <vt:lpstr>ערכת נושא</vt:lpstr>
      </vt:variant>
      <vt:variant>
        <vt:i4>1</vt:i4>
      </vt:variant>
      <vt:variant>
        <vt:lpstr>כותרות שקופיות</vt:lpstr>
      </vt:variant>
      <vt:variant>
        <vt:i4>14</vt:i4>
      </vt:variant>
    </vt:vector>
  </HeadingPairs>
  <TitlesOfParts>
    <vt:vector size="18" baseType="lpstr">
      <vt:lpstr>Aptos</vt:lpstr>
      <vt:lpstr>Aptos Display</vt:lpstr>
      <vt:lpstr>Arial</vt:lpstr>
      <vt:lpstr>ערכת נושא Office</vt:lpstr>
      <vt:lpstr>מצגת של PowerPoint‏</vt:lpstr>
      <vt:lpstr>מצגת של PowerPoint‏</vt:lpstr>
      <vt:lpstr>"מעוז צור - עיון מעמיק בשורשי הפיוט" </vt:lpstr>
      <vt:lpstr>מצגת של PowerPoint‏</vt:lpstr>
      <vt:lpstr>מצגת של PowerPoint‏</vt:lpstr>
      <vt:lpstr>מצגת של PowerPoint‏</vt:lpstr>
      <vt:lpstr>"מעוז צור - עיון מעמיק בשורשי הפיוט" </vt:lpstr>
      <vt:lpstr>"מעוז צור - עיון מעמיק בשורשי הפיוט" </vt:lpstr>
      <vt:lpstr>מצגת של PowerPoint‏</vt:lpstr>
      <vt:lpstr>מצגת של PowerPoint‏</vt:lpstr>
      <vt:lpstr>מצגת של PowerPoint‏</vt:lpstr>
      <vt:lpstr>מצגת של PowerPoint‏</vt:lpstr>
      <vt:lpstr>מצגת של PowerPoint‏</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יהודה טאוב</dc:creator>
  <cp:lastModifiedBy>יהודה טאוב</cp:lastModifiedBy>
  <cp:revision>2</cp:revision>
  <dcterms:created xsi:type="dcterms:W3CDTF">2024-12-29T11:57:37Z</dcterms:created>
  <dcterms:modified xsi:type="dcterms:W3CDTF">2026-10-15T18:05:29Z</dcterms:modified>
</cp:coreProperties>
</file>